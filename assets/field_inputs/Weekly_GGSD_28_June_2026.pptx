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slideLayouts/slideLayout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3.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slideLayouts/slideLayout4.xml" ContentType="application/vnd.openxmlformats-officedocument.presentationml.slideLayout+xml"/>
  <Override PartName="/ppt/theme/theme4.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5.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5"/>
    <p:sldMasterId id="2147483690" r:id="rId6"/>
    <p:sldMasterId id="2147483720" r:id="rId7"/>
    <p:sldMasterId id="2147483704" r:id="rId8"/>
    <p:sldMasterId id="2147483716" r:id="rId9"/>
  </p:sldMasterIdLst>
  <p:notesMasterIdLst>
    <p:notesMasterId r:id="rId27"/>
  </p:notesMasterIdLst>
  <p:handoutMasterIdLst>
    <p:handoutMasterId r:id="rId28"/>
  </p:handoutMasterIdLst>
  <p:sldIdLst>
    <p:sldId id="1528" r:id="rId10"/>
    <p:sldId id="1529" r:id="rId11"/>
    <p:sldId id="1555" r:id="rId12"/>
    <p:sldId id="1554" r:id="rId13"/>
    <p:sldId id="1562" r:id="rId14"/>
    <p:sldId id="1563" r:id="rId15"/>
    <p:sldId id="1564" r:id="rId16"/>
    <p:sldId id="1550" r:id="rId17"/>
    <p:sldId id="1141" r:id="rId18"/>
    <p:sldId id="1544" r:id="rId19"/>
    <p:sldId id="1565" r:id="rId20"/>
    <p:sldId id="1096" r:id="rId21"/>
    <p:sldId id="1548" r:id="rId22"/>
    <p:sldId id="1557" r:id="rId23"/>
    <p:sldId id="1558" r:id="rId24"/>
    <p:sldId id="1560" r:id="rId25"/>
    <p:sldId id="536" r:id="rId26"/>
  </p:sldIdLst>
  <p:sldSz cx="12192000" cy="6858000"/>
  <p:notesSz cx="6797675" cy="9928225"/>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72D5B43-BCDD-A34F-4D30-1C1DE5535581}" name="M. Aulia Rahman Nur Hakim" initials="AH" userId="S::Aulia.Hakim@medcoenergi.com::3bd8c12b-6b6f-4049-98c6-92a335cdf390" providerId="AD"/>
  <p188:author id="{69E46BD6-65E5-73F0-1916-0D888A0EE824}" name="Anthony Robert Mathias" initials="AR" userId="S::Tony.mathias@medcoenergi.com::30f4f504-1a9a-46f8-98ae-509bcaa239b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gustina Parwitosari" initials="AP" lastIdx="11" clrIdx="1">
    <p:extLst>
      <p:ext uri="{19B8F6BF-5375-455C-9EA6-DF929625EA0E}">
        <p15:presenceInfo xmlns:p15="http://schemas.microsoft.com/office/powerpoint/2012/main" userId="S-1-5-21-909237869-2597997010-3946677010-18565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00FF"/>
    <a:srgbClr val="994987"/>
    <a:srgbClr val="00B0F0"/>
    <a:srgbClr val="00B7F2"/>
    <a:srgbClr val="BDD7EE"/>
    <a:srgbClr val="F2F2F2"/>
    <a:srgbClr val="003366"/>
    <a:srgbClr val="A6A6A6"/>
    <a:srgbClr val="9455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44" autoAdjust="0"/>
    <p:restoredTop sz="96259" autoAdjust="0"/>
  </p:normalViewPr>
  <p:slideViewPr>
    <p:cSldViewPr snapToGrid="0" snapToObjects="1">
      <p:cViewPr>
        <p:scale>
          <a:sx n="75" d="100"/>
          <a:sy n="75" d="100"/>
        </p:scale>
        <p:origin x="564" y="36"/>
      </p:cViewPr>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75" d="100"/>
        <a:sy n="75" d="100"/>
      </p:scale>
      <p:origin x="0" y="-822"/>
    </p:cViewPr>
  </p:sorterViewPr>
  <p:notesViewPr>
    <p:cSldViewPr snapToGrid="0" snapToObjects="1">
      <p:cViewPr varScale="1">
        <p:scale>
          <a:sx n="89" d="100"/>
          <a:sy n="89" d="100"/>
        </p:scale>
        <p:origin x="3288"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 Type="http://schemas.openxmlformats.org/officeDocument/2006/relationships/customXml" Target="../customXml/item3.xml"/><Relationship Id="rId21" Type="http://schemas.openxmlformats.org/officeDocument/2006/relationships/slide" Target="slides/slide12.xml"/><Relationship Id="rId34" Type="http://schemas.openxmlformats.org/officeDocument/2006/relationships/tableStyles" Target="tableStyles.xml"/><Relationship Id="rId7"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handoutMaster" Target="handoutMasters/handoutMaster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notesMaster" Target="notesMasters/notesMaster1.xml"/><Relationship Id="rId30" Type="http://schemas.openxmlformats.org/officeDocument/2006/relationships/commentAuthors" Target="commentAuthors.xml"/><Relationship Id="rId35" Type="http://schemas.microsoft.com/office/2018/10/relationships/authors" Target="authors.xml"/><Relationship Id="rId8" Type="http://schemas.openxmlformats.org/officeDocument/2006/relationships/slideMaster" Target="slideMasters/slideMaster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4"/>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4"/>
            <a:ext cx="2946400" cy="498475"/>
          </a:xfrm>
          <a:prstGeom prst="rect">
            <a:avLst/>
          </a:prstGeom>
        </p:spPr>
        <p:txBody>
          <a:bodyPr vert="horz" lIns="91440" tIns="45720" rIns="91440" bIns="45720" rtlCol="0"/>
          <a:lstStyle>
            <a:lvl1pPr algn="r">
              <a:defRPr sz="1200"/>
            </a:lvl1pPr>
          </a:lstStyle>
          <a:p>
            <a:fld id="{8A645BEC-B2DC-42F7-B9AA-57CAD630001D}" type="datetime1">
              <a:rPr lang="en-US" smtClean="0"/>
              <a:t>6/30/2026</a:t>
            </a:fld>
            <a:endParaRPr lang="en-US"/>
          </a:p>
        </p:txBody>
      </p:sp>
      <p:sp>
        <p:nvSpPr>
          <p:cNvPr id="4" name="Footer Placeholder 3"/>
          <p:cNvSpPr>
            <a:spLocks noGrp="1"/>
          </p:cNvSpPr>
          <p:nvPr>
            <p:ph type="ftr" sz="quarter" idx="2"/>
          </p:nvPr>
        </p:nvSpPr>
        <p:spPr>
          <a:xfrm>
            <a:off x="0" y="9429752"/>
            <a:ext cx="2946400"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9752"/>
            <a:ext cx="2946400" cy="498475"/>
          </a:xfrm>
          <a:prstGeom prst="rect">
            <a:avLst/>
          </a:prstGeom>
        </p:spPr>
        <p:txBody>
          <a:bodyPr vert="horz" lIns="91440" tIns="45720" rIns="91440" bIns="45720" rtlCol="0" anchor="b"/>
          <a:lstStyle>
            <a:lvl1pPr algn="r">
              <a:defRPr sz="1200"/>
            </a:lvl1pPr>
          </a:lstStyle>
          <a:p>
            <a:fld id="{609B3E7A-DB90-455C-86C6-DE342758DFD3}" type="slidenum">
              <a:rPr lang="en-US" smtClean="0"/>
              <a:t>‹#›</a:t>
            </a:fld>
            <a:endParaRPr lang="en-US"/>
          </a:p>
        </p:txBody>
      </p:sp>
    </p:spTree>
    <p:extLst>
      <p:ext uri="{BB962C8B-B14F-4D97-AF65-F5344CB8AC3E}">
        <p14:creationId xmlns:p14="http://schemas.microsoft.com/office/powerpoint/2010/main" val="573487978"/>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2945659" cy="498135"/>
          </a:xfrm>
          <a:prstGeom prst="rect">
            <a:avLst/>
          </a:prstGeom>
        </p:spPr>
        <p:txBody>
          <a:bodyPr vert="horz" lIns="88203" tIns="44102" rIns="88203" bIns="44102" rtlCol="0"/>
          <a:lstStyle>
            <a:lvl1pPr algn="l">
              <a:defRPr sz="1200"/>
            </a:lvl1pPr>
          </a:lstStyle>
          <a:p>
            <a:endParaRPr lang="en-US"/>
          </a:p>
        </p:txBody>
      </p:sp>
      <p:sp>
        <p:nvSpPr>
          <p:cNvPr id="3" name="Date Placeholder 2"/>
          <p:cNvSpPr>
            <a:spLocks noGrp="1"/>
          </p:cNvSpPr>
          <p:nvPr>
            <p:ph type="dt" idx="1"/>
          </p:nvPr>
        </p:nvSpPr>
        <p:spPr>
          <a:xfrm>
            <a:off x="3850446" y="0"/>
            <a:ext cx="2945659" cy="498135"/>
          </a:xfrm>
          <a:prstGeom prst="rect">
            <a:avLst/>
          </a:prstGeom>
        </p:spPr>
        <p:txBody>
          <a:bodyPr vert="horz" lIns="88203" tIns="44102" rIns="88203" bIns="44102" rtlCol="0"/>
          <a:lstStyle>
            <a:lvl1pPr algn="r">
              <a:defRPr sz="1200"/>
            </a:lvl1pPr>
          </a:lstStyle>
          <a:p>
            <a:fld id="{CF486AEB-E1DB-4716-B841-7FF581A82117}" type="datetime1">
              <a:rPr lang="en-US" smtClean="0"/>
              <a:t>6/29/2026</a:t>
            </a:fld>
            <a:endParaRPr lang="en-US"/>
          </a:p>
        </p:txBody>
      </p:sp>
      <p:sp>
        <p:nvSpPr>
          <p:cNvPr id="4" name="Slide Image Placeholder 3"/>
          <p:cNvSpPr>
            <a:spLocks noGrp="1" noRot="1" noChangeAspect="1"/>
          </p:cNvSpPr>
          <p:nvPr>
            <p:ph type="sldImg" idx="2"/>
          </p:nvPr>
        </p:nvSpPr>
        <p:spPr>
          <a:xfrm>
            <a:off x="419100" y="1239838"/>
            <a:ext cx="5959475" cy="3352800"/>
          </a:xfrm>
          <a:prstGeom prst="rect">
            <a:avLst/>
          </a:prstGeom>
          <a:noFill/>
          <a:ln w="12700">
            <a:solidFill>
              <a:prstClr val="black"/>
            </a:solidFill>
          </a:ln>
        </p:spPr>
        <p:txBody>
          <a:bodyPr vert="horz" lIns="88203" tIns="44102" rIns="88203" bIns="44102" rtlCol="0" anchor="ctr"/>
          <a:lstStyle/>
          <a:p>
            <a:endParaRPr lang="en-US"/>
          </a:p>
        </p:txBody>
      </p:sp>
      <p:sp>
        <p:nvSpPr>
          <p:cNvPr id="5" name="Notes Placeholder 4"/>
          <p:cNvSpPr>
            <a:spLocks noGrp="1"/>
          </p:cNvSpPr>
          <p:nvPr>
            <p:ph type="body" sz="quarter" idx="3"/>
          </p:nvPr>
        </p:nvSpPr>
        <p:spPr>
          <a:xfrm>
            <a:off x="679768" y="4777963"/>
            <a:ext cx="5438140" cy="3909239"/>
          </a:xfrm>
          <a:prstGeom prst="rect">
            <a:avLst/>
          </a:prstGeom>
        </p:spPr>
        <p:txBody>
          <a:bodyPr vert="horz" lIns="88203" tIns="44102" rIns="88203" bIns="44102"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9430093"/>
            <a:ext cx="2945659" cy="498134"/>
          </a:xfrm>
          <a:prstGeom prst="rect">
            <a:avLst/>
          </a:prstGeom>
        </p:spPr>
        <p:txBody>
          <a:bodyPr vert="horz" lIns="88203" tIns="44102" rIns="88203" bIns="44102" rtlCol="0" anchor="b"/>
          <a:lstStyle>
            <a:lvl1pPr algn="l">
              <a:defRPr sz="1200"/>
            </a:lvl1pPr>
          </a:lstStyle>
          <a:p>
            <a:endParaRPr lang="en-US"/>
          </a:p>
        </p:txBody>
      </p:sp>
      <p:sp>
        <p:nvSpPr>
          <p:cNvPr id="7" name="Slide Number Placeholder 6"/>
          <p:cNvSpPr>
            <a:spLocks noGrp="1"/>
          </p:cNvSpPr>
          <p:nvPr>
            <p:ph type="sldNum" sz="quarter" idx="5"/>
          </p:nvPr>
        </p:nvSpPr>
        <p:spPr>
          <a:xfrm>
            <a:off x="3850446" y="9430093"/>
            <a:ext cx="2945659" cy="498134"/>
          </a:xfrm>
          <a:prstGeom prst="rect">
            <a:avLst/>
          </a:prstGeom>
        </p:spPr>
        <p:txBody>
          <a:bodyPr vert="horz" lIns="88203" tIns="44102" rIns="88203" bIns="44102" rtlCol="0" anchor="b"/>
          <a:lstStyle>
            <a:lvl1pPr algn="r">
              <a:defRPr sz="1200"/>
            </a:lvl1pPr>
          </a:lstStyle>
          <a:p>
            <a:fld id="{5294394D-4A84-4EBD-A2A1-5FC4F4432B16}" type="slidenum">
              <a:rPr lang="en-US" smtClean="0"/>
              <a:t>‹#›</a:t>
            </a:fld>
            <a:endParaRPr lang="en-US"/>
          </a:p>
        </p:txBody>
      </p:sp>
    </p:spTree>
    <p:extLst>
      <p:ext uri="{BB962C8B-B14F-4D97-AF65-F5344CB8AC3E}">
        <p14:creationId xmlns:p14="http://schemas.microsoft.com/office/powerpoint/2010/main" val="3414151739"/>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94394D-4A84-4EBD-A2A1-5FC4F4432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Date Placeholder 4"/>
          <p:cNvSpPr>
            <a:spLocks noGrp="1"/>
          </p:cNvSpPr>
          <p:nvPr>
            <p:ph type="dt"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55E3B-070E-4ABD-B020-030E706E5398}"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6/29/2026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9361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A1316-D067-46DD-ED60-56D77975E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F6AA8-50F5-E8D8-BAB1-DCB195C2D8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FFA763-A95F-A8A0-6245-419FE27AC6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rgbClr val="0000FF"/>
                </a:solidFill>
                <a:highlight>
                  <a:srgbClr val="FFFF00"/>
                </a:highlight>
                <a:latin typeface="Univers 57 Condensed" pitchFamily="2" charset="0"/>
                <a:cs typeface="Calibri"/>
              </a:rPr>
              <a:t>Lower forecast purchase exhaust silencer GTC-201. $45K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rgbClr val="0000FF"/>
                </a:solidFill>
                <a:latin typeface="Univers 57 Condensed" pitchFamily="2" charset="0"/>
                <a:cs typeface="Calibri"/>
              </a:rPr>
              <a:t>Lower activity Install Shelter for PTW room due to contract transition. ($25K)</a:t>
            </a:r>
          </a:p>
          <a:p>
            <a:pPr marL="285750" indent="-285750" algn="just">
              <a:lnSpc>
                <a:spcPts val="2000"/>
              </a:lnSpc>
              <a:buFont typeface="Wingdings" panose="05000000000000000000" pitchFamily="2" charset="2"/>
              <a:buChar char="§"/>
            </a:pPr>
            <a:r>
              <a:rPr lang="en-US" sz="1200" b="1" kern="0" dirty="0">
                <a:solidFill>
                  <a:srgbClr val="0000FF"/>
                </a:solidFill>
                <a:latin typeface="Univers 57 Condensed" pitchFamily="2" charset="0"/>
                <a:cs typeface="Calibri"/>
              </a:rPr>
              <a:t>Maintenance Higher $45K due to:</a:t>
            </a:r>
            <a:endParaRPr lang="en-US" sz="1200" kern="0" dirty="0">
              <a:latin typeface="Univers 57 Condensed" pitchFamily="2" charset="0"/>
              <a:cs typeface="Calibri"/>
            </a:endParaRPr>
          </a:p>
          <a:p>
            <a:pPr marL="742950" lvl="2" indent="-285750" algn="just">
              <a:lnSpc>
                <a:spcPts val="2000"/>
              </a:lnSpc>
              <a:buFont typeface="Wingdings" panose="05000000000000000000" pitchFamily="2" charset="2"/>
              <a:buChar char="§"/>
            </a:pPr>
            <a:r>
              <a:rPr lang="en-US" sz="1200" kern="0" dirty="0">
                <a:solidFill>
                  <a:srgbClr val="0000FF"/>
                </a:solidFill>
                <a:latin typeface="Univers 57 Condensed" pitchFamily="2" charset="0"/>
                <a:cs typeface="Calibri"/>
              </a:rPr>
              <a:t>Campaign EEHA Manpower. $45K</a:t>
            </a:r>
          </a:p>
          <a:p>
            <a:pPr marL="285750" lvl="2" indent="-285750" algn="just">
              <a:lnSpc>
                <a:spcPts val="2000"/>
              </a:lnSpc>
              <a:buFont typeface="Wingdings" panose="05000000000000000000" pitchFamily="2" charset="2"/>
              <a:buChar char="§"/>
            </a:pPr>
            <a:r>
              <a:rPr lang="en-US" sz="1200" b="1" kern="0" dirty="0">
                <a:solidFill>
                  <a:srgbClr val="0000FF"/>
                </a:solidFill>
                <a:latin typeface="Univers 57 Condensed" pitchFamily="2" charset="0"/>
                <a:cs typeface="Calibri"/>
              </a:rPr>
              <a:t>Operations Lower ($25K) due to:</a:t>
            </a:r>
          </a:p>
          <a:p>
            <a:pPr marL="742950" lvl="2" indent="-285750" algn="just">
              <a:lnSpc>
                <a:spcPts val="2000"/>
              </a:lnSpc>
              <a:buFont typeface="Wingdings" panose="05000000000000000000" pitchFamily="2" charset="2"/>
              <a:buChar char="§"/>
            </a:pPr>
            <a:r>
              <a:rPr lang="en-US" sz="1200" kern="0" dirty="0">
                <a:solidFill>
                  <a:srgbClr val="0000FF"/>
                </a:solidFill>
                <a:latin typeface="Univers 57 Condensed" pitchFamily="2" charset="0"/>
                <a:cs typeface="Calibri"/>
              </a:rPr>
              <a:t>Low activity from FBMS due to transition period. ($25K)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0" dirty="0">
              <a:solidFill>
                <a:srgbClr val="0000FF"/>
              </a:solidFill>
              <a:latin typeface="Univers 57 Condensed" pitchFamily="2" charset="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0" dirty="0">
              <a:solidFill>
                <a:srgbClr val="0000FF"/>
              </a:solidFill>
              <a:highlight>
                <a:srgbClr val="FFFF00"/>
              </a:highlight>
              <a:latin typeface="Univers 57 Condensed" pitchFamily="2" charset="0"/>
              <a:cs typeface="Calibri"/>
            </a:endParaRPr>
          </a:p>
          <a:p>
            <a:endParaRPr lang="en-ID" dirty="0"/>
          </a:p>
        </p:txBody>
      </p:sp>
      <p:sp>
        <p:nvSpPr>
          <p:cNvPr id="4" name="Slide Number Placeholder 3">
            <a:extLst>
              <a:ext uri="{FF2B5EF4-FFF2-40B4-BE49-F238E27FC236}">
                <a16:creationId xmlns:a16="http://schemas.microsoft.com/office/drawing/2014/main" id="{90537756-7FBE-ABE9-86B7-9075FC874BB6}"/>
              </a:ext>
            </a:extLst>
          </p:cNvPr>
          <p:cNvSpPr>
            <a:spLocks noGrp="1"/>
          </p:cNvSpPr>
          <p:nvPr>
            <p:ph type="sldNum" sz="quarter" idx="5"/>
          </p:nvPr>
        </p:nvSpPr>
        <p:spPr/>
        <p:txBody>
          <a:bodyPr/>
          <a:lstStyle/>
          <a:p>
            <a:fld id="{743BD657-FF92-4D45-9C44-73C1B4A16FC6}" type="slidenum">
              <a:rPr lang="en-ID" smtClean="0"/>
              <a:t>7</a:t>
            </a:fld>
            <a:endParaRPr lang="en-ID"/>
          </a:p>
        </p:txBody>
      </p:sp>
    </p:spTree>
    <p:extLst>
      <p:ext uri="{BB962C8B-B14F-4D97-AF65-F5344CB8AC3E}">
        <p14:creationId xmlns:p14="http://schemas.microsoft.com/office/powerpoint/2010/main" val="3908671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3FE4A-1AF0-704E-1D44-C3B4C090D6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D73C9-2CC5-2F42-4A36-2727BF3BFA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1BF386-1448-1669-BCC4-3AD66CDD58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52C719-5568-B586-7635-315114BD8AF3}"/>
              </a:ext>
            </a:extLst>
          </p:cNvPr>
          <p:cNvSpPr>
            <a:spLocks noGrp="1"/>
          </p:cNvSpPr>
          <p:nvPr>
            <p:ph type="sldNum" sz="quarter" idx="5"/>
          </p:nvPr>
        </p:nvSpPr>
        <p:spPr/>
        <p:txBody>
          <a:bodyPr/>
          <a:lstStyle/>
          <a:p>
            <a:fld id="{67CF1F7E-4439-4652-8438-D7359F4ED296}" type="slidenum">
              <a:rPr lang="en-US" smtClean="0"/>
              <a:t>8</a:t>
            </a:fld>
            <a:endParaRPr lang="en-US"/>
          </a:p>
        </p:txBody>
      </p:sp>
    </p:spTree>
    <p:extLst>
      <p:ext uri="{BB962C8B-B14F-4D97-AF65-F5344CB8AC3E}">
        <p14:creationId xmlns:p14="http://schemas.microsoft.com/office/powerpoint/2010/main" val="3885272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4B49E-3DA6-3206-FCB9-83B85DA7DB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6950B-C80C-4779-8C66-908C860702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B8CFF9-D92E-27C3-C13B-BBEECC8C91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BA3496-971D-D49F-EF7B-674F7C01C7CA}"/>
              </a:ext>
            </a:extLst>
          </p:cNvPr>
          <p:cNvSpPr>
            <a:spLocks noGrp="1"/>
          </p:cNvSpPr>
          <p:nvPr>
            <p:ph type="sldNum" sz="quarter" idx="5"/>
          </p:nvPr>
        </p:nvSpPr>
        <p:spPr/>
        <p:txBody>
          <a:bodyPr/>
          <a:lstStyle/>
          <a:p>
            <a:fld id="{67CF1F7E-4439-4652-8438-D7359F4ED296}" type="slidenum">
              <a:rPr lang="en-US" smtClean="0"/>
              <a:t>9</a:t>
            </a:fld>
            <a:endParaRPr lang="en-US"/>
          </a:p>
        </p:txBody>
      </p:sp>
    </p:spTree>
    <p:extLst>
      <p:ext uri="{BB962C8B-B14F-4D97-AF65-F5344CB8AC3E}">
        <p14:creationId xmlns:p14="http://schemas.microsoft.com/office/powerpoint/2010/main" val="2469889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A8551-EB79-8D35-5A2C-13E5EF0B7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D2CED6-C539-C5B5-9178-A751EA5B9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FE0F9F-771D-9BB2-CD6F-1D695B64DC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rgbClr val="0000FF"/>
                </a:solidFill>
                <a:highlight>
                  <a:srgbClr val="FFFF00"/>
                </a:highlight>
                <a:latin typeface="Univers 57 Condensed" pitchFamily="2" charset="0"/>
                <a:cs typeface="Calibri"/>
              </a:rPr>
              <a:t>Lower forecast purchase exhaust silencer GTC-201. $45K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rgbClr val="0000FF"/>
                </a:solidFill>
                <a:latin typeface="Univers 57 Condensed" pitchFamily="2" charset="0"/>
                <a:cs typeface="Calibri"/>
              </a:rPr>
              <a:t>Lower activity Install Shelter for PTW room due to contract transition. ($25K)</a:t>
            </a:r>
          </a:p>
          <a:p>
            <a:pPr marL="285750" indent="-285750" algn="just">
              <a:lnSpc>
                <a:spcPts val="2000"/>
              </a:lnSpc>
              <a:buFont typeface="Wingdings" panose="05000000000000000000" pitchFamily="2" charset="2"/>
              <a:buChar char="§"/>
            </a:pPr>
            <a:r>
              <a:rPr lang="en-US" sz="1200" b="1" kern="0" dirty="0">
                <a:solidFill>
                  <a:srgbClr val="0000FF"/>
                </a:solidFill>
                <a:latin typeface="Univers 57 Condensed" pitchFamily="2" charset="0"/>
                <a:cs typeface="Calibri"/>
              </a:rPr>
              <a:t>Maintenance Higher $45K due to:</a:t>
            </a:r>
            <a:endParaRPr lang="en-US" sz="1200" kern="0" dirty="0">
              <a:latin typeface="Univers 57 Condensed" pitchFamily="2" charset="0"/>
              <a:cs typeface="Calibri"/>
            </a:endParaRPr>
          </a:p>
          <a:p>
            <a:pPr marL="742950" lvl="2" indent="-285750" algn="just">
              <a:lnSpc>
                <a:spcPts val="2000"/>
              </a:lnSpc>
              <a:buFont typeface="Wingdings" panose="05000000000000000000" pitchFamily="2" charset="2"/>
              <a:buChar char="§"/>
            </a:pPr>
            <a:r>
              <a:rPr lang="en-US" sz="1200" kern="0" dirty="0">
                <a:solidFill>
                  <a:srgbClr val="0000FF"/>
                </a:solidFill>
                <a:latin typeface="Univers 57 Condensed" pitchFamily="2" charset="0"/>
                <a:cs typeface="Calibri"/>
              </a:rPr>
              <a:t>Campaign EEHA Manpower. $45K</a:t>
            </a:r>
          </a:p>
          <a:p>
            <a:pPr marL="285750" lvl="2" indent="-285750" algn="just">
              <a:lnSpc>
                <a:spcPts val="2000"/>
              </a:lnSpc>
              <a:buFont typeface="Wingdings" panose="05000000000000000000" pitchFamily="2" charset="2"/>
              <a:buChar char="§"/>
            </a:pPr>
            <a:r>
              <a:rPr lang="en-US" sz="1200" b="1" kern="0" dirty="0">
                <a:solidFill>
                  <a:srgbClr val="0000FF"/>
                </a:solidFill>
                <a:latin typeface="Univers 57 Condensed" pitchFamily="2" charset="0"/>
                <a:cs typeface="Calibri"/>
              </a:rPr>
              <a:t>Operations Lower ($25K) due to:</a:t>
            </a:r>
          </a:p>
          <a:p>
            <a:pPr marL="742950" lvl="2" indent="-285750" algn="just">
              <a:lnSpc>
                <a:spcPts val="2000"/>
              </a:lnSpc>
              <a:buFont typeface="Wingdings" panose="05000000000000000000" pitchFamily="2" charset="2"/>
              <a:buChar char="§"/>
            </a:pPr>
            <a:r>
              <a:rPr lang="en-US" sz="1200" kern="0" dirty="0">
                <a:solidFill>
                  <a:srgbClr val="0000FF"/>
                </a:solidFill>
                <a:latin typeface="Univers 57 Condensed" pitchFamily="2" charset="0"/>
                <a:cs typeface="Calibri"/>
              </a:rPr>
              <a:t>Low activity from FBMS due to transition period. ($25K)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0" dirty="0">
              <a:solidFill>
                <a:srgbClr val="0000FF"/>
              </a:solidFill>
              <a:latin typeface="Univers 57 Condensed" pitchFamily="2" charset="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0" dirty="0">
              <a:solidFill>
                <a:srgbClr val="0000FF"/>
              </a:solidFill>
              <a:highlight>
                <a:srgbClr val="FFFF00"/>
              </a:highlight>
              <a:latin typeface="Univers 57 Condensed" pitchFamily="2" charset="0"/>
              <a:cs typeface="Calibri"/>
            </a:endParaRPr>
          </a:p>
          <a:p>
            <a:endParaRPr lang="en-ID" dirty="0"/>
          </a:p>
        </p:txBody>
      </p:sp>
      <p:sp>
        <p:nvSpPr>
          <p:cNvPr id="4" name="Slide Number Placeholder 3">
            <a:extLst>
              <a:ext uri="{FF2B5EF4-FFF2-40B4-BE49-F238E27FC236}">
                <a16:creationId xmlns:a16="http://schemas.microsoft.com/office/drawing/2014/main" id="{2DDC8BE1-B477-CF71-4EFB-B045B8F22766}"/>
              </a:ext>
            </a:extLst>
          </p:cNvPr>
          <p:cNvSpPr>
            <a:spLocks noGrp="1"/>
          </p:cNvSpPr>
          <p:nvPr>
            <p:ph type="sldNum" sz="quarter" idx="5"/>
          </p:nvPr>
        </p:nvSpPr>
        <p:spPr/>
        <p:txBody>
          <a:bodyPr/>
          <a:lstStyle/>
          <a:p>
            <a:fld id="{743BD657-FF92-4D45-9C44-73C1B4A16FC6}" type="slidenum">
              <a:rPr lang="en-ID" smtClean="0"/>
              <a:t>10</a:t>
            </a:fld>
            <a:endParaRPr lang="en-ID"/>
          </a:p>
        </p:txBody>
      </p:sp>
    </p:spTree>
    <p:extLst>
      <p:ext uri="{BB962C8B-B14F-4D97-AF65-F5344CB8AC3E}">
        <p14:creationId xmlns:p14="http://schemas.microsoft.com/office/powerpoint/2010/main" val="3005107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3BD9A-3D71-ED75-3DF4-588E7D1C52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B5491-0784-4D8C-D62D-4FE9F97F11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E28097-AD97-1883-1CA9-AAAB5F067F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rgbClr val="0000FF"/>
                </a:solidFill>
                <a:highlight>
                  <a:srgbClr val="FFFF00"/>
                </a:highlight>
                <a:latin typeface="Univers 57 Condensed" pitchFamily="2" charset="0"/>
                <a:cs typeface="Calibri"/>
              </a:rPr>
              <a:t>Lower forecast purchase exhaust silencer GTC-201. $45K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rgbClr val="0000FF"/>
                </a:solidFill>
                <a:latin typeface="Univers 57 Condensed" pitchFamily="2" charset="0"/>
                <a:cs typeface="Calibri"/>
              </a:rPr>
              <a:t>Lower activity Install Shelter for PTW room due to contract transition. ($25K)</a:t>
            </a:r>
          </a:p>
          <a:p>
            <a:pPr marL="285750" indent="-285750" algn="just">
              <a:lnSpc>
                <a:spcPts val="2000"/>
              </a:lnSpc>
              <a:buFont typeface="Wingdings" panose="05000000000000000000" pitchFamily="2" charset="2"/>
              <a:buChar char="§"/>
            </a:pPr>
            <a:r>
              <a:rPr lang="en-US" sz="1200" b="1" kern="0" dirty="0">
                <a:solidFill>
                  <a:srgbClr val="0000FF"/>
                </a:solidFill>
                <a:latin typeface="Univers 57 Condensed" pitchFamily="2" charset="0"/>
                <a:cs typeface="Calibri"/>
              </a:rPr>
              <a:t>Maintenance Higher $45K due to:</a:t>
            </a:r>
            <a:endParaRPr lang="en-US" sz="1200" kern="0" dirty="0">
              <a:latin typeface="Univers 57 Condensed" pitchFamily="2" charset="0"/>
              <a:cs typeface="Calibri"/>
            </a:endParaRPr>
          </a:p>
          <a:p>
            <a:pPr marL="742950" lvl="2" indent="-285750" algn="just">
              <a:lnSpc>
                <a:spcPts val="2000"/>
              </a:lnSpc>
              <a:buFont typeface="Wingdings" panose="05000000000000000000" pitchFamily="2" charset="2"/>
              <a:buChar char="§"/>
            </a:pPr>
            <a:r>
              <a:rPr lang="en-US" sz="1200" kern="0" dirty="0">
                <a:solidFill>
                  <a:srgbClr val="0000FF"/>
                </a:solidFill>
                <a:latin typeface="Univers 57 Condensed" pitchFamily="2" charset="0"/>
                <a:cs typeface="Calibri"/>
              </a:rPr>
              <a:t>Campaign EEHA Manpower. $45K</a:t>
            </a:r>
          </a:p>
          <a:p>
            <a:pPr marL="285750" lvl="2" indent="-285750" algn="just">
              <a:lnSpc>
                <a:spcPts val="2000"/>
              </a:lnSpc>
              <a:buFont typeface="Wingdings" panose="05000000000000000000" pitchFamily="2" charset="2"/>
              <a:buChar char="§"/>
            </a:pPr>
            <a:r>
              <a:rPr lang="en-US" sz="1200" b="1" kern="0" dirty="0">
                <a:solidFill>
                  <a:srgbClr val="0000FF"/>
                </a:solidFill>
                <a:latin typeface="Univers 57 Condensed" pitchFamily="2" charset="0"/>
                <a:cs typeface="Calibri"/>
              </a:rPr>
              <a:t>Operations Lower ($25K) due to:</a:t>
            </a:r>
          </a:p>
          <a:p>
            <a:pPr marL="742950" lvl="2" indent="-285750" algn="just">
              <a:lnSpc>
                <a:spcPts val="2000"/>
              </a:lnSpc>
              <a:buFont typeface="Wingdings" panose="05000000000000000000" pitchFamily="2" charset="2"/>
              <a:buChar char="§"/>
            </a:pPr>
            <a:r>
              <a:rPr lang="en-US" sz="1200" kern="0" dirty="0">
                <a:solidFill>
                  <a:srgbClr val="0000FF"/>
                </a:solidFill>
                <a:latin typeface="Univers 57 Condensed" pitchFamily="2" charset="0"/>
                <a:cs typeface="Calibri"/>
              </a:rPr>
              <a:t>Low activity from FBMS due to transition period. ($25K)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0" dirty="0">
              <a:solidFill>
                <a:srgbClr val="0000FF"/>
              </a:solidFill>
              <a:latin typeface="Univers 57 Condensed" pitchFamily="2" charset="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0" dirty="0">
              <a:solidFill>
                <a:srgbClr val="0000FF"/>
              </a:solidFill>
              <a:highlight>
                <a:srgbClr val="FFFF00"/>
              </a:highlight>
              <a:latin typeface="Univers 57 Condensed" pitchFamily="2" charset="0"/>
              <a:cs typeface="Calibri"/>
            </a:endParaRPr>
          </a:p>
          <a:p>
            <a:endParaRPr lang="en-ID" dirty="0"/>
          </a:p>
        </p:txBody>
      </p:sp>
      <p:sp>
        <p:nvSpPr>
          <p:cNvPr id="4" name="Slide Number Placeholder 3">
            <a:extLst>
              <a:ext uri="{FF2B5EF4-FFF2-40B4-BE49-F238E27FC236}">
                <a16:creationId xmlns:a16="http://schemas.microsoft.com/office/drawing/2014/main" id="{DB78C918-AAF2-A1A4-C04C-3A819261C6FE}"/>
              </a:ext>
            </a:extLst>
          </p:cNvPr>
          <p:cNvSpPr>
            <a:spLocks noGrp="1"/>
          </p:cNvSpPr>
          <p:nvPr>
            <p:ph type="sldNum" sz="quarter" idx="5"/>
          </p:nvPr>
        </p:nvSpPr>
        <p:spPr/>
        <p:txBody>
          <a:bodyPr/>
          <a:lstStyle/>
          <a:p>
            <a:fld id="{743BD657-FF92-4D45-9C44-73C1B4A16FC6}" type="slidenum">
              <a:rPr lang="en-ID" smtClean="0"/>
              <a:t>11</a:t>
            </a:fld>
            <a:endParaRPr lang="en-ID"/>
          </a:p>
        </p:txBody>
      </p:sp>
    </p:spTree>
    <p:extLst>
      <p:ext uri="{BB962C8B-B14F-4D97-AF65-F5344CB8AC3E}">
        <p14:creationId xmlns:p14="http://schemas.microsoft.com/office/powerpoint/2010/main" val="2063343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97D0F-7F5E-AA42-4B95-F94AFD1D1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1D1574-24F7-CAE5-9F22-C7E6A522A1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21C19-7469-F00B-C4E1-3B5F9AE228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054DCD-DC49-FF00-E722-29067E5F0B4F}"/>
              </a:ext>
            </a:extLst>
          </p:cNvPr>
          <p:cNvSpPr>
            <a:spLocks noGrp="1"/>
          </p:cNvSpPr>
          <p:nvPr>
            <p:ph type="sldNum" sz="quarter" idx="5"/>
          </p:nvPr>
        </p:nvSpPr>
        <p:spPr/>
        <p:txBody>
          <a:bodyPr/>
          <a:lstStyle/>
          <a:p>
            <a:fld id="{67CF1F7E-4439-4652-8438-D7359F4ED296}" type="slidenum">
              <a:rPr lang="en-US" smtClean="0"/>
              <a:t>12</a:t>
            </a:fld>
            <a:endParaRPr lang="en-US"/>
          </a:p>
        </p:txBody>
      </p:sp>
    </p:spTree>
    <p:extLst>
      <p:ext uri="{BB962C8B-B14F-4D97-AF65-F5344CB8AC3E}">
        <p14:creationId xmlns:p14="http://schemas.microsoft.com/office/powerpoint/2010/main" val="737983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A9BDD-1F57-6CC4-B41E-2568237FF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A74A1A-4A79-F747-5A49-3328D88603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73F79A-C1DB-911C-E465-0A8AC3A8D52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rgbClr val="0000FF"/>
                </a:solidFill>
                <a:highlight>
                  <a:srgbClr val="FFFF00"/>
                </a:highlight>
                <a:latin typeface="Univers 57 Condensed" pitchFamily="2" charset="0"/>
                <a:cs typeface="Calibri"/>
              </a:rPr>
              <a:t>Lower forecast purchase exhaust silencer GTC-201. $45K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rgbClr val="0000FF"/>
                </a:solidFill>
                <a:latin typeface="Univers 57 Condensed" pitchFamily="2" charset="0"/>
                <a:cs typeface="Calibri"/>
              </a:rPr>
              <a:t>Lower activity Install Shelter for PTW room due to contract transition. ($25K)</a:t>
            </a:r>
          </a:p>
          <a:p>
            <a:pPr marL="285750" indent="-285750" algn="just">
              <a:lnSpc>
                <a:spcPts val="2000"/>
              </a:lnSpc>
              <a:buFont typeface="Wingdings" panose="05000000000000000000" pitchFamily="2" charset="2"/>
              <a:buChar char="§"/>
            </a:pPr>
            <a:r>
              <a:rPr lang="en-US" sz="1200" b="1" kern="0" dirty="0">
                <a:solidFill>
                  <a:srgbClr val="0000FF"/>
                </a:solidFill>
                <a:latin typeface="Univers 57 Condensed" pitchFamily="2" charset="0"/>
                <a:cs typeface="Calibri"/>
              </a:rPr>
              <a:t>Maintenance Higher $45K due to:</a:t>
            </a:r>
            <a:endParaRPr lang="en-US" sz="1200" kern="0" dirty="0">
              <a:latin typeface="Univers 57 Condensed" pitchFamily="2" charset="0"/>
              <a:cs typeface="Calibri"/>
            </a:endParaRPr>
          </a:p>
          <a:p>
            <a:pPr marL="742950" lvl="2" indent="-285750" algn="just">
              <a:lnSpc>
                <a:spcPts val="2000"/>
              </a:lnSpc>
              <a:buFont typeface="Wingdings" panose="05000000000000000000" pitchFamily="2" charset="2"/>
              <a:buChar char="§"/>
            </a:pPr>
            <a:r>
              <a:rPr lang="en-US" sz="1200" kern="0" dirty="0">
                <a:solidFill>
                  <a:srgbClr val="0000FF"/>
                </a:solidFill>
                <a:latin typeface="Univers 57 Condensed" pitchFamily="2" charset="0"/>
                <a:cs typeface="Calibri"/>
              </a:rPr>
              <a:t>Campaign EEHA Manpower. $45K</a:t>
            </a:r>
          </a:p>
          <a:p>
            <a:pPr marL="285750" lvl="2" indent="-285750" algn="just">
              <a:lnSpc>
                <a:spcPts val="2000"/>
              </a:lnSpc>
              <a:buFont typeface="Wingdings" panose="05000000000000000000" pitchFamily="2" charset="2"/>
              <a:buChar char="§"/>
            </a:pPr>
            <a:r>
              <a:rPr lang="en-US" sz="1200" b="1" kern="0" dirty="0">
                <a:solidFill>
                  <a:srgbClr val="0000FF"/>
                </a:solidFill>
                <a:latin typeface="Univers 57 Condensed" pitchFamily="2" charset="0"/>
                <a:cs typeface="Calibri"/>
              </a:rPr>
              <a:t>Operations Lower ($25K) due to:</a:t>
            </a:r>
          </a:p>
          <a:p>
            <a:pPr marL="742950" lvl="2" indent="-285750" algn="just">
              <a:lnSpc>
                <a:spcPts val="2000"/>
              </a:lnSpc>
              <a:buFont typeface="Wingdings" panose="05000000000000000000" pitchFamily="2" charset="2"/>
              <a:buChar char="§"/>
            </a:pPr>
            <a:r>
              <a:rPr lang="en-US" sz="1200" kern="0" dirty="0">
                <a:solidFill>
                  <a:srgbClr val="0000FF"/>
                </a:solidFill>
                <a:latin typeface="Univers 57 Condensed" pitchFamily="2" charset="0"/>
                <a:cs typeface="Calibri"/>
              </a:rPr>
              <a:t>Low activity from FBMS due to transition period. ($25K)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0" dirty="0">
              <a:solidFill>
                <a:srgbClr val="0000FF"/>
              </a:solidFill>
              <a:latin typeface="Univers 57 Condensed" pitchFamily="2" charset="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0" dirty="0">
              <a:solidFill>
                <a:srgbClr val="0000FF"/>
              </a:solidFill>
              <a:highlight>
                <a:srgbClr val="FFFF00"/>
              </a:highlight>
              <a:latin typeface="Univers 57 Condensed" pitchFamily="2" charset="0"/>
              <a:cs typeface="Calibri"/>
            </a:endParaRPr>
          </a:p>
          <a:p>
            <a:endParaRPr lang="en-ID" dirty="0"/>
          </a:p>
        </p:txBody>
      </p:sp>
      <p:sp>
        <p:nvSpPr>
          <p:cNvPr id="4" name="Slide Number Placeholder 3">
            <a:extLst>
              <a:ext uri="{FF2B5EF4-FFF2-40B4-BE49-F238E27FC236}">
                <a16:creationId xmlns:a16="http://schemas.microsoft.com/office/drawing/2014/main" id="{66075A45-112F-0D79-A548-30DA006DAA05}"/>
              </a:ext>
            </a:extLst>
          </p:cNvPr>
          <p:cNvSpPr>
            <a:spLocks noGrp="1"/>
          </p:cNvSpPr>
          <p:nvPr>
            <p:ph type="sldNum" sz="quarter" idx="5"/>
          </p:nvPr>
        </p:nvSpPr>
        <p:spPr/>
        <p:txBody>
          <a:bodyPr/>
          <a:lstStyle/>
          <a:p>
            <a:fld id="{743BD657-FF92-4D45-9C44-73C1B4A16FC6}" type="slidenum">
              <a:rPr lang="en-ID" smtClean="0"/>
              <a:t>13</a:t>
            </a:fld>
            <a:endParaRPr lang="en-ID"/>
          </a:p>
        </p:txBody>
      </p:sp>
    </p:spTree>
    <p:extLst>
      <p:ext uri="{BB962C8B-B14F-4D97-AF65-F5344CB8AC3E}">
        <p14:creationId xmlns:p14="http://schemas.microsoft.com/office/powerpoint/2010/main" val="3844009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3AE6-E234-CA18-C653-50C6086BC9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A6CB3-4DE9-94AA-E1AE-8FB5457130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EC1921-3C50-25F3-3DA9-4248B507E47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rgbClr val="0000FF"/>
                </a:solidFill>
                <a:highlight>
                  <a:srgbClr val="FFFF00"/>
                </a:highlight>
                <a:latin typeface="Univers 57 Condensed" pitchFamily="2" charset="0"/>
                <a:cs typeface="Calibri"/>
              </a:rPr>
              <a:t>Lower forecast purchase exhaust silencer GTC-201. $45K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rgbClr val="0000FF"/>
                </a:solidFill>
                <a:latin typeface="Univers 57 Condensed" pitchFamily="2" charset="0"/>
                <a:cs typeface="Calibri"/>
              </a:rPr>
              <a:t>Lower activity Install Shelter for PTW room due to contract transition. ($25K)</a:t>
            </a:r>
          </a:p>
          <a:p>
            <a:pPr marL="285750" indent="-285750" algn="just">
              <a:lnSpc>
                <a:spcPts val="2000"/>
              </a:lnSpc>
              <a:buFont typeface="Wingdings" panose="05000000000000000000" pitchFamily="2" charset="2"/>
              <a:buChar char="§"/>
            </a:pPr>
            <a:r>
              <a:rPr lang="en-US" sz="1200" b="1" kern="0" dirty="0">
                <a:solidFill>
                  <a:srgbClr val="0000FF"/>
                </a:solidFill>
                <a:latin typeface="Univers 57 Condensed" pitchFamily="2" charset="0"/>
                <a:cs typeface="Calibri"/>
              </a:rPr>
              <a:t>Maintenance Higher $45K due to:</a:t>
            </a:r>
            <a:endParaRPr lang="en-US" sz="1200" kern="0" dirty="0">
              <a:latin typeface="Univers 57 Condensed" pitchFamily="2" charset="0"/>
              <a:cs typeface="Calibri"/>
            </a:endParaRPr>
          </a:p>
          <a:p>
            <a:pPr marL="742950" lvl="2" indent="-285750" algn="just">
              <a:lnSpc>
                <a:spcPts val="2000"/>
              </a:lnSpc>
              <a:buFont typeface="Wingdings" panose="05000000000000000000" pitchFamily="2" charset="2"/>
              <a:buChar char="§"/>
            </a:pPr>
            <a:r>
              <a:rPr lang="en-US" sz="1200" kern="0" dirty="0">
                <a:solidFill>
                  <a:srgbClr val="0000FF"/>
                </a:solidFill>
                <a:latin typeface="Univers 57 Condensed" pitchFamily="2" charset="0"/>
                <a:cs typeface="Calibri"/>
              </a:rPr>
              <a:t>Campaign EEHA Manpower. $45K</a:t>
            </a:r>
          </a:p>
          <a:p>
            <a:pPr marL="285750" lvl="2" indent="-285750" algn="just">
              <a:lnSpc>
                <a:spcPts val="2000"/>
              </a:lnSpc>
              <a:buFont typeface="Wingdings" panose="05000000000000000000" pitchFamily="2" charset="2"/>
              <a:buChar char="§"/>
            </a:pPr>
            <a:r>
              <a:rPr lang="en-US" sz="1200" b="1" kern="0" dirty="0">
                <a:solidFill>
                  <a:srgbClr val="0000FF"/>
                </a:solidFill>
                <a:latin typeface="Univers 57 Condensed" pitchFamily="2" charset="0"/>
                <a:cs typeface="Calibri"/>
              </a:rPr>
              <a:t>Operations Lower ($25K) due to:</a:t>
            </a:r>
          </a:p>
          <a:p>
            <a:pPr marL="742950" lvl="2" indent="-285750" algn="just">
              <a:lnSpc>
                <a:spcPts val="2000"/>
              </a:lnSpc>
              <a:buFont typeface="Wingdings" panose="05000000000000000000" pitchFamily="2" charset="2"/>
              <a:buChar char="§"/>
            </a:pPr>
            <a:r>
              <a:rPr lang="en-US" sz="1200" kern="0" dirty="0">
                <a:solidFill>
                  <a:srgbClr val="0000FF"/>
                </a:solidFill>
                <a:latin typeface="Univers 57 Condensed" pitchFamily="2" charset="0"/>
                <a:cs typeface="Calibri"/>
              </a:rPr>
              <a:t>Low activity from FBMS due to transition period. ($25K)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0" dirty="0">
              <a:solidFill>
                <a:srgbClr val="0000FF"/>
              </a:solidFill>
              <a:latin typeface="Univers 57 Condensed" pitchFamily="2" charset="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0" dirty="0">
              <a:solidFill>
                <a:srgbClr val="0000FF"/>
              </a:solidFill>
              <a:highlight>
                <a:srgbClr val="FFFF00"/>
              </a:highlight>
              <a:latin typeface="Univers 57 Condensed" pitchFamily="2" charset="0"/>
              <a:cs typeface="Calibri"/>
            </a:endParaRPr>
          </a:p>
          <a:p>
            <a:endParaRPr lang="en-ID" dirty="0"/>
          </a:p>
        </p:txBody>
      </p:sp>
      <p:sp>
        <p:nvSpPr>
          <p:cNvPr id="4" name="Slide Number Placeholder 3">
            <a:extLst>
              <a:ext uri="{FF2B5EF4-FFF2-40B4-BE49-F238E27FC236}">
                <a16:creationId xmlns:a16="http://schemas.microsoft.com/office/drawing/2014/main" id="{A6DDBDE2-FFF6-21E0-123C-C2D52F0FC7A8}"/>
              </a:ext>
            </a:extLst>
          </p:cNvPr>
          <p:cNvSpPr>
            <a:spLocks noGrp="1"/>
          </p:cNvSpPr>
          <p:nvPr>
            <p:ph type="sldNum" sz="quarter" idx="5"/>
          </p:nvPr>
        </p:nvSpPr>
        <p:spPr/>
        <p:txBody>
          <a:bodyPr/>
          <a:lstStyle/>
          <a:p>
            <a:fld id="{743BD657-FF92-4D45-9C44-73C1B4A16FC6}" type="slidenum">
              <a:rPr lang="en-ID" smtClean="0"/>
              <a:t>14</a:t>
            </a:fld>
            <a:endParaRPr lang="en-ID"/>
          </a:p>
        </p:txBody>
      </p:sp>
    </p:spTree>
    <p:extLst>
      <p:ext uri="{BB962C8B-B14F-4D97-AF65-F5344CB8AC3E}">
        <p14:creationId xmlns:p14="http://schemas.microsoft.com/office/powerpoint/2010/main" val="2082613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8C4D6-84E8-3EB4-0D28-2D3B5A03F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7776A-6F10-C3C4-4EBC-DF370BB20F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0DA7BD-B7CD-BD75-B407-B97A6CB6D1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rgbClr val="0000FF"/>
                </a:solidFill>
                <a:highlight>
                  <a:srgbClr val="FFFF00"/>
                </a:highlight>
                <a:latin typeface="Univers 57 Condensed" pitchFamily="2" charset="0"/>
                <a:cs typeface="Calibri"/>
              </a:rPr>
              <a:t>Lower forecast purchase exhaust silencer GTC-201. $45K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rgbClr val="0000FF"/>
                </a:solidFill>
                <a:latin typeface="Univers 57 Condensed" pitchFamily="2" charset="0"/>
                <a:cs typeface="Calibri"/>
              </a:rPr>
              <a:t>Lower activity Install Shelter for PTW room due to contract transition. ($25K)</a:t>
            </a:r>
          </a:p>
          <a:p>
            <a:pPr marL="285750" indent="-285750" algn="just">
              <a:lnSpc>
                <a:spcPts val="2000"/>
              </a:lnSpc>
              <a:buFont typeface="Wingdings" panose="05000000000000000000" pitchFamily="2" charset="2"/>
              <a:buChar char="§"/>
            </a:pPr>
            <a:r>
              <a:rPr lang="en-US" sz="1200" b="1" kern="0" dirty="0">
                <a:solidFill>
                  <a:srgbClr val="0000FF"/>
                </a:solidFill>
                <a:latin typeface="Univers 57 Condensed" pitchFamily="2" charset="0"/>
                <a:cs typeface="Calibri"/>
              </a:rPr>
              <a:t>Maintenance Higher $45K due to:</a:t>
            </a:r>
            <a:endParaRPr lang="en-US" sz="1200" kern="0" dirty="0">
              <a:latin typeface="Univers 57 Condensed" pitchFamily="2" charset="0"/>
              <a:cs typeface="Calibri"/>
            </a:endParaRPr>
          </a:p>
          <a:p>
            <a:pPr marL="742950" lvl="2" indent="-285750" algn="just">
              <a:lnSpc>
                <a:spcPts val="2000"/>
              </a:lnSpc>
              <a:buFont typeface="Wingdings" panose="05000000000000000000" pitchFamily="2" charset="2"/>
              <a:buChar char="§"/>
            </a:pPr>
            <a:r>
              <a:rPr lang="en-US" sz="1200" kern="0" dirty="0">
                <a:solidFill>
                  <a:srgbClr val="0000FF"/>
                </a:solidFill>
                <a:latin typeface="Univers 57 Condensed" pitchFamily="2" charset="0"/>
                <a:cs typeface="Calibri"/>
              </a:rPr>
              <a:t>Campaign EEHA Manpower. $45K</a:t>
            </a:r>
          </a:p>
          <a:p>
            <a:pPr marL="285750" lvl="2" indent="-285750" algn="just">
              <a:lnSpc>
                <a:spcPts val="2000"/>
              </a:lnSpc>
              <a:buFont typeface="Wingdings" panose="05000000000000000000" pitchFamily="2" charset="2"/>
              <a:buChar char="§"/>
            </a:pPr>
            <a:r>
              <a:rPr lang="en-US" sz="1200" b="1" kern="0" dirty="0">
                <a:solidFill>
                  <a:srgbClr val="0000FF"/>
                </a:solidFill>
                <a:latin typeface="Univers 57 Condensed" pitchFamily="2" charset="0"/>
                <a:cs typeface="Calibri"/>
              </a:rPr>
              <a:t>Operations Lower ($25K) due to:</a:t>
            </a:r>
          </a:p>
          <a:p>
            <a:pPr marL="742950" lvl="2" indent="-285750" algn="just">
              <a:lnSpc>
                <a:spcPts val="2000"/>
              </a:lnSpc>
              <a:buFont typeface="Wingdings" panose="05000000000000000000" pitchFamily="2" charset="2"/>
              <a:buChar char="§"/>
            </a:pPr>
            <a:r>
              <a:rPr lang="en-US" sz="1200" kern="0" dirty="0">
                <a:solidFill>
                  <a:srgbClr val="0000FF"/>
                </a:solidFill>
                <a:latin typeface="Univers 57 Condensed" pitchFamily="2" charset="0"/>
                <a:cs typeface="Calibri"/>
              </a:rPr>
              <a:t>Low activity from FBMS due to transition period. ($25K)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0" dirty="0">
              <a:solidFill>
                <a:srgbClr val="0000FF"/>
              </a:solidFill>
              <a:latin typeface="Univers 57 Condensed" pitchFamily="2" charset="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0" dirty="0">
              <a:solidFill>
                <a:srgbClr val="0000FF"/>
              </a:solidFill>
              <a:highlight>
                <a:srgbClr val="FFFF00"/>
              </a:highlight>
              <a:latin typeface="Univers 57 Condensed" pitchFamily="2" charset="0"/>
              <a:cs typeface="Calibri"/>
            </a:endParaRPr>
          </a:p>
          <a:p>
            <a:endParaRPr lang="en-ID" dirty="0"/>
          </a:p>
        </p:txBody>
      </p:sp>
      <p:sp>
        <p:nvSpPr>
          <p:cNvPr id="4" name="Slide Number Placeholder 3">
            <a:extLst>
              <a:ext uri="{FF2B5EF4-FFF2-40B4-BE49-F238E27FC236}">
                <a16:creationId xmlns:a16="http://schemas.microsoft.com/office/drawing/2014/main" id="{A7F054D2-DF2F-3C9B-FBA2-0BAAE3D80AC2}"/>
              </a:ext>
            </a:extLst>
          </p:cNvPr>
          <p:cNvSpPr>
            <a:spLocks noGrp="1"/>
          </p:cNvSpPr>
          <p:nvPr>
            <p:ph type="sldNum" sz="quarter" idx="5"/>
          </p:nvPr>
        </p:nvSpPr>
        <p:spPr/>
        <p:txBody>
          <a:bodyPr/>
          <a:lstStyle/>
          <a:p>
            <a:fld id="{743BD657-FF92-4D45-9C44-73C1B4A16FC6}" type="slidenum">
              <a:rPr lang="en-ID" smtClean="0"/>
              <a:t>15</a:t>
            </a:fld>
            <a:endParaRPr lang="en-ID"/>
          </a:p>
        </p:txBody>
      </p:sp>
    </p:spTree>
    <p:extLst>
      <p:ext uri="{BB962C8B-B14F-4D97-AF65-F5344CB8AC3E}">
        <p14:creationId xmlns:p14="http://schemas.microsoft.com/office/powerpoint/2010/main" val="3871689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3BD9A-3D71-ED75-3DF4-588E7D1C52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B5491-0784-4D8C-D62D-4FE9F97F11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E28097-AD97-1883-1CA9-AAAB5F067F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rgbClr val="0000FF"/>
                </a:solidFill>
                <a:highlight>
                  <a:srgbClr val="FFFF00"/>
                </a:highlight>
                <a:latin typeface="Univers 57 Condensed" pitchFamily="2" charset="0"/>
                <a:cs typeface="Calibri"/>
              </a:rPr>
              <a:t>Lower forecast purchase exhaust silencer GTC-201. $45K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rgbClr val="0000FF"/>
                </a:solidFill>
                <a:latin typeface="Univers 57 Condensed" pitchFamily="2" charset="0"/>
                <a:cs typeface="Calibri"/>
              </a:rPr>
              <a:t>Lower activity Install Shelter for PTW room due to contract transition. ($25K)</a:t>
            </a:r>
          </a:p>
          <a:p>
            <a:pPr marL="285750" indent="-285750" algn="just">
              <a:lnSpc>
                <a:spcPts val="2000"/>
              </a:lnSpc>
              <a:buFont typeface="Wingdings" panose="05000000000000000000" pitchFamily="2" charset="2"/>
              <a:buChar char="§"/>
            </a:pPr>
            <a:r>
              <a:rPr lang="en-US" sz="1200" b="1" kern="0" dirty="0">
                <a:solidFill>
                  <a:srgbClr val="0000FF"/>
                </a:solidFill>
                <a:latin typeface="Univers 57 Condensed" pitchFamily="2" charset="0"/>
                <a:cs typeface="Calibri"/>
              </a:rPr>
              <a:t>Maintenance Higher $45K due to:</a:t>
            </a:r>
            <a:endParaRPr lang="en-US" sz="1200" kern="0" dirty="0">
              <a:latin typeface="Univers 57 Condensed" pitchFamily="2" charset="0"/>
              <a:cs typeface="Calibri"/>
            </a:endParaRPr>
          </a:p>
          <a:p>
            <a:pPr marL="742950" lvl="2" indent="-285750" algn="just">
              <a:lnSpc>
                <a:spcPts val="2000"/>
              </a:lnSpc>
              <a:buFont typeface="Wingdings" panose="05000000000000000000" pitchFamily="2" charset="2"/>
              <a:buChar char="§"/>
            </a:pPr>
            <a:r>
              <a:rPr lang="en-US" sz="1200" kern="0" dirty="0">
                <a:solidFill>
                  <a:srgbClr val="0000FF"/>
                </a:solidFill>
                <a:latin typeface="Univers 57 Condensed" pitchFamily="2" charset="0"/>
                <a:cs typeface="Calibri"/>
              </a:rPr>
              <a:t>Campaign EEHA Manpower. $45K</a:t>
            </a:r>
          </a:p>
          <a:p>
            <a:pPr marL="285750" lvl="2" indent="-285750" algn="just">
              <a:lnSpc>
                <a:spcPts val="2000"/>
              </a:lnSpc>
              <a:buFont typeface="Wingdings" panose="05000000000000000000" pitchFamily="2" charset="2"/>
              <a:buChar char="§"/>
            </a:pPr>
            <a:r>
              <a:rPr lang="en-US" sz="1200" b="1" kern="0" dirty="0">
                <a:solidFill>
                  <a:srgbClr val="0000FF"/>
                </a:solidFill>
                <a:latin typeface="Univers 57 Condensed" pitchFamily="2" charset="0"/>
                <a:cs typeface="Calibri"/>
              </a:rPr>
              <a:t>Operations Lower ($25K) due to:</a:t>
            </a:r>
          </a:p>
          <a:p>
            <a:pPr marL="742950" lvl="2" indent="-285750" algn="just">
              <a:lnSpc>
                <a:spcPts val="2000"/>
              </a:lnSpc>
              <a:buFont typeface="Wingdings" panose="05000000000000000000" pitchFamily="2" charset="2"/>
              <a:buChar char="§"/>
            </a:pPr>
            <a:r>
              <a:rPr lang="en-US" sz="1200" kern="0" dirty="0">
                <a:solidFill>
                  <a:srgbClr val="0000FF"/>
                </a:solidFill>
                <a:latin typeface="Univers 57 Condensed" pitchFamily="2" charset="0"/>
                <a:cs typeface="Calibri"/>
              </a:rPr>
              <a:t>Low activity from FBMS due to transition period. ($25K)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0" dirty="0">
              <a:solidFill>
                <a:srgbClr val="0000FF"/>
              </a:solidFill>
              <a:latin typeface="Univers 57 Condensed" pitchFamily="2" charset="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0" dirty="0">
              <a:solidFill>
                <a:srgbClr val="0000FF"/>
              </a:solidFill>
              <a:highlight>
                <a:srgbClr val="FFFF00"/>
              </a:highlight>
              <a:latin typeface="Univers 57 Condensed" pitchFamily="2" charset="0"/>
              <a:cs typeface="Calibri"/>
            </a:endParaRPr>
          </a:p>
          <a:p>
            <a:endParaRPr lang="en-ID" dirty="0"/>
          </a:p>
        </p:txBody>
      </p:sp>
      <p:sp>
        <p:nvSpPr>
          <p:cNvPr id="4" name="Slide Number Placeholder 3">
            <a:extLst>
              <a:ext uri="{FF2B5EF4-FFF2-40B4-BE49-F238E27FC236}">
                <a16:creationId xmlns:a16="http://schemas.microsoft.com/office/drawing/2014/main" id="{DB78C918-AAF2-A1A4-C04C-3A819261C6FE}"/>
              </a:ext>
            </a:extLst>
          </p:cNvPr>
          <p:cNvSpPr>
            <a:spLocks noGrp="1"/>
          </p:cNvSpPr>
          <p:nvPr>
            <p:ph type="sldNum" sz="quarter" idx="5"/>
          </p:nvPr>
        </p:nvSpPr>
        <p:spPr/>
        <p:txBody>
          <a:bodyPr/>
          <a:lstStyle/>
          <a:p>
            <a:fld id="{743BD657-FF92-4D45-9C44-73C1B4A16FC6}" type="slidenum">
              <a:rPr lang="en-ID" smtClean="0"/>
              <a:t>16</a:t>
            </a:fld>
            <a:endParaRPr lang="en-ID"/>
          </a:p>
        </p:txBody>
      </p:sp>
    </p:spTree>
    <p:extLst>
      <p:ext uri="{BB962C8B-B14F-4D97-AF65-F5344CB8AC3E}">
        <p14:creationId xmlns:p14="http://schemas.microsoft.com/office/powerpoint/2010/main" val="20633435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294394D-4A84-4EBD-A2A1-5FC4F4432B16}" type="slidenum">
              <a:rPr lang="en-US" smtClean="0"/>
              <a:t>17</a:t>
            </a:fld>
            <a:endParaRPr lang="en-US"/>
          </a:p>
        </p:txBody>
      </p:sp>
      <p:sp>
        <p:nvSpPr>
          <p:cNvPr id="5" name="Date Placeholder 4"/>
          <p:cNvSpPr>
            <a:spLocks noGrp="1"/>
          </p:cNvSpPr>
          <p:nvPr>
            <p:ph type="dt" idx="11"/>
          </p:nvPr>
        </p:nvSpPr>
        <p:spPr/>
        <p:txBody>
          <a:bodyPr/>
          <a:lstStyle/>
          <a:p>
            <a:fld id="{D2D1B63C-6035-4E0B-9022-75042F80A4DF}" type="datetime1">
              <a:rPr lang="en-US" smtClean="0"/>
              <a:t>6/29/2026</a:t>
            </a:fld>
            <a:endParaRPr lang="en-US"/>
          </a:p>
        </p:txBody>
      </p:sp>
    </p:spTree>
    <p:extLst>
      <p:ext uri="{BB962C8B-B14F-4D97-AF65-F5344CB8AC3E}">
        <p14:creationId xmlns:p14="http://schemas.microsoft.com/office/powerpoint/2010/main" val="3964154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0.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10.emf"/><Relationship Id="rId4" Type="http://schemas.openxmlformats.org/officeDocument/2006/relationships/oleObject" Target="../embeddings/oleObject4.bin"/></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10.emf"/><Relationship Id="rId5" Type="http://schemas.openxmlformats.org/officeDocument/2006/relationships/oleObject" Target="../embeddings/oleObject5.bin"/><Relationship Id="rId4"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2446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8375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3520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196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08239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Object 2" hidden="1"/>
          <p:cNvGraphicFramePr>
            <a:graphicFrameLocks noChangeAspect="1"/>
          </p:cNvGraphicFramePr>
          <p:nvPr userDrawn="1">
            <p:custDataLst>
              <p:tags r:id="rId2"/>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11" name="Title 1"/>
          <p:cNvSpPr>
            <a:spLocks noGrp="1"/>
          </p:cNvSpPr>
          <p:nvPr>
            <p:ph type="title"/>
          </p:nvPr>
        </p:nvSpPr>
        <p:spPr>
          <a:xfrm>
            <a:off x="375139" y="152400"/>
            <a:ext cx="9321801" cy="533400"/>
          </a:xfrm>
          <a:prstGeom prst="rect">
            <a:avLst/>
          </a:prstGeom>
        </p:spPr>
        <p:txBody>
          <a:bodyPr vert="horz"/>
          <a:lstStyle>
            <a:lvl1pPr algn="l">
              <a:defRPr sz="2800" b="1" i="0">
                <a:solidFill>
                  <a:srgbClr val="004C8F"/>
                </a:solidFill>
                <a:latin typeface="Calibri"/>
                <a:cs typeface="Calibri"/>
              </a:defRPr>
            </a:lvl1pPr>
          </a:lstStyle>
          <a:p>
            <a:r>
              <a:rPr lang="en-US" dirty="0"/>
              <a:t>Click to edit Master title style</a:t>
            </a:r>
          </a:p>
        </p:txBody>
      </p:sp>
    </p:spTree>
    <p:extLst>
      <p:ext uri="{BB962C8B-B14F-4D97-AF65-F5344CB8AC3E}">
        <p14:creationId xmlns:p14="http://schemas.microsoft.com/office/powerpoint/2010/main" val="2725917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hidden="1"/>
          <p:cNvGraphicFramePr>
            <a:graphicFrameLocks noChangeAspect="1"/>
          </p:cNvGraphicFramePr>
          <p:nvPr userDrawn="1">
            <p:custDataLst>
              <p:tags r:id="rId2"/>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955" y="1589"/>
                        <a:ext cx="1953" cy="1587"/>
                      </a:xfrm>
                      <a:prstGeom prst="rect">
                        <a:avLst/>
                      </a:prstGeom>
                    </p:spPr>
                  </p:pic>
                </p:oleObj>
              </mc:Fallback>
            </mc:AlternateContent>
          </a:graphicData>
        </a:graphic>
      </p:graphicFrame>
      <p:sp>
        <p:nvSpPr>
          <p:cNvPr id="5" name="Rectangle 4" hidden="1"/>
          <p:cNvSpPr/>
          <p:nvPr userDrawn="1">
            <p:custDataLst>
              <p:tags r:id="rId3"/>
            </p:custDataLst>
          </p:nvPr>
        </p:nvSpPr>
        <p:spPr>
          <a:xfrm>
            <a:off x="0" y="0"/>
            <a:ext cx="195385"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1800" b="1" i="0" baseline="0" dirty="0">
              <a:latin typeface="Calibri" panose="020F0502020204030204" pitchFamily="34" charset="0"/>
              <a:ea typeface="+mj-ea"/>
              <a:cs typeface="+mj-cs"/>
              <a:sym typeface="Calibri" panose="020F0502020204030204" pitchFamily="34" charset="0"/>
            </a:endParaRPr>
          </a:p>
        </p:txBody>
      </p:sp>
      <p:sp>
        <p:nvSpPr>
          <p:cNvPr id="3" name="Title 1"/>
          <p:cNvSpPr>
            <a:spLocks noGrp="1"/>
          </p:cNvSpPr>
          <p:nvPr>
            <p:ph type="title"/>
          </p:nvPr>
        </p:nvSpPr>
        <p:spPr>
          <a:xfrm>
            <a:off x="234461" y="137160"/>
            <a:ext cx="9425354" cy="411162"/>
          </a:xfrm>
          <a:prstGeom prst="rect">
            <a:avLst/>
          </a:prstGeom>
        </p:spPr>
        <p:txBody>
          <a:bodyPr vert="horz" tIns="91440" bIns="91440" anchor="ctr"/>
          <a:lstStyle>
            <a:lvl1pPr algn="l">
              <a:defRPr sz="1800" b="1">
                <a:latin typeface="+mn-lt"/>
              </a:defRPr>
            </a:lvl1pPr>
          </a:lstStyle>
          <a:p>
            <a:r>
              <a:rPr lang="en-US" dirty="0"/>
              <a:t>Click to edit Master title style</a:t>
            </a:r>
          </a:p>
        </p:txBody>
      </p:sp>
      <p:cxnSp>
        <p:nvCxnSpPr>
          <p:cNvPr id="8" name="Straight Connector 7">
            <a:extLst>
              <a:ext uri="{FF2B5EF4-FFF2-40B4-BE49-F238E27FC236}">
                <a16:creationId xmlns:a16="http://schemas.microsoft.com/office/drawing/2014/main" id="{1039E83F-7A0D-A64C-BDC2-2D54756BBACB}"/>
              </a:ext>
            </a:extLst>
          </p:cNvPr>
          <p:cNvCxnSpPr>
            <a:cxnSpLocks/>
          </p:cNvCxnSpPr>
          <p:nvPr userDrawn="1"/>
        </p:nvCxnSpPr>
        <p:spPr>
          <a:xfrm>
            <a:off x="1402873" y="651062"/>
            <a:ext cx="10524895" cy="0"/>
          </a:xfrm>
          <a:prstGeom prst="line">
            <a:avLst/>
          </a:prstGeom>
          <a:noFill/>
          <a:ln w="6350" cap="flat" cmpd="sng" algn="ctr">
            <a:solidFill>
              <a:sysClr val="windowText" lastClr="000000">
                <a:lumMod val="50000"/>
                <a:lumOff val="50000"/>
              </a:sysClr>
            </a:solidFill>
            <a:prstDash val="solid"/>
          </a:ln>
          <a:effectLst/>
        </p:spPr>
      </p:cxnSp>
    </p:spTree>
    <p:extLst>
      <p:ext uri="{BB962C8B-B14F-4D97-AF65-F5344CB8AC3E}">
        <p14:creationId xmlns:p14="http://schemas.microsoft.com/office/powerpoint/2010/main" val="284474336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3.xml"/><Relationship Id="rId7" Type="http://schemas.openxmlformats.org/officeDocument/2006/relationships/image" Target="../media/image5.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image" Target="../media/image8.png"/><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heme" Target="../theme/theme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4.emf"/><Relationship Id="rId4" Type="http://schemas.openxmlformats.org/officeDocument/2006/relationships/oleObject" Target="../embeddings/oleObject2.bin"/></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slideLayout" Target="../slideLayouts/slideLayout7.xml"/><Relationship Id="rId7"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tags" Target="../tags/tag9.xml"/><Relationship Id="rId4" Type="http://schemas.openxmlformats.org/officeDocument/2006/relationships/theme" Target="../theme/theme5.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2" name="Object 1"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4" name="TextBox 33">
            <a:extLst>
              <a:ext uri="{FF2B5EF4-FFF2-40B4-BE49-F238E27FC236}">
                <a16:creationId xmlns:a16="http://schemas.microsoft.com/office/drawing/2014/main" id="{C7C6EEDF-34CC-8E41-848F-F98B45233D1E}"/>
              </a:ext>
            </a:extLst>
          </p:cNvPr>
          <p:cNvSpPr txBox="1"/>
          <p:nvPr userDrawn="1"/>
        </p:nvSpPr>
        <p:spPr>
          <a:xfrm>
            <a:off x="361949" y="5696956"/>
            <a:ext cx="3000375" cy="261610"/>
          </a:xfrm>
          <a:prstGeom prst="rect">
            <a:avLst/>
          </a:prstGeom>
          <a:noFill/>
        </p:spPr>
        <p:txBody>
          <a:bodyPr wrap="square" rtlCol="0">
            <a:spAutoFit/>
          </a:bodyPr>
          <a:lstStyle/>
          <a:p>
            <a:pPr defTabSz="457200">
              <a:defRPr/>
            </a:pPr>
            <a:r>
              <a:rPr lang="en-US" sz="1100" dirty="0">
                <a:solidFill>
                  <a:prstClr val="black"/>
                </a:solidFill>
                <a:latin typeface="Univers 57 Condensed" pitchFamily="2" charset="0"/>
                <a:cs typeface="Calibri"/>
              </a:rPr>
              <a:t>Website : www.medcoenergi.com</a:t>
            </a:r>
          </a:p>
        </p:txBody>
      </p:sp>
      <p:sp>
        <p:nvSpPr>
          <p:cNvPr id="35" name="Rectangle 34">
            <a:extLst>
              <a:ext uri="{FF2B5EF4-FFF2-40B4-BE49-F238E27FC236}">
                <a16:creationId xmlns:a16="http://schemas.microsoft.com/office/drawing/2014/main" id="{12A09E5A-A88E-0943-831A-76259F96A8B9}"/>
              </a:ext>
            </a:extLst>
          </p:cNvPr>
          <p:cNvSpPr/>
          <p:nvPr userDrawn="1"/>
        </p:nvSpPr>
        <p:spPr>
          <a:xfrm>
            <a:off x="1" y="3981923"/>
            <a:ext cx="152399" cy="1637355"/>
          </a:xfrm>
          <a:prstGeom prst="rect">
            <a:avLst/>
          </a:prstGeom>
          <a:solidFill>
            <a:srgbClr val="004C8F"/>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cxnSp>
        <p:nvCxnSpPr>
          <p:cNvPr id="36" name="Straight Connector 35">
            <a:extLst>
              <a:ext uri="{FF2B5EF4-FFF2-40B4-BE49-F238E27FC236}">
                <a16:creationId xmlns:a16="http://schemas.microsoft.com/office/drawing/2014/main" id="{45AF0B19-2703-FB48-80DE-48B5E8486F8D}"/>
              </a:ext>
            </a:extLst>
          </p:cNvPr>
          <p:cNvCxnSpPr/>
          <p:nvPr userDrawn="1"/>
        </p:nvCxnSpPr>
        <p:spPr>
          <a:xfrm>
            <a:off x="0" y="5612064"/>
            <a:ext cx="3819193" cy="0"/>
          </a:xfrm>
          <a:prstGeom prst="line">
            <a:avLst/>
          </a:prstGeom>
          <a:noFill/>
          <a:ln w="3175" cap="flat" cmpd="sng" algn="ctr">
            <a:solidFill>
              <a:srgbClr val="7F7F7F"/>
            </a:solidFill>
            <a:prstDash val="solid"/>
          </a:ln>
          <a:effectLst/>
        </p:spPr>
      </p:cxnSp>
      <p:cxnSp>
        <p:nvCxnSpPr>
          <p:cNvPr id="37" name="Straight Connector 36">
            <a:extLst>
              <a:ext uri="{FF2B5EF4-FFF2-40B4-BE49-F238E27FC236}">
                <a16:creationId xmlns:a16="http://schemas.microsoft.com/office/drawing/2014/main" id="{44330850-49FA-5C4B-A113-48CB747CBA72}"/>
              </a:ext>
            </a:extLst>
          </p:cNvPr>
          <p:cNvCxnSpPr/>
          <p:nvPr userDrawn="1"/>
        </p:nvCxnSpPr>
        <p:spPr>
          <a:xfrm>
            <a:off x="0" y="6069264"/>
            <a:ext cx="3819193" cy="0"/>
          </a:xfrm>
          <a:prstGeom prst="line">
            <a:avLst/>
          </a:prstGeom>
          <a:noFill/>
          <a:ln w="3175" cap="flat" cmpd="sng" algn="ctr">
            <a:solidFill>
              <a:srgbClr val="7F7F7F"/>
            </a:solidFill>
            <a:prstDash val="solid"/>
          </a:ln>
          <a:effectLst/>
        </p:spPr>
      </p:cxnSp>
      <p:pic>
        <p:nvPicPr>
          <p:cNvPr id="4" name="Picture 3">
            <a:extLst>
              <a:ext uri="{FF2B5EF4-FFF2-40B4-BE49-F238E27FC236}">
                <a16:creationId xmlns:a16="http://schemas.microsoft.com/office/drawing/2014/main" id="{911B2C79-CF24-947B-9FCA-CB709C4249C0}"/>
              </a:ext>
            </a:extLst>
          </p:cNvPr>
          <p:cNvPicPr>
            <a:picLocks noChangeAspect="1"/>
          </p:cNvPicPr>
          <p:nvPr userDrawn="1"/>
        </p:nvPicPr>
        <p:blipFill>
          <a:blip r:embed="rId6"/>
          <a:stretch>
            <a:fillRect/>
          </a:stretch>
        </p:blipFill>
        <p:spPr>
          <a:xfrm>
            <a:off x="152400" y="3112124"/>
            <a:ext cx="2680587" cy="1107996"/>
          </a:xfrm>
          <a:prstGeom prst="rect">
            <a:avLst/>
          </a:prstGeom>
        </p:spPr>
      </p:pic>
      <p:sp>
        <p:nvSpPr>
          <p:cNvPr id="3" name="TextBox 2">
            <a:extLst>
              <a:ext uri="{FF2B5EF4-FFF2-40B4-BE49-F238E27FC236}">
                <a16:creationId xmlns:a16="http://schemas.microsoft.com/office/drawing/2014/main" id="{3803E327-8014-E970-E20D-0A646B07263A}"/>
              </a:ext>
            </a:extLst>
          </p:cNvPr>
          <p:cNvSpPr txBox="1"/>
          <p:nvPr userDrawn="1"/>
        </p:nvSpPr>
        <p:spPr>
          <a:xfrm>
            <a:off x="361949" y="4218706"/>
            <a:ext cx="3276600" cy="1107996"/>
          </a:xfrm>
          <a:prstGeom prst="rect">
            <a:avLst/>
          </a:prstGeom>
          <a:noFill/>
        </p:spPr>
        <p:txBody>
          <a:bodyPr wrap="square" rtlCol="0">
            <a:spAutoFit/>
          </a:bodyPr>
          <a:lstStyle/>
          <a:p>
            <a:r>
              <a:rPr lang="en-US" sz="1100" dirty="0">
                <a:solidFill>
                  <a:prstClr val="black"/>
                </a:solidFill>
                <a:latin typeface="Univers 57 Condensed" pitchFamily="2" charset="0"/>
                <a:cs typeface="Calibri"/>
              </a:rPr>
              <a:t>The Energy Building 33</a:t>
            </a:r>
            <a:r>
              <a:rPr lang="en-US" sz="1100" baseline="30000" dirty="0">
                <a:solidFill>
                  <a:prstClr val="black"/>
                </a:solidFill>
                <a:latin typeface="Univers 57 Condensed" pitchFamily="2" charset="0"/>
                <a:cs typeface="Calibri"/>
              </a:rPr>
              <a:t>rd</a:t>
            </a:r>
            <a:r>
              <a:rPr lang="en-US" sz="1100" dirty="0">
                <a:solidFill>
                  <a:prstClr val="black"/>
                </a:solidFill>
                <a:latin typeface="Univers 57 Condensed" pitchFamily="2" charset="0"/>
                <a:cs typeface="Calibri"/>
              </a:rPr>
              <a:t> Floor </a:t>
            </a:r>
          </a:p>
          <a:p>
            <a:r>
              <a:rPr lang="en-US" sz="1100" dirty="0">
                <a:solidFill>
                  <a:prstClr val="black"/>
                </a:solidFill>
                <a:latin typeface="Univers 57 Condensed" pitchFamily="2" charset="0"/>
                <a:cs typeface="Calibri"/>
              </a:rPr>
              <a:t>SCBD Lot 11A</a:t>
            </a:r>
          </a:p>
          <a:p>
            <a:r>
              <a:rPr lang="en-US" sz="1100" dirty="0">
                <a:solidFill>
                  <a:prstClr val="black"/>
                </a:solidFill>
                <a:latin typeface="Univers 57 Condensed" pitchFamily="2" charset="0"/>
                <a:cs typeface="Calibri"/>
              </a:rPr>
              <a:t>Jl. </a:t>
            </a:r>
            <a:r>
              <a:rPr lang="en-US" sz="1100" dirty="0" err="1">
                <a:solidFill>
                  <a:prstClr val="black"/>
                </a:solidFill>
                <a:latin typeface="Univers 57 Condensed" pitchFamily="2" charset="0"/>
                <a:cs typeface="Calibri"/>
              </a:rPr>
              <a:t>Jend</a:t>
            </a:r>
            <a:r>
              <a:rPr lang="en-US" sz="1100" dirty="0">
                <a:solidFill>
                  <a:prstClr val="black"/>
                </a:solidFill>
                <a:latin typeface="Univers 57 Condensed" pitchFamily="2" charset="0"/>
                <a:cs typeface="Calibri"/>
              </a:rPr>
              <a:t>. </a:t>
            </a:r>
            <a:r>
              <a:rPr lang="en-US" sz="1100" dirty="0" err="1">
                <a:solidFill>
                  <a:prstClr val="black"/>
                </a:solidFill>
                <a:latin typeface="Univers 57 Condensed" pitchFamily="2" charset="0"/>
                <a:cs typeface="Calibri"/>
              </a:rPr>
              <a:t>Sudirman</a:t>
            </a:r>
            <a:r>
              <a:rPr lang="en-US" sz="1100" dirty="0">
                <a:solidFill>
                  <a:prstClr val="black"/>
                </a:solidFill>
                <a:latin typeface="Univers 57 Condensed" pitchFamily="2" charset="0"/>
                <a:cs typeface="Calibri"/>
              </a:rPr>
              <a:t>, Jakarta 12190</a:t>
            </a:r>
          </a:p>
          <a:p>
            <a:r>
              <a:rPr lang="en-US" sz="1100" dirty="0">
                <a:solidFill>
                  <a:prstClr val="black"/>
                </a:solidFill>
                <a:latin typeface="Univers 57 Condensed" pitchFamily="2" charset="0"/>
                <a:cs typeface="Calibri"/>
              </a:rPr>
              <a:t>Indonesia</a:t>
            </a:r>
          </a:p>
          <a:p>
            <a:r>
              <a:rPr lang="en-US" sz="1100" dirty="0">
                <a:solidFill>
                  <a:prstClr val="black"/>
                </a:solidFill>
                <a:latin typeface="Univers 57 Condensed" pitchFamily="2" charset="0"/>
                <a:cs typeface="Calibri"/>
              </a:rPr>
              <a:t>P. +62-21 2995 4000</a:t>
            </a:r>
          </a:p>
          <a:p>
            <a:r>
              <a:rPr lang="en-US" sz="1100" dirty="0">
                <a:solidFill>
                  <a:prstClr val="black"/>
                </a:solidFill>
                <a:latin typeface="Univers 57 Condensed" pitchFamily="2" charset="0"/>
                <a:cs typeface="Calibri"/>
              </a:rPr>
              <a:t>F. +62-21 2995 1301</a:t>
            </a:r>
          </a:p>
        </p:txBody>
      </p:sp>
    </p:spTree>
    <p:extLst>
      <p:ext uri="{BB962C8B-B14F-4D97-AF65-F5344CB8AC3E}">
        <p14:creationId xmlns:p14="http://schemas.microsoft.com/office/powerpoint/2010/main" val="640515158"/>
      </p:ext>
    </p:extLst>
  </p:cSld>
  <p:clrMap bg1="lt1" tx1="dk1" bg2="lt2" tx2="dk2" accent1="accent1" accent2="accent2" accent3="accent3" accent4="accent4" accent5="accent5" accent6="accent6" hlink="hlink" folHlink="folHlink"/>
  <p:sldLayoutIdLst>
    <p:sldLayoutId id="214748367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A white background with circles&#10;&#10;Description automatically generated">
            <a:extLst>
              <a:ext uri="{FF2B5EF4-FFF2-40B4-BE49-F238E27FC236}">
                <a16:creationId xmlns:a16="http://schemas.microsoft.com/office/drawing/2014/main" id="{94D5AC59-4A2C-424E-89F8-56468FAF59C4}"/>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6" name="Rectangle 15">
            <a:extLst>
              <a:ext uri="{FF2B5EF4-FFF2-40B4-BE49-F238E27FC236}">
                <a16:creationId xmlns:a16="http://schemas.microsoft.com/office/drawing/2014/main" id="{A1E84AE8-EB71-4FD7-402F-B44839BDE018}"/>
              </a:ext>
            </a:extLst>
          </p:cNvPr>
          <p:cNvSpPr/>
          <p:nvPr userDrawn="1"/>
        </p:nvSpPr>
        <p:spPr>
          <a:xfrm>
            <a:off x="0" y="2067722"/>
            <a:ext cx="12192000" cy="325793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 name="Object 1" hidden="1"/>
          <p:cNvGraphicFramePr>
            <a:graphicFrameLocks noChangeAspect="1"/>
          </p:cNvGraphicFramePr>
          <p:nvPr userDrawn="1">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23" imgH="499" progId="TCLayout.ActiveDocument.1">
                  <p:embed/>
                </p:oleObj>
              </mc:Choice>
              <mc:Fallback>
                <p:oleObj name="think-cell Slide" r:id="rId5" imgW="523" imgH="499" progId="TCLayout.ActiveDocument.1">
                  <p:embed/>
                  <p:pic>
                    <p:nvPicPr>
                      <p:cNvPr id="2" name="Object 1"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061C650E-1E80-F09A-452A-D7F5D6E1B578}"/>
              </a:ext>
            </a:extLst>
          </p:cNvPr>
          <p:cNvSpPr txBox="1"/>
          <p:nvPr userDrawn="1"/>
        </p:nvSpPr>
        <p:spPr>
          <a:xfrm>
            <a:off x="3679369" y="2285285"/>
            <a:ext cx="6531429" cy="2851999"/>
          </a:xfrm>
          <a:prstGeom prst="rect">
            <a:avLst/>
          </a:prstGeom>
          <a:noFill/>
        </p:spPr>
        <p:txBody>
          <a:bodyPr wrap="square" rtlCol="0">
            <a:spAutoFit/>
          </a:bodyPr>
          <a:lstStyle/>
          <a:p>
            <a:pPr marL="0" marR="0" indent="0" algn="just" defTabSz="914400" rtl="0" eaLnBrk="1" fontAlgn="auto" latinLnBrk="0" hangingPunct="1">
              <a:lnSpc>
                <a:spcPts val="1800"/>
              </a:lnSpc>
              <a:spcBef>
                <a:spcPts val="0"/>
              </a:spcBef>
              <a:spcAft>
                <a:spcPts val="0"/>
              </a:spcAft>
              <a:buClrTx/>
              <a:buSzTx/>
              <a:buFontTx/>
              <a:buNone/>
              <a:tabLst/>
              <a:defRPr/>
            </a:pPr>
            <a:r>
              <a:rPr lang="en-US" sz="1400" b="0" i="0" dirty="0">
                <a:solidFill>
                  <a:schemeClr val="bg2">
                    <a:lumMod val="25000"/>
                  </a:schemeClr>
                </a:solidFill>
                <a:latin typeface="Univers 57 Condensed" pitchFamily="2" charset="0"/>
                <a:cs typeface="Univers LT Std 55"/>
              </a:rPr>
              <a:t>The following presentation has been prepared by Medco E&amp;P (the “Company”) and contains certain projections, plans, business strategies, policies of the Company and industry data in which the Company operates in, which could be treated as forward-looking statements within the meaning of applicable law. Such forward-looking statements, by their nature, involve risks and uncertainties that could prove to be incorrect and cause actual results to differ materially from those expressed or implied in these statements. </a:t>
            </a:r>
          </a:p>
          <a:p>
            <a:pPr marL="0" marR="0" indent="0" algn="just" defTabSz="914400" rtl="0" eaLnBrk="1" fontAlgn="auto" latinLnBrk="0" hangingPunct="1">
              <a:lnSpc>
                <a:spcPts val="1800"/>
              </a:lnSpc>
              <a:spcBef>
                <a:spcPts val="0"/>
              </a:spcBef>
              <a:spcAft>
                <a:spcPts val="0"/>
              </a:spcAft>
              <a:buClrTx/>
              <a:buSzTx/>
              <a:buFontTx/>
              <a:buNone/>
              <a:tabLst/>
              <a:defRPr/>
            </a:pPr>
            <a:endParaRPr lang="en-US" sz="1400" b="0" i="0" dirty="0">
              <a:solidFill>
                <a:schemeClr val="bg2">
                  <a:lumMod val="25000"/>
                </a:schemeClr>
              </a:solidFill>
              <a:latin typeface="Univers 57 Condensed" pitchFamily="2" charset="0"/>
              <a:cs typeface="Univers LT Std 55"/>
            </a:endParaRPr>
          </a:p>
          <a:p>
            <a:pPr marL="0" marR="0" indent="0" algn="just" defTabSz="914400" rtl="0" eaLnBrk="1" fontAlgn="auto" latinLnBrk="0" hangingPunct="1">
              <a:lnSpc>
                <a:spcPts val="1800"/>
              </a:lnSpc>
              <a:spcBef>
                <a:spcPts val="0"/>
              </a:spcBef>
              <a:spcAft>
                <a:spcPts val="0"/>
              </a:spcAft>
              <a:buClrTx/>
              <a:buSzTx/>
              <a:buFontTx/>
              <a:buNone/>
              <a:tabLst/>
              <a:defRPr/>
            </a:pPr>
            <a:r>
              <a:rPr lang="en-US" sz="1400" b="0" i="0" dirty="0">
                <a:solidFill>
                  <a:schemeClr val="bg2">
                    <a:lumMod val="25000"/>
                  </a:schemeClr>
                </a:solidFill>
                <a:latin typeface="Univers 57 Condensed" pitchFamily="2" charset="0"/>
                <a:cs typeface="Univers LT Std 55"/>
              </a:rPr>
              <a:t>The Company does not guarantee that any action, which may have been taken. The information presented today is considered Company’s confidential and proprietary, and should not be disclosed, in whole or in part, outside of the Company without appropriate prior approval of Company’s management.</a:t>
            </a:r>
          </a:p>
        </p:txBody>
      </p:sp>
      <p:cxnSp>
        <p:nvCxnSpPr>
          <p:cNvPr id="5" name="Straight Connector 4">
            <a:extLst>
              <a:ext uri="{FF2B5EF4-FFF2-40B4-BE49-F238E27FC236}">
                <a16:creationId xmlns:a16="http://schemas.microsoft.com/office/drawing/2014/main" id="{FB26D590-8891-7F88-34F1-A729227F63F5}"/>
              </a:ext>
            </a:extLst>
          </p:cNvPr>
          <p:cNvCxnSpPr>
            <a:cxnSpLocks/>
          </p:cNvCxnSpPr>
          <p:nvPr userDrawn="1"/>
        </p:nvCxnSpPr>
        <p:spPr>
          <a:xfrm flipH="1">
            <a:off x="0" y="2067722"/>
            <a:ext cx="12192000" cy="0"/>
          </a:xfrm>
          <a:prstGeom prst="line">
            <a:avLst/>
          </a:prstGeom>
          <a:ln w="19050" cmpd="sng">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pic>
        <p:nvPicPr>
          <p:cNvPr id="6" name="Picture 4" descr="warn1">
            <a:extLst>
              <a:ext uri="{FF2B5EF4-FFF2-40B4-BE49-F238E27FC236}">
                <a16:creationId xmlns:a16="http://schemas.microsoft.com/office/drawing/2014/main" id="{C308E1C0-FFAD-C9DB-6BA9-4AAB32A7369D}"/>
              </a:ext>
            </a:extLst>
          </p:cNvPr>
          <p:cNvPicPr>
            <a:picLocks noChangeAspect="1" noChangeArrowheads="1"/>
          </p:cNvPicPr>
          <p:nvPr userDrawn="1"/>
        </p:nvPicPr>
        <p:blipFill>
          <a:blip r:embed="rId7" cstate="email">
            <a:extLst>
              <a:ext uri="{28A0092B-C50C-407E-A947-70E740481C1C}">
                <a14:useLocalDpi xmlns:a14="http://schemas.microsoft.com/office/drawing/2010/main"/>
              </a:ext>
            </a:extLst>
          </a:blip>
          <a:srcRect/>
          <a:stretch>
            <a:fillRect/>
          </a:stretch>
        </p:blipFill>
        <p:spPr bwMode="auto">
          <a:xfrm>
            <a:off x="2013767" y="2431637"/>
            <a:ext cx="1314631" cy="1213510"/>
          </a:xfrm>
          <a:prstGeom prst="rect">
            <a:avLst/>
          </a:prstGeom>
          <a:noFill/>
          <a:ln w="9525">
            <a:noFill/>
            <a:miter lim="800000"/>
            <a:headEnd/>
            <a:tailEnd/>
          </a:ln>
        </p:spPr>
      </p:pic>
      <p:sp>
        <p:nvSpPr>
          <p:cNvPr id="7" name="Rectangle 6">
            <a:extLst>
              <a:ext uri="{FF2B5EF4-FFF2-40B4-BE49-F238E27FC236}">
                <a16:creationId xmlns:a16="http://schemas.microsoft.com/office/drawing/2014/main" id="{7E8BED9A-0CFD-9C9C-4F58-BAB8A3D17691}"/>
              </a:ext>
            </a:extLst>
          </p:cNvPr>
          <p:cNvSpPr/>
          <p:nvPr userDrawn="1"/>
        </p:nvSpPr>
        <p:spPr>
          <a:xfrm>
            <a:off x="0" y="5337869"/>
            <a:ext cx="12192000" cy="73710"/>
          </a:xfrm>
          <a:prstGeom prst="rect">
            <a:avLst/>
          </a:prstGeom>
          <a:solidFill>
            <a:srgbClr val="004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D8EA8338-61D3-AC6F-5C0C-33E4EF782D2B}"/>
              </a:ext>
            </a:extLst>
          </p:cNvPr>
          <p:cNvPicPr>
            <a:picLocks noChangeAspect="1"/>
          </p:cNvPicPr>
          <p:nvPr userDrawn="1"/>
        </p:nvPicPr>
        <p:blipFill>
          <a:blip r:embed="rId8"/>
          <a:stretch>
            <a:fillRect/>
          </a:stretch>
        </p:blipFill>
        <p:spPr>
          <a:xfrm>
            <a:off x="8980975" y="1099954"/>
            <a:ext cx="1206494" cy="913571"/>
          </a:xfrm>
          <a:prstGeom prst="rect">
            <a:avLst/>
          </a:prstGeom>
        </p:spPr>
      </p:pic>
    </p:spTree>
    <p:extLst>
      <p:ext uri="{BB962C8B-B14F-4D97-AF65-F5344CB8AC3E}">
        <p14:creationId xmlns:p14="http://schemas.microsoft.com/office/powerpoint/2010/main" val="3533207446"/>
      </p:ext>
    </p:extLst>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1847583-A143-AEB1-E5C0-89CFF6668EF5}"/>
              </a:ext>
            </a:extLst>
          </p:cNvPr>
          <p:cNvSpPr/>
          <p:nvPr userDrawn="1"/>
        </p:nvSpPr>
        <p:spPr>
          <a:xfrm>
            <a:off x="0" y="0"/>
            <a:ext cx="12192000" cy="6858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ack background with white lines&#10;&#10;Description automatically generated">
            <a:extLst>
              <a:ext uri="{FF2B5EF4-FFF2-40B4-BE49-F238E27FC236}">
                <a16:creationId xmlns:a16="http://schemas.microsoft.com/office/drawing/2014/main" id="{4BD0E1D7-24AF-3DA8-E0E8-5B2475C966FF}"/>
              </a:ext>
            </a:extLst>
          </p:cNvPr>
          <p:cNvPicPr>
            <a:picLocks noChangeAspect="1"/>
          </p:cNvPicPr>
          <p:nvPr userDrawn="1"/>
        </p:nvPicPr>
        <p:blipFill>
          <a:blip r:embed="rId4"/>
          <a:stretch>
            <a:fillRect/>
          </a:stretch>
        </p:blipFill>
        <p:spPr>
          <a:xfrm>
            <a:off x="1499314" y="449562"/>
            <a:ext cx="10660645" cy="5996613"/>
          </a:xfrm>
          <a:prstGeom prst="rect">
            <a:avLst/>
          </a:prstGeom>
        </p:spPr>
      </p:pic>
      <p:graphicFrame>
        <p:nvGraphicFramePr>
          <p:cNvPr id="2" name="Object 1" hidden="1"/>
          <p:cNvGraphicFramePr>
            <a:graphicFrameLocks noChangeAspect="1"/>
          </p:cNvGraphicFramePr>
          <p:nvPr userDrawn="1">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23" imgH="499" progId="TCLayout.ActiveDocument.1">
                  <p:embed/>
                </p:oleObj>
              </mc:Choice>
              <mc:Fallback>
                <p:oleObj name="think-cell Slide" r:id="rId5" imgW="523" imgH="499" progId="TCLayout.ActiveDocument.1">
                  <p:embed/>
                  <p:pic>
                    <p:nvPicPr>
                      <p:cNvPr id="2" name="Object 1" hidden="1"/>
                      <p:cNvPicPr/>
                      <p:nvPr/>
                    </p:nvPicPr>
                    <p:blipFill>
                      <a:blip r:embed="rId6"/>
                      <a:stretch>
                        <a:fillRect/>
                      </a:stretch>
                    </p:blipFill>
                    <p:spPr>
                      <a:xfrm>
                        <a:off x="1588" y="1588"/>
                        <a:ext cx="1588" cy="1588"/>
                      </a:xfrm>
                      <a:prstGeom prst="rect">
                        <a:avLst/>
                      </a:prstGeom>
                    </p:spPr>
                  </p:pic>
                </p:oleObj>
              </mc:Fallback>
            </mc:AlternateContent>
          </a:graphicData>
        </a:graphic>
      </p:graphicFrame>
      <p:cxnSp>
        <p:nvCxnSpPr>
          <p:cNvPr id="7" name="Straight Connector 6">
            <a:extLst>
              <a:ext uri="{FF2B5EF4-FFF2-40B4-BE49-F238E27FC236}">
                <a16:creationId xmlns:a16="http://schemas.microsoft.com/office/drawing/2014/main" id="{A41F0237-CA9C-ADC2-2C20-9250FA4909F3}"/>
              </a:ext>
            </a:extLst>
          </p:cNvPr>
          <p:cNvCxnSpPr>
            <a:cxnSpLocks/>
          </p:cNvCxnSpPr>
          <p:nvPr userDrawn="1"/>
        </p:nvCxnSpPr>
        <p:spPr>
          <a:xfrm>
            <a:off x="961424" y="2147455"/>
            <a:ext cx="0" cy="4710545"/>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FDC7956E-2534-E8AB-D40A-80F3C51B3542}"/>
              </a:ext>
            </a:extLst>
          </p:cNvPr>
          <p:cNvPicPr>
            <a:picLocks noChangeAspect="1"/>
          </p:cNvPicPr>
          <p:nvPr userDrawn="1"/>
        </p:nvPicPr>
        <p:blipFill>
          <a:blip r:embed="rId7"/>
          <a:stretch>
            <a:fillRect/>
          </a:stretch>
        </p:blipFill>
        <p:spPr>
          <a:xfrm>
            <a:off x="1257535" y="1917951"/>
            <a:ext cx="2345544" cy="954557"/>
          </a:xfrm>
          <a:prstGeom prst="rect">
            <a:avLst/>
          </a:prstGeom>
        </p:spPr>
      </p:pic>
    </p:spTree>
    <p:extLst>
      <p:ext uri="{BB962C8B-B14F-4D97-AF65-F5344CB8AC3E}">
        <p14:creationId xmlns:p14="http://schemas.microsoft.com/office/powerpoint/2010/main" val="2469569547"/>
      </p:ext>
    </p:extLst>
  </p:cSld>
  <p:clrMap bg1="lt1" tx1="dk1" bg2="lt2" tx2="dk2" accent1="accent1" accent2="accent2" accent3="accent3" accent4="accent4" accent5="accent5" accent6="accent6" hlink="hlink" folHlink="folHlink"/>
  <p:sldLayoutIdLst>
    <p:sldLayoutId id="214748372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23" imgH="499" progId="TCLayout.ActiveDocument.1">
                  <p:embed/>
                </p:oleObj>
              </mc:Choice>
              <mc:Fallback>
                <p:oleObj name="think-cell Slide" r:id="rId4" imgW="523" imgH="499" progId="TCLayout.ActiveDocument.1">
                  <p:embed/>
                  <p:pic>
                    <p:nvPicPr>
                      <p:cNvPr id="2" name="Object 1"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lide Number Placeholder 8">
            <a:extLst>
              <a:ext uri="{FF2B5EF4-FFF2-40B4-BE49-F238E27FC236}">
                <a16:creationId xmlns:a16="http://schemas.microsoft.com/office/drawing/2014/main" id="{707E4153-1AA6-958D-2A00-6861539F5D6C}"/>
              </a:ext>
            </a:extLst>
          </p:cNvPr>
          <p:cNvSpPr txBox="1">
            <a:spLocks/>
          </p:cNvSpPr>
          <p:nvPr userDrawn="1"/>
        </p:nvSpPr>
        <p:spPr>
          <a:xfrm>
            <a:off x="124054" y="6473265"/>
            <a:ext cx="1237786"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54CDBFEC-D281-BE45-8B6B-3056C88C8B5C}" type="slidenum">
              <a:rPr lang="en-US" sz="1100" smtClean="0">
                <a:solidFill>
                  <a:srgbClr val="0070C0"/>
                </a:solidFill>
                <a:latin typeface="Arial" panose="020B0604020202020204" pitchFamily="34" charset="0"/>
                <a:cs typeface="Arial" panose="020B0604020202020204" pitchFamily="34" charset="0"/>
              </a:rPr>
              <a:pPr algn="l"/>
              <a:t>‹#›</a:t>
            </a:fld>
            <a:endParaRPr lang="en-US" sz="1100" dirty="0">
              <a:solidFill>
                <a:srgbClr val="0070C0"/>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7AE2307C-56E6-E931-A27C-7ADEFD33FB4E}"/>
              </a:ext>
            </a:extLst>
          </p:cNvPr>
          <p:cNvSpPr/>
          <p:nvPr userDrawn="1"/>
        </p:nvSpPr>
        <p:spPr>
          <a:xfrm>
            <a:off x="0" y="865854"/>
            <a:ext cx="12192000" cy="41607"/>
          </a:xfrm>
          <a:prstGeom prst="rect">
            <a:avLst/>
          </a:prstGeom>
          <a:solidFill>
            <a:srgbClr val="004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143313A-0CD8-BCE9-84ED-DE119C4CB782}"/>
              </a:ext>
            </a:extLst>
          </p:cNvPr>
          <p:cNvCxnSpPr>
            <a:cxnSpLocks/>
          </p:cNvCxnSpPr>
          <p:nvPr userDrawn="1"/>
        </p:nvCxnSpPr>
        <p:spPr>
          <a:xfrm flipH="1">
            <a:off x="0" y="6441021"/>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027AB5A-4394-FEC5-168F-9F71ECB1A3C4}"/>
              </a:ext>
            </a:extLst>
          </p:cNvPr>
          <p:cNvSpPr txBox="1"/>
          <p:nvPr userDrawn="1"/>
        </p:nvSpPr>
        <p:spPr>
          <a:xfrm>
            <a:off x="1526568" y="6503145"/>
            <a:ext cx="10569187" cy="523220"/>
          </a:xfrm>
          <a:prstGeom prst="rect">
            <a:avLst/>
          </a:prstGeom>
          <a:noFill/>
        </p:spPr>
        <p:txBody>
          <a:bodyPr wrap="square" rtlCol="0">
            <a:noAutofit/>
          </a:bodyPr>
          <a:lstStyle/>
          <a:p>
            <a:pPr algn="r"/>
            <a:r>
              <a:rPr lang="en-GB" sz="1100" dirty="0">
                <a:solidFill>
                  <a:srgbClr val="0070C0"/>
                </a:solidFill>
                <a:latin typeface="Univers LT Std 57 Cn" panose="020B0506020202050204" pitchFamily="34" charset="0"/>
              </a:rPr>
              <a:t>Value. </a:t>
            </a:r>
            <a:r>
              <a:rPr lang="en-GB" sz="1100" dirty="0">
                <a:latin typeface="Univers LT Std 57 Cn" panose="020B0506020202050204" pitchFamily="34" charset="0"/>
              </a:rPr>
              <a:t>Focus. </a:t>
            </a:r>
            <a:r>
              <a:rPr lang="en-GB" sz="1100" dirty="0">
                <a:solidFill>
                  <a:schemeClr val="accent6"/>
                </a:solidFill>
                <a:latin typeface="Univers LT Std 57 Cn" panose="020B0506020202050204" pitchFamily="34" charset="0"/>
              </a:rPr>
              <a:t>Growth.</a:t>
            </a:r>
          </a:p>
        </p:txBody>
      </p:sp>
      <p:pic>
        <p:nvPicPr>
          <p:cNvPr id="7" name="Picture 6">
            <a:extLst>
              <a:ext uri="{FF2B5EF4-FFF2-40B4-BE49-F238E27FC236}">
                <a16:creationId xmlns:a16="http://schemas.microsoft.com/office/drawing/2014/main" id="{B21B3250-75DF-36C2-56D8-8EA5403D7917}"/>
              </a:ext>
            </a:extLst>
          </p:cNvPr>
          <p:cNvPicPr>
            <a:picLocks noChangeAspect="1"/>
          </p:cNvPicPr>
          <p:nvPr userDrawn="1"/>
        </p:nvPicPr>
        <p:blipFill>
          <a:blip r:embed="rId6"/>
          <a:stretch>
            <a:fillRect/>
          </a:stretch>
        </p:blipFill>
        <p:spPr>
          <a:xfrm>
            <a:off x="11087066" y="120898"/>
            <a:ext cx="965629" cy="731185"/>
          </a:xfrm>
          <a:prstGeom prst="rect">
            <a:avLst/>
          </a:prstGeom>
        </p:spPr>
      </p:pic>
    </p:spTree>
    <p:extLst>
      <p:ext uri="{BB962C8B-B14F-4D97-AF65-F5344CB8AC3E}">
        <p14:creationId xmlns:p14="http://schemas.microsoft.com/office/powerpoint/2010/main" val="9499288"/>
      </p:ext>
    </p:extLst>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Picture 12" descr="A collage of different types of ships&#10;&#10;Description automatically generated">
            <a:extLst>
              <a:ext uri="{FF2B5EF4-FFF2-40B4-BE49-F238E27FC236}">
                <a16:creationId xmlns:a16="http://schemas.microsoft.com/office/drawing/2014/main" id="{0001B9A3-CB81-2F2E-98F3-766D1541A3F6}"/>
              </a:ext>
            </a:extLst>
          </p:cNvPr>
          <p:cNvPicPr>
            <a:picLocks noChangeAspect="1"/>
          </p:cNvPicPr>
          <p:nvPr userDrawn="1"/>
        </p:nvPicPr>
        <p:blipFill>
          <a:blip r:embed="rId6" cstate="print">
            <a:extLst>
              <a:ext uri="{28A0092B-C50C-407E-A947-70E740481C1C}">
                <a14:useLocalDpi xmlns:a14="http://schemas.microsoft.com/office/drawing/2010/main"/>
              </a:ext>
            </a:extLst>
          </a:blip>
          <a:srcRect l="14814" t="7922" r="1030" b="7922"/>
          <a:stretch/>
        </p:blipFill>
        <p:spPr>
          <a:xfrm>
            <a:off x="1" y="0"/>
            <a:ext cx="12191999" cy="6858000"/>
          </a:xfrm>
          <a:prstGeom prst="rect">
            <a:avLst/>
          </a:prstGeom>
        </p:spPr>
      </p:pic>
      <p:graphicFrame>
        <p:nvGraphicFramePr>
          <p:cNvPr id="2" name="Object 1" hidden="1"/>
          <p:cNvGraphicFramePr>
            <a:graphicFrameLocks noChangeAspect="1"/>
          </p:cNvGraphicFramePr>
          <p:nvPr userDrawn="1">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23" imgH="499" progId="TCLayout.ActiveDocument.1">
                  <p:embed/>
                </p:oleObj>
              </mc:Choice>
              <mc:Fallback>
                <p:oleObj name="think-cell Slide" r:id="rId7" imgW="523" imgH="499" progId="TCLayout.ActiveDocument.1">
                  <p:embed/>
                  <p:pic>
                    <p:nvPicPr>
                      <p:cNvPr id="2" name="Object 1"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E753576E-3A61-09CA-3EA5-BBC1A1488539}"/>
              </a:ext>
            </a:extLst>
          </p:cNvPr>
          <p:cNvSpPr txBox="1"/>
          <p:nvPr userDrawn="1"/>
        </p:nvSpPr>
        <p:spPr>
          <a:xfrm>
            <a:off x="586042" y="2294315"/>
            <a:ext cx="10569187" cy="523220"/>
          </a:xfrm>
          <a:prstGeom prst="rect">
            <a:avLst/>
          </a:prstGeom>
          <a:noFill/>
        </p:spPr>
        <p:txBody>
          <a:bodyPr wrap="square" rtlCol="0">
            <a:noAutofit/>
          </a:bodyPr>
          <a:lstStyle/>
          <a:p>
            <a:pPr algn="l"/>
            <a:r>
              <a:rPr lang="en-GB" sz="1600" dirty="0">
                <a:solidFill>
                  <a:srgbClr val="0070C0"/>
                </a:solidFill>
                <a:latin typeface="Univers LT Std 57 Cn" panose="020B0506020202050204" pitchFamily="34" charset="0"/>
              </a:rPr>
              <a:t>Value. </a:t>
            </a:r>
            <a:r>
              <a:rPr lang="en-GB" sz="1600" dirty="0">
                <a:latin typeface="Univers LT Std 57 Cn" panose="020B0506020202050204" pitchFamily="34" charset="0"/>
              </a:rPr>
              <a:t>Focus. </a:t>
            </a:r>
            <a:r>
              <a:rPr lang="en-GB" sz="1600" dirty="0">
                <a:solidFill>
                  <a:schemeClr val="accent6"/>
                </a:solidFill>
                <a:latin typeface="Univers LT Std 57 Cn" panose="020B0506020202050204" pitchFamily="34" charset="0"/>
              </a:rPr>
              <a:t>Growth.</a:t>
            </a:r>
          </a:p>
        </p:txBody>
      </p:sp>
      <p:pic>
        <p:nvPicPr>
          <p:cNvPr id="6" name="Picture 5">
            <a:extLst>
              <a:ext uri="{FF2B5EF4-FFF2-40B4-BE49-F238E27FC236}">
                <a16:creationId xmlns:a16="http://schemas.microsoft.com/office/drawing/2014/main" id="{A0694973-2B54-96F1-5F07-012351CE5D8C}"/>
              </a:ext>
            </a:extLst>
          </p:cNvPr>
          <p:cNvPicPr>
            <a:picLocks noChangeAspect="1"/>
          </p:cNvPicPr>
          <p:nvPr userDrawn="1"/>
        </p:nvPicPr>
        <p:blipFill>
          <a:blip r:embed="rId9"/>
          <a:stretch>
            <a:fillRect/>
          </a:stretch>
        </p:blipFill>
        <p:spPr>
          <a:xfrm>
            <a:off x="295564" y="894303"/>
            <a:ext cx="3445161" cy="1424027"/>
          </a:xfrm>
          <a:prstGeom prst="rect">
            <a:avLst/>
          </a:prstGeom>
        </p:spPr>
      </p:pic>
    </p:spTree>
    <p:extLst>
      <p:ext uri="{BB962C8B-B14F-4D97-AF65-F5344CB8AC3E}">
        <p14:creationId xmlns:p14="http://schemas.microsoft.com/office/powerpoint/2010/main" val="1855036557"/>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5.emf"/></Relationships>
</file>

<file path=ppt/slides/_rels/slide1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8.emf"/><Relationship Id="rId4" Type="http://schemas.openxmlformats.org/officeDocument/2006/relationships/image" Target="../media/image17.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0.emf"/></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1.emf"/></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2.emf"/></Relationships>
</file>

<file path=ppt/slides/_rels/slide1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38A13C-0889-6E75-0DD0-A2CD5E2225DD}"/>
              </a:ext>
            </a:extLst>
          </p:cNvPr>
          <p:cNvSpPr txBox="1"/>
          <p:nvPr/>
        </p:nvSpPr>
        <p:spPr>
          <a:xfrm>
            <a:off x="670959" y="3943417"/>
            <a:ext cx="5185060" cy="300138"/>
          </a:xfrm>
          <a:prstGeom prst="rect">
            <a:avLst/>
          </a:prstGeom>
          <a:noFill/>
          <a:effectLst/>
        </p:spPr>
        <p:txBody>
          <a:bodyPr wrap="square" lIns="0" rIns="0" rtlCol="0">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sv-SE" sz="1600" b="0" i="0" u="none" strike="noStrike" kern="1200" cap="none" spc="0" normalizeH="0" baseline="0" noProof="0" dirty="0">
                <a:ln>
                  <a:noFill/>
                </a:ln>
                <a:solidFill>
                  <a:srgbClr val="E7E6E6">
                    <a:lumMod val="50000"/>
                  </a:srgbClr>
                </a:solidFill>
                <a:effectLst/>
                <a:uLnTx/>
                <a:uFillTx/>
                <a:latin typeface="Univers 57 Condensed" pitchFamily="2" charset="0"/>
                <a:ea typeface="+mn-ea"/>
                <a:cs typeface="Calibri"/>
              </a:rPr>
              <a:t>GGSDR | 21 June 26</a:t>
            </a:r>
          </a:p>
        </p:txBody>
      </p:sp>
      <p:sp>
        <p:nvSpPr>
          <p:cNvPr id="3" name="TextBox 2">
            <a:extLst>
              <a:ext uri="{FF2B5EF4-FFF2-40B4-BE49-F238E27FC236}">
                <a16:creationId xmlns:a16="http://schemas.microsoft.com/office/drawing/2014/main" id="{2612D803-E5A4-ED19-EE20-6D979FB09F36}"/>
              </a:ext>
            </a:extLst>
          </p:cNvPr>
          <p:cNvSpPr txBox="1"/>
          <p:nvPr/>
        </p:nvSpPr>
        <p:spPr>
          <a:xfrm>
            <a:off x="683202" y="2905780"/>
            <a:ext cx="5610228" cy="523220"/>
          </a:xfrm>
          <a:prstGeom prst="rect">
            <a:avLst/>
          </a:prstGeom>
          <a:noFill/>
          <a:effectLst/>
        </p:spPr>
        <p:txBody>
          <a:bodyPr wrap="square" lIns="0" rIns="0" rtlCol="0">
            <a:noAutofit/>
          </a:bodyPr>
          <a:lstStyle/>
          <a:p>
            <a:r>
              <a:rPr lang="en-US" sz="4000" b="1" dirty="0">
                <a:solidFill>
                  <a:srgbClr val="0070C0"/>
                </a:solidFill>
                <a:latin typeface="Univers 67 Condensed" pitchFamily="2" charset="0"/>
                <a:cs typeface="Calibri"/>
              </a:rPr>
              <a:t>Weekly Activity Planning</a:t>
            </a:r>
          </a:p>
        </p:txBody>
      </p:sp>
    </p:spTree>
    <p:extLst>
      <p:ext uri="{BB962C8B-B14F-4D97-AF65-F5344CB8AC3E}">
        <p14:creationId xmlns:p14="http://schemas.microsoft.com/office/powerpoint/2010/main" val="1661693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401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0A00F-8157-EFF6-E6FC-22BED0A49DC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17FAD8-5109-874B-B24E-B5F1D10B6C3D}"/>
              </a:ext>
            </a:extLst>
          </p:cNvPr>
          <p:cNvSpPr txBox="1"/>
          <p:nvPr/>
        </p:nvSpPr>
        <p:spPr>
          <a:xfrm>
            <a:off x="0" y="204680"/>
            <a:ext cx="9277166" cy="523220"/>
          </a:xfrm>
          <a:prstGeom prst="rect">
            <a:avLst/>
          </a:prstGeom>
          <a:noFill/>
        </p:spPr>
        <p:txBody>
          <a:bodyPr wrap="square" rtlCol="0">
            <a:noAutofit/>
          </a:bodyPr>
          <a:lstStyle/>
          <a:p>
            <a:r>
              <a:rPr lang="da-DK" sz="2000" b="1" dirty="0">
                <a:solidFill>
                  <a:srgbClr val="004C8F"/>
                </a:solidFill>
                <a:latin typeface="Univers 67 Condensed" pitchFamily="2" charset="0"/>
                <a:cs typeface="Calibri"/>
              </a:rPr>
              <a:t>Achievement Highlight Activity (21-27 June)</a:t>
            </a:r>
          </a:p>
        </p:txBody>
      </p:sp>
      <p:graphicFrame>
        <p:nvGraphicFramePr>
          <p:cNvPr id="4" name="Table 3">
            <a:extLst>
              <a:ext uri="{FF2B5EF4-FFF2-40B4-BE49-F238E27FC236}">
                <a16:creationId xmlns:a16="http://schemas.microsoft.com/office/drawing/2014/main" id="{D8FCB3EB-25F1-1DB9-D366-AC65595C6A56}"/>
              </a:ext>
            </a:extLst>
          </p:cNvPr>
          <p:cNvGraphicFramePr>
            <a:graphicFrameLocks noGrp="1"/>
          </p:cNvGraphicFramePr>
          <p:nvPr>
            <p:extLst>
              <p:ext uri="{D42A27DB-BD31-4B8C-83A1-F6EECF244321}">
                <p14:modId xmlns:p14="http://schemas.microsoft.com/office/powerpoint/2010/main" val="3910851114"/>
              </p:ext>
            </p:extLst>
          </p:nvPr>
        </p:nvGraphicFramePr>
        <p:xfrm>
          <a:off x="101600" y="1038226"/>
          <a:ext cx="11681428" cy="4965971"/>
        </p:xfrm>
        <a:graphic>
          <a:graphicData uri="http://schemas.openxmlformats.org/drawingml/2006/table">
            <a:tbl>
              <a:tblPr firstRow="1" firstCol="1" bandRow="1">
                <a:tableStyleId>{5C22544A-7EE6-4342-B048-85BDC9FD1C3A}</a:tableStyleId>
              </a:tblPr>
              <a:tblGrid>
                <a:gridCol w="542387">
                  <a:extLst>
                    <a:ext uri="{9D8B030D-6E8A-4147-A177-3AD203B41FA5}">
                      <a16:colId xmlns:a16="http://schemas.microsoft.com/office/drawing/2014/main" val="3971706225"/>
                    </a:ext>
                  </a:extLst>
                </a:gridCol>
                <a:gridCol w="5575838">
                  <a:extLst>
                    <a:ext uri="{9D8B030D-6E8A-4147-A177-3AD203B41FA5}">
                      <a16:colId xmlns:a16="http://schemas.microsoft.com/office/drawing/2014/main" val="613677343"/>
                    </a:ext>
                  </a:extLst>
                </a:gridCol>
                <a:gridCol w="1280570">
                  <a:extLst>
                    <a:ext uri="{9D8B030D-6E8A-4147-A177-3AD203B41FA5}">
                      <a16:colId xmlns:a16="http://schemas.microsoft.com/office/drawing/2014/main" val="2696464060"/>
                    </a:ext>
                  </a:extLst>
                </a:gridCol>
                <a:gridCol w="1354238">
                  <a:extLst>
                    <a:ext uri="{9D8B030D-6E8A-4147-A177-3AD203B41FA5}">
                      <a16:colId xmlns:a16="http://schemas.microsoft.com/office/drawing/2014/main" val="562786122"/>
                    </a:ext>
                  </a:extLst>
                </a:gridCol>
                <a:gridCol w="949124">
                  <a:extLst>
                    <a:ext uri="{9D8B030D-6E8A-4147-A177-3AD203B41FA5}">
                      <a16:colId xmlns:a16="http://schemas.microsoft.com/office/drawing/2014/main" val="1170593550"/>
                    </a:ext>
                  </a:extLst>
                </a:gridCol>
                <a:gridCol w="1015147">
                  <a:extLst>
                    <a:ext uri="{9D8B030D-6E8A-4147-A177-3AD203B41FA5}">
                      <a16:colId xmlns:a16="http://schemas.microsoft.com/office/drawing/2014/main" val="1025145664"/>
                    </a:ext>
                  </a:extLst>
                </a:gridCol>
                <a:gridCol w="964124">
                  <a:extLst>
                    <a:ext uri="{9D8B030D-6E8A-4147-A177-3AD203B41FA5}">
                      <a16:colId xmlns:a16="http://schemas.microsoft.com/office/drawing/2014/main" val="2508782320"/>
                    </a:ext>
                  </a:extLst>
                </a:gridCol>
              </a:tblGrid>
              <a:tr h="271171">
                <a:tc>
                  <a:txBody>
                    <a:bodyPr/>
                    <a:lstStyle/>
                    <a:p>
                      <a:pPr marL="0" marR="0" algn="ctr">
                        <a:lnSpc>
                          <a:spcPct val="115000"/>
                        </a:lnSpc>
                        <a:spcAft>
                          <a:spcPts val="1000"/>
                        </a:spcAft>
                        <a:buNone/>
                      </a:pPr>
                      <a:r>
                        <a:rPr lang="en-US" sz="1300" dirty="0">
                          <a:effectLst/>
                        </a:rPr>
                        <a:t>NO</a:t>
                      </a:r>
                      <a:endParaRPr lang="en-US" sz="1300" dirty="0">
                        <a:effectLst/>
                        <a:latin typeface="+mn-lt"/>
                        <a:ea typeface="Calibri" panose="020F0502020204030204" pitchFamily="34" charset="0"/>
                        <a:cs typeface="Cordia New" panose="020B0304020202020204" pitchFamily="34" charset="-34"/>
                      </a:endParaRPr>
                    </a:p>
                  </a:txBody>
                  <a:tcPr marL="41972" marR="41972" marT="0" marB="0" anchor="ctr"/>
                </a:tc>
                <a:tc>
                  <a:txBody>
                    <a:bodyPr/>
                    <a:lstStyle/>
                    <a:p>
                      <a:pPr marL="0" marR="0" algn="ctr">
                        <a:lnSpc>
                          <a:spcPct val="115000"/>
                        </a:lnSpc>
                        <a:spcAft>
                          <a:spcPts val="1000"/>
                        </a:spcAft>
                        <a:buNone/>
                      </a:pPr>
                      <a:r>
                        <a:rPr lang="en-US" sz="1300" dirty="0">
                          <a:effectLst/>
                        </a:rPr>
                        <a:t>HIGHLIGHT ACTIVITY</a:t>
                      </a:r>
                      <a:endParaRPr lang="en-US" sz="1300" dirty="0">
                        <a:effectLst/>
                        <a:latin typeface="+mn-lt"/>
                        <a:ea typeface="Calibri" panose="020F0502020204030204" pitchFamily="34" charset="0"/>
                        <a:cs typeface="Cordia New" panose="020B0304020202020204" pitchFamily="34" charset="-34"/>
                      </a:endParaRPr>
                    </a:p>
                  </a:txBody>
                  <a:tcPr marL="41972" marR="41972" marT="0" marB="0" anchor="ctr"/>
                </a:tc>
                <a:tc>
                  <a:txBody>
                    <a:bodyPr/>
                    <a:lstStyle/>
                    <a:p>
                      <a:pPr marL="0" marR="0" algn="ctr">
                        <a:lnSpc>
                          <a:spcPct val="115000"/>
                        </a:lnSpc>
                        <a:spcAft>
                          <a:spcPts val="1000"/>
                        </a:spcAft>
                        <a:buNone/>
                      </a:pPr>
                      <a:r>
                        <a:rPr lang="en-US" sz="1300">
                          <a:effectLst/>
                        </a:rPr>
                        <a:t>AREA</a:t>
                      </a:r>
                      <a:endParaRPr lang="en-US" sz="1300">
                        <a:effectLst/>
                        <a:latin typeface="+mn-lt"/>
                        <a:ea typeface="Calibri" panose="020F0502020204030204" pitchFamily="34" charset="0"/>
                        <a:cs typeface="Cordia New" panose="020B0304020202020204" pitchFamily="34" charset="-34"/>
                      </a:endParaRPr>
                    </a:p>
                  </a:txBody>
                  <a:tcPr marL="41972" marR="41972" marT="0" marB="0" anchor="ctr"/>
                </a:tc>
                <a:tc>
                  <a:txBody>
                    <a:bodyPr/>
                    <a:lstStyle/>
                    <a:p>
                      <a:pPr marL="0" marR="0" algn="ctr">
                        <a:lnSpc>
                          <a:spcPct val="115000"/>
                        </a:lnSpc>
                        <a:spcAft>
                          <a:spcPts val="1000"/>
                        </a:spcAft>
                        <a:buNone/>
                      </a:pPr>
                      <a:r>
                        <a:rPr lang="en-US" sz="1300" dirty="0">
                          <a:effectLst/>
                        </a:rPr>
                        <a:t>FUNCT.</a:t>
                      </a:r>
                      <a:endParaRPr lang="en-US" sz="1300" dirty="0">
                        <a:effectLst/>
                        <a:latin typeface="+mn-lt"/>
                        <a:ea typeface="Calibri" panose="020F0502020204030204" pitchFamily="34" charset="0"/>
                        <a:cs typeface="Cordia New" panose="020B0304020202020204" pitchFamily="34" charset="-34"/>
                      </a:endParaRPr>
                    </a:p>
                  </a:txBody>
                  <a:tcPr marL="41972" marR="41972" marT="0" marB="0" anchor="ctr"/>
                </a:tc>
                <a:tc>
                  <a:txBody>
                    <a:bodyPr/>
                    <a:lstStyle/>
                    <a:p>
                      <a:pPr marL="0" marR="0" algn="ctr">
                        <a:lnSpc>
                          <a:spcPct val="115000"/>
                        </a:lnSpc>
                        <a:spcAft>
                          <a:spcPts val="1000"/>
                        </a:spcAft>
                        <a:buNone/>
                      </a:pPr>
                      <a:r>
                        <a:rPr lang="en-US" sz="1300" dirty="0">
                          <a:effectLst/>
                        </a:rPr>
                        <a:t>PLAN START</a:t>
                      </a:r>
                      <a:endParaRPr lang="en-US" sz="1300" dirty="0">
                        <a:effectLst/>
                        <a:latin typeface="+mn-lt"/>
                        <a:ea typeface="Calibri" panose="020F0502020204030204" pitchFamily="34" charset="0"/>
                        <a:cs typeface="Cordia New" panose="020B0304020202020204" pitchFamily="34" charset="-34"/>
                      </a:endParaRPr>
                    </a:p>
                  </a:txBody>
                  <a:tcPr marL="41972" marR="41972" marT="0" marB="0" anchor="ctr"/>
                </a:tc>
                <a:tc>
                  <a:txBody>
                    <a:bodyPr/>
                    <a:lstStyle/>
                    <a:p>
                      <a:pPr marL="0" marR="0" algn="ctr">
                        <a:lnSpc>
                          <a:spcPct val="115000"/>
                        </a:lnSpc>
                        <a:spcAft>
                          <a:spcPts val="1000"/>
                        </a:spcAft>
                        <a:buNone/>
                      </a:pPr>
                      <a:r>
                        <a:rPr lang="en-US" sz="1300" dirty="0">
                          <a:effectLst/>
                        </a:rPr>
                        <a:t>PLAN FINISH</a:t>
                      </a:r>
                      <a:endParaRPr lang="en-US" sz="1300" dirty="0">
                        <a:effectLst/>
                        <a:latin typeface="+mn-lt"/>
                        <a:ea typeface="Calibri" panose="020F0502020204030204" pitchFamily="34" charset="0"/>
                        <a:cs typeface="Cordia New" panose="020B0304020202020204" pitchFamily="34" charset="-34"/>
                      </a:endParaRPr>
                    </a:p>
                  </a:txBody>
                  <a:tcPr marL="41972" marR="41972" marT="0" marB="0" anchor="ctr"/>
                </a:tc>
                <a:tc>
                  <a:txBody>
                    <a:bodyPr/>
                    <a:lstStyle/>
                    <a:p>
                      <a:pPr marL="0" marR="0" algn="ctr">
                        <a:lnSpc>
                          <a:spcPct val="115000"/>
                        </a:lnSpc>
                        <a:spcAft>
                          <a:spcPts val="1000"/>
                        </a:spcAft>
                        <a:buNone/>
                      </a:pPr>
                      <a:r>
                        <a:rPr lang="en-US" sz="1300" dirty="0">
                          <a:effectLst/>
                        </a:rPr>
                        <a:t>Remark</a:t>
                      </a:r>
                      <a:endParaRPr lang="en-US" sz="1300" dirty="0">
                        <a:effectLst/>
                        <a:latin typeface="+mn-lt"/>
                        <a:ea typeface="Calibri" panose="020F0502020204030204" pitchFamily="34" charset="0"/>
                        <a:cs typeface="Cordia New" panose="020B0304020202020204" pitchFamily="34" charset="-34"/>
                      </a:endParaRPr>
                    </a:p>
                  </a:txBody>
                  <a:tcPr marL="41972" marR="41972" marT="0" marB="0" anchor="ctr"/>
                </a:tc>
                <a:extLst>
                  <a:ext uri="{0D108BD9-81ED-4DB2-BD59-A6C34878D82A}">
                    <a16:rowId xmlns:a16="http://schemas.microsoft.com/office/drawing/2014/main" val="3437152421"/>
                  </a:ext>
                </a:extLst>
              </a:tr>
              <a:tr h="126759">
                <a:tc>
                  <a:txBody>
                    <a:bodyPr/>
                    <a:lstStyle/>
                    <a:p>
                      <a:pPr algn="ctr" fontAlgn="b">
                        <a:buNone/>
                      </a:pPr>
                      <a:r>
                        <a:rPr lang="en-US" sz="1200" u="none" strike="noStrike" dirty="0">
                          <a:effectLst/>
                        </a:rPr>
                        <a:t>1</a:t>
                      </a:r>
                      <a:endParaRPr lang="en-US" sz="1200" b="0" i="0" u="none" strike="noStrike" dirty="0">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dirty="0">
                          <a:effectLst/>
                        </a:rPr>
                        <a:t>Sambar Surface Facility Construction </a:t>
                      </a:r>
                      <a:br>
                        <a:rPr lang="en-US" sz="1200" u="none" strike="noStrike" dirty="0">
                          <a:effectLst/>
                        </a:rPr>
                      </a:br>
                      <a:r>
                        <a:rPr lang="en-US" sz="1200" u="none" strike="noStrike" dirty="0">
                          <a:effectLst/>
                        </a:rPr>
                        <a:t>(Hauling, Stringing, Welding, NDT, FJC, Lowering &amp; Backfill)</a:t>
                      </a:r>
                      <a:endParaRPr lang="en-US" sz="1200" b="0" i="0" u="none" strike="noStrike" dirty="0">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Dayung</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IDPRJ</a:t>
                      </a:r>
                      <a:endParaRPr lang="en-US" sz="1200" b="0" i="0" u="none" strike="noStrike">
                        <a:solidFill>
                          <a:srgbClr val="0000CC"/>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a:solidFill>
                            <a:schemeClr val="tx1"/>
                          </a:solidFill>
                          <a:effectLst/>
                          <a:latin typeface="Aptos Narrow" panose="020B0004020202020204" pitchFamily="34" charset="0"/>
                        </a:rPr>
                        <a:t>1-Jun</a:t>
                      </a:r>
                    </a:p>
                  </a:txBody>
                  <a:tcPr marL="7620" marR="7620" marT="7620" marB="0" anchor="ctr"/>
                </a:tc>
                <a:tc>
                  <a:txBody>
                    <a:bodyPr/>
                    <a:lstStyle/>
                    <a:p>
                      <a:pPr algn="ctr" fontAlgn="ctr">
                        <a:buNone/>
                      </a:pPr>
                      <a:r>
                        <a:rPr lang="en-US" sz="1200" b="0" i="0" u="none" strike="noStrike">
                          <a:solidFill>
                            <a:schemeClr val="tx1"/>
                          </a:solidFill>
                          <a:effectLst/>
                          <a:latin typeface="Aptos Narrow" panose="020B0004020202020204" pitchFamily="34" charset="0"/>
                        </a:rPr>
                        <a:t>30-Jun</a:t>
                      </a:r>
                    </a:p>
                  </a:txBody>
                  <a:tcPr marL="7620" marR="7620" marT="7620" marB="0" anchor="ctr"/>
                </a:tc>
                <a:tc>
                  <a:txBody>
                    <a:bodyPr/>
                    <a:lstStyle/>
                    <a:p>
                      <a:pPr algn="ctr" fontAlgn="b">
                        <a:buNone/>
                      </a:pPr>
                      <a:r>
                        <a:rPr lang="en-US" sz="1200" b="0" i="0" u="none" strike="noStrike" dirty="0">
                          <a:solidFill>
                            <a:schemeClr val="tx1"/>
                          </a:solidFill>
                          <a:effectLst/>
                          <a:latin typeface="Aptos Narrow" panose="020B0004020202020204" pitchFamily="34" charset="0"/>
                        </a:rPr>
                        <a:t>Continue</a:t>
                      </a:r>
                    </a:p>
                  </a:txBody>
                  <a:tcPr marL="7620" marR="7620" marT="7620" marB="0" anchor="b"/>
                </a:tc>
                <a:extLst>
                  <a:ext uri="{0D108BD9-81ED-4DB2-BD59-A6C34878D82A}">
                    <a16:rowId xmlns:a16="http://schemas.microsoft.com/office/drawing/2014/main" val="2538297749"/>
                  </a:ext>
                </a:extLst>
              </a:tr>
              <a:tr h="0">
                <a:tc>
                  <a:txBody>
                    <a:bodyPr/>
                    <a:lstStyle/>
                    <a:p>
                      <a:pPr algn="ctr" fontAlgn="b">
                        <a:buNone/>
                      </a:pPr>
                      <a:r>
                        <a:rPr lang="en-US" sz="1200" u="none" strike="noStrike">
                          <a:effectLst/>
                        </a:rPr>
                        <a:t>2</a:t>
                      </a:r>
                      <a:endParaRPr lang="en-US" sz="1200" b="0" i="0" u="none" strike="noStrike">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dirty="0">
                          <a:effectLst/>
                        </a:rPr>
                        <a:t>Sambar HDD at KPD 19+800 -19+300 </a:t>
                      </a:r>
                      <a:endParaRPr lang="en-US" sz="1200" b="0" i="0" u="none" strike="noStrike" dirty="0">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Dayung</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IDPRJ</a:t>
                      </a:r>
                      <a:endParaRPr lang="en-US" sz="1200" b="0" i="0" u="none" strike="noStrike">
                        <a:solidFill>
                          <a:srgbClr val="0000CC"/>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a:solidFill>
                            <a:schemeClr val="tx1"/>
                          </a:solidFill>
                          <a:effectLst/>
                          <a:latin typeface="Aptos Narrow" panose="020B0004020202020204" pitchFamily="34" charset="0"/>
                        </a:rPr>
                        <a:t>1-Jun</a:t>
                      </a:r>
                    </a:p>
                  </a:txBody>
                  <a:tcPr marL="7620" marR="7620" marT="7620" marB="0" anchor="ctr"/>
                </a:tc>
                <a:tc>
                  <a:txBody>
                    <a:bodyPr/>
                    <a:lstStyle/>
                    <a:p>
                      <a:pPr algn="ctr" fontAlgn="ctr">
                        <a:buNone/>
                      </a:pPr>
                      <a:r>
                        <a:rPr lang="en-US" sz="1200" b="0" i="0" u="none" strike="noStrike">
                          <a:solidFill>
                            <a:schemeClr val="tx1"/>
                          </a:solidFill>
                          <a:effectLst/>
                          <a:latin typeface="Aptos Narrow" panose="020B0004020202020204" pitchFamily="34" charset="0"/>
                        </a:rPr>
                        <a:t>30-Jun</a:t>
                      </a:r>
                    </a:p>
                  </a:txBody>
                  <a:tcPr marL="7620" marR="7620" marT="762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Narrow" panose="020B0004020202020204" pitchFamily="34" charset="0"/>
                          <a:ea typeface="+mn-ea"/>
                          <a:cs typeface="+mn-cs"/>
                        </a:rPr>
                        <a:t>Continue</a:t>
                      </a:r>
                      <a:endParaRPr kumimoji="0" lang="en-US" sz="12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txBody>
                  <a:tcPr marL="7620" marR="7620" marT="7620" marB="0" anchor="b"/>
                </a:tc>
                <a:extLst>
                  <a:ext uri="{0D108BD9-81ED-4DB2-BD59-A6C34878D82A}">
                    <a16:rowId xmlns:a16="http://schemas.microsoft.com/office/drawing/2014/main" val="3004397957"/>
                  </a:ext>
                </a:extLst>
              </a:tr>
              <a:tr h="130491">
                <a:tc>
                  <a:txBody>
                    <a:bodyPr/>
                    <a:lstStyle/>
                    <a:p>
                      <a:pPr algn="ctr" fontAlgn="b">
                        <a:buNone/>
                      </a:pPr>
                      <a:r>
                        <a:rPr lang="en-US" sz="1200" u="none" strike="noStrike" dirty="0">
                          <a:effectLst/>
                        </a:rPr>
                        <a:t>3</a:t>
                      </a:r>
                      <a:endParaRPr lang="en-US" sz="1200" b="0" i="0" u="none" strike="noStrike" dirty="0">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dirty="0">
                          <a:effectLst/>
                        </a:rPr>
                        <a:t>Sambar Install cable FO and Cathodic Protection </a:t>
                      </a:r>
                      <a:endParaRPr lang="en-US" sz="1200" b="0" i="0" u="none" strike="noStrike" dirty="0">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Dayung</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IDPRJ</a:t>
                      </a:r>
                      <a:endParaRPr lang="en-US" sz="1200" b="0" i="0" u="none" strike="noStrike">
                        <a:solidFill>
                          <a:srgbClr val="0000CC"/>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a:solidFill>
                            <a:schemeClr val="tx1"/>
                          </a:solidFill>
                          <a:effectLst/>
                          <a:latin typeface="Aptos Narrow" panose="020B0004020202020204" pitchFamily="34" charset="0"/>
                        </a:rPr>
                        <a:t>1-Jun</a:t>
                      </a:r>
                    </a:p>
                  </a:txBody>
                  <a:tcPr marL="7620" marR="7620" marT="7620" marB="0" anchor="ctr"/>
                </a:tc>
                <a:tc>
                  <a:txBody>
                    <a:bodyPr/>
                    <a:lstStyle/>
                    <a:p>
                      <a:pPr algn="ctr" fontAlgn="ctr">
                        <a:buNone/>
                      </a:pPr>
                      <a:r>
                        <a:rPr lang="en-US" sz="1200" b="0" i="0" u="none" strike="noStrike">
                          <a:solidFill>
                            <a:schemeClr val="tx1"/>
                          </a:solidFill>
                          <a:effectLst/>
                          <a:latin typeface="Aptos Narrow" panose="020B0004020202020204" pitchFamily="34" charset="0"/>
                        </a:rPr>
                        <a:t>30-Jun</a:t>
                      </a:r>
                    </a:p>
                  </a:txBody>
                  <a:tcPr marL="7620" marR="7620" marT="762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Narrow" panose="020B0004020202020204" pitchFamily="34" charset="0"/>
                          <a:ea typeface="+mn-ea"/>
                          <a:cs typeface="+mn-cs"/>
                        </a:rPr>
                        <a:t>Continue</a:t>
                      </a:r>
                      <a:endParaRPr kumimoji="0" lang="en-US" sz="12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txBody>
                  <a:tcPr marL="7620" marR="7620" marT="7620" marB="0" anchor="b"/>
                </a:tc>
                <a:extLst>
                  <a:ext uri="{0D108BD9-81ED-4DB2-BD59-A6C34878D82A}">
                    <a16:rowId xmlns:a16="http://schemas.microsoft.com/office/drawing/2014/main" val="1275726859"/>
                  </a:ext>
                </a:extLst>
              </a:tr>
              <a:tr h="130491">
                <a:tc>
                  <a:txBody>
                    <a:bodyPr/>
                    <a:lstStyle/>
                    <a:p>
                      <a:pPr algn="ctr" fontAlgn="b">
                        <a:buNone/>
                      </a:pPr>
                      <a:r>
                        <a:rPr lang="en-US" sz="1200" u="none" strike="noStrike">
                          <a:effectLst/>
                        </a:rPr>
                        <a:t>4</a:t>
                      </a:r>
                      <a:endParaRPr lang="en-US" sz="1200" b="0" i="0" u="none" strike="noStrike">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dirty="0">
                          <a:effectLst/>
                        </a:rPr>
                        <a:t>GTC Reactivation (Mobilization tools, Site preparation : Cleaning GTC TR3)</a:t>
                      </a:r>
                      <a:endParaRPr lang="en-US" sz="1200" b="0" i="0" u="none" strike="noStrike" dirty="0">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Dayung</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IDPRJ</a:t>
                      </a:r>
                      <a:endParaRPr lang="en-US" sz="1200" b="0" i="0" u="none" strike="noStrike">
                        <a:solidFill>
                          <a:srgbClr val="0000CC"/>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a:solidFill>
                            <a:schemeClr val="tx1"/>
                          </a:solidFill>
                          <a:effectLst/>
                          <a:latin typeface="Aptos Narrow" panose="020B0004020202020204" pitchFamily="34" charset="0"/>
                        </a:rPr>
                        <a:t>1-Jun</a:t>
                      </a:r>
                    </a:p>
                  </a:txBody>
                  <a:tcPr marL="7620" marR="7620" marT="7620" marB="0" anchor="ctr"/>
                </a:tc>
                <a:tc>
                  <a:txBody>
                    <a:bodyPr/>
                    <a:lstStyle/>
                    <a:p>
                      <a:pPr algn="ctr" fontAlgn="ctr">
                        <a:buNone/>
                      </a:pPr>
                      <a:r>
                        <a:rPr lang="en-US" sz="1200" b="0" i="0" u="none" strike="noStrike">
                          <a:solidFill>
                            <a:schemeClr val="tx1"/>
                          </a:solidFill>
                          <a:effectLst/>
                          <a:latin typeface="Aptos Narrow" panose="020B0004020202020204" pitchFamily="34" charset="0"/>
                        </a:rPr>
                        <a:t>30-Jun</a:t>
                      </a:r>
                    </a:p>
                  </a:txBody>
                  <a:tcPr marL="7620" marR="7620" marT="762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Narrow" panose="020B0004020202020204" pitchFamily="34" charset="0"/>
                          <a:ea typeface="+mn-ea"/>
                          <a:cs typeface="+mn-cs"/>
                        </a:rPr>
                        <a:t>Continue</a:t>
                      </a:r>
                      <a:endParaRPr kumimoji="0" lang="en-US" sz="12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txBody>
                  <a:tcPr marL="7620" marR="7620" marT="7620" marB="0" anchor="ctr"/>
                </a:tc>
                <a:extLst>
                  <a:ext uri="{0D108BD9-81ED-4DB2-BD59-A6C34878D82A}">
                    <a16:rowId xmlns:a16="http://schemas.microsoft.com/office/drawing/2014/main" val="3741695180"/>
                  </a:ext>
                </a:extLst>
              </a:tr>
              <a:tr h="274599">
                <a:tc>
                  <a:txBody>
                    <a:bodyPr/>
                    <a:lstStyle/>
                    <a:p>
                      <a:pPr algn="ctr" fontAlgn="b">
                        <a:buNone/>
                      </a:pPr>
                      <a:r>
                        <a:rPr lang="en-US" sz="1200" u="none" strike="noStrike" dirty="0">
                          <a:effectLst/>
                        </a:rPr>
                        <a:t>5</a:t>
                      </a:r>
                      <a:endParaRPr lang="en-US" sz="1200" b="0" i="0" u="none" strike="noStrike" dirty="0">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dirty="0">
                          <a:effectLst/>
                        </a:rPr>
                        <a:t>Foundation Work for Inlet Cooler &amp; Scrubber </a:t>
                      </a:r>
                    </a:p>
                    <a:p>
                      <a:pPr algn="l" fontAlgn="ctr">
                        <a:buNone/>
                      </a:pPr>
                      <a:r>
                        <a:rPr lang="en-US" sz="1200" u="none" strike="noStrike" dirty="0">
                          <a:effectLst/>
                        </a:rPr>
                        <a:t>(Excavation, install rebar&amp; Formwork, pouring Concrete) at Dayung plant (Project Sambar)</a:t>
                      </a:r>
                      <a:endParaRPr lang="en-US" sz="1200" b="0" i="0" u="none" strike="noStrike" dirty="0">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dirty="0" err="1">
                          <a:effectLst/>
                        </a:rPr>
                        <a:t>Dayung</a:t>
                      </a:r>
                      <a:endParaRPr lang="en-US" sz="1200" b="0" i="0" u="none" strike="noStrike" dirty="0">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IDPRJ</a:t>
                      </a:r>
                      <a:endParaRPr lang="en-US" sz="1200" b="0" i="0" u="none" strike="noStrike">
                        <a:solidFill>
                          <a:srgbClr val="0000CC"/>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a:solidFill>
                            <a:schemeClr val="tx1"/>
                          </a:solidFill>
                          <a:effectLst/>
                          <a:latin typeface="Aptos Narrow" panose="020B0004020202020204" pitchFamily="34" charset="0"/>
                        </a:rPr>
                        <a:t>1-Jun</a:t>
                      </a:r>
                    </a:p>
                  </a:txBody>
                  <a:tcPr marL="7620" marR="7620" marT="7620" marB="0" anchor="ctr"/>
                </a:tc>
                <a:tc>
                  <a:txBody>
                    <a:bodyPr/>
                    <a:lstStyle/>
                    <a:p>
                      <a:pPr algn="ctr" fontAlgn="ctr">
                        <a:buNone/>
                      </a:pPr>
                      <a:r>
                        <a:rPr lang="en-US" sz="1200" b="0" i="0" u="none" strike="noStrike">
                          <a:solidFill>
                            <a:schemeClr val="tx1"/>
                          </a:solidFill>
                          <a:effectLst/>
                          <a:latin typeface="Aptos Narrow" panose="020B0004020202020204" pitchFamily="34" charset="0"/>
                        </a:rPr>
                        <a:t>30-Jun</a:t>
                      </a:r>
                    </a:p>
                  </a:txBody>
                  <a:tcPr marL="7620" marR="7620" marT="762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Narrow" panose="020B0004020202020204" pitchFamily="34" charset="0"/>
                          <a:ea typeface="+mn-ea"/>
                          <a:cs typeface="+mn-cs"/>
                        </a:rPr>
                        <a:t>Continue</a:t>
                      </a:r>
                      <a:endParaRPr kumimoji="0" lang="en-US" sz="12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txBody>
                  <a:tcPr marL="7620" marR="7620" marT="7620" marB="0" anchor="ctr"/>
                </a:tc>
                <a:extLst>
                  <a:ext uri="{0D108BD9-81ED-4DB2-BD59-A6C34878D82A}">
                    <a16:rowId xmlns:a16="http://schemas.microsoft.com/office/drawing/2014/main" val="2891278781"/>
                  </a:ext>
                </a:extLst>
              </a:tr>
              <a:tr h="128083">
                <a:tc>
                  <a:txBody>
                    <a:bodyPr/>
                    <a:lstStyle/>
                    <a:p>
                      <a:pPr algn="ctr" fontAlgn="b">
                        <a:buNone/>
                      </a:pPr>
                      <a:r>
                        <a:rPr lang="en-US" sz="1200" u="none" strike="noStrike" dirty="0">
                          <a:effectLst/>
                        </a:rPr>
                        <a:t>6</a:t>
                      </a:r>
                      <a:endParaRPr lang="en-US" sz="1200" b="0" i="0" u="none" strike="noStrike" dirty="0">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a:effectLst/>
                        </a:rPr>
                        <a:t>Install new container for Company Base Camp, Facilties Building, modification site office</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dirty="0" err="1">
                          <a:effectLst/>
                        </a:rPr>
                        <a:t>Dayung</a:t>
                      </a:r>
                      <a:endParaRPr lang="en-US" sz="1200" b="0" i="0" u="none" strike="noStrike" dirty="0">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IDPRJ</a:t>
                      </a:r>
                      <a:endParaRPr lang="en-US" sz="1200" b="0" i="0" u="none" strike="noStrike">
                        <a:solidFill>
                          <a:srgbClr val="0000CC"/>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a:solidFill>
                            <a:schemeClr val="tx1"/>
                          </a:solidFill>
                          <a:effectLst/>
                          <a:latin typeface="Aptos Narrow" panose="020B0004020202020204" pitchFamily="34" charset="0"/>
                        </a:rPr>
                        <a:t>1-Jun</a:t>
                      </a:r>
                    </a:p>
                  </a:txBody>
                  <a:tcPr marL="7620" marR="7620" marT="7620" marB="0" anchor="ctr"/>
                </a:tc>
                <a:tc>
                  <a:txBody>
                    <a:bodyPr/>
                    <a:lstStyle/>
                    <a:p>
                      <a:pPr algn="ctr" fontAlgn="ctr">
                        <a:buNone/>
                      </a:pPr>
                      <a:r>
                        <a:rPr lang="en-US" sz="1200" b="0" i="0" u="none" strike="noStrike">
                          <a:solidFill>
                            <a:schemeClr val="tx1"/>
                          </a:solidFill>
                          <a:effectLst/>
                          <a:latin typeface="Aptos Narrow" panose="020B0004020202020204" pitchFamily="34" charset="0"/>
                        </a:rPr>
                        <a:t>30-Jun</a:t>
                      </a:r>
                    </a:p>
                  </a:txBody>
                  <a:tcPr marL="7620" marR="7620" marT="762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Narrow" panose="020B0004020202020204" pitchFamily="34" charset="0"/>
                          <a:ea typeface="+mn-ea"/>
                          <a:cs typeface="+mn-cs"/>
                        </a:rPr>
                        <a:t>Continue</a:t>
                      </a:r>
                      <a:endParaRPr kumimoji="0" lang="en-US" sz="12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txBody>
                  <a:tcPr marL="7620" marR="7620" marT="7620" marB="0" anchor="ctr"/>
                </a:tc>
                <a:extLst>
                  <a:ext uri="{0D108BD9-81ED-4DB2-BD59-A6C34878D82A}">
                    <a16:rowId xmlns:a16="http://schemas.microsoft.com/office/drawing/2014/main" val="1388615969"/>
                  </a:ext>
                </a:extLst>
              </a:tr>
              <a:tr h="128083">
                <a:tc>
                  <a:txBody>
                    <a:bodyPr/>
                    <a:lstStyle/>
                    <a:p>
                      <a:pPr algn="ctr" fontAlgn="b">
                        <a:buNone/>
                      </a:pPr>
                      <a:r>
                        <a:rPr lang="en-US" sz="1200" u="none" strike="noStrike">
                          <a:effectLst/>
                        </a:rPr>
                        <a:t>7</a:t>
                      </a:r>
                      <a:endParaRPr lang="en-US" sz="1200" b="0" i="0" u="none" strike="noStrike">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dirty="0" err="1">
                          <a:effectLst/>
                        </a:rPr>
                        <a:t>Rebonjaro</a:t>
                      </a:r>
                      <a:r>
                        <a:rPr lang="en-US" sz="1200" u="none" strike="noStrike" dirty="0">
                          <a:effectLst/>
                        </a:rPr>
                        <a:t> Preconstruction (Earthwork for </a:t>
                      </a:r>
                      <a:r>
                        <a:rPr lang="en-US" sz="1200" u="none" strike="noStrike" dirty="0" err="1">
                          <a:effectLst/>
                        </a:rPr>
                        <a:t>Rebonjaro</a:t>
                      </a:r>
                      <a:r>
                        <a:rPr lang="en-US" sz="1200" u="none" strike="noStrike" dirty="0">
                          <a:effectLst/>
                        </a:rPr>
                        <a:t> Pipeline ROW)</a:t>
                      </a:r>
                      <a:endParaRPr lang="en-US" sz="1200" b="0" i="0" u="none" strike="noStrike" dirty="0">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Sumpal</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IDPRJ</a:t>
                      </a:r>
                      <a:endParaRPr lang="en-US" sz="1200" b="0" i="0" u="none" strike="noStrike">
                        <a:solidFill>
                          <a:srgbClr val="0000CC"/>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a:solidFill>
                            <a:schemeClr val="tx1"/>
                          </a:solidFill>
                          <a:effectLst/>
                          <a:latin typeface="Aptos Narrow" panose="020B0004020202020204" pitchFamily="34" charset="0"/>
                        </a:rPr>
                        <a:t>1-Jun</a:t>
                      </a:r>
                    </a:p>
                  </a:txBody>
                  <a:tcPr marL="7620" marR="7620" marT="7620" marB="0" anchor="ctr"/>
                </a:tc>
                <a:tc>
                  <a:txBody>
                    <a:bodyPr/>
                    <a:lstStyle/>
                    <a:p>
                      <a:pPr algn="ctr" fontAlgn="ctr">
                        <a:buNone/>
                      </a:pPr>
                      <a:r>
                        <a:rPr lang="en-US" sz="1200" b="0" i="0" u="none" strike="noStrike">
                          <a:solidFill>
                            <a:schemeClr val="tx1"/>
                          </a:solidFill>
                          <a:effectLst/>
                          <a:latin typeface="Aptos Narrow" panose="020B0004020202020204" pitchFamily="34" charset="0"/>
                        </a:rPr>
                        <a:t>30-Jun</a:t>
                      </a:r>
                    </a:p>
                  </a:txBody>
                  <a:tcPr marL="7620" marR="7620" marT="762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Narrow" panose="020B0004020202020204" pitchFamily="34" charset="0"/>
                          <a:ea typeface="+mn-ea"/>
                          <a:cs typeface="+mn-cs"/>
                        </a:rPr>
                        <a:t>Continue</a:t>
                      </a:r>
                      <a:endParaRPr kumimoji="0" lang="en-US" sz="12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txBody>
                  <a:tcPr marL="7620" marR="7620" marT="7620" marB="0" anchor="ctr"/>
                </a:tc>
                <a:extLst>
                  <a:ext uri="{0D108BD9-81ED-4DB2-BD59-A6C34878D82A}">
                    <a16:rowId xmlns:a16="http://schemas.microsoft.com/office/drawing/2014/main" val="359145558"/>
                  </a:ext>
                </a:extLst>
              </a:tr>
              <a:tr h="128083">
                <a:tc>
                  <a:txBody>
                    <a:bodyPr/>
                    <a:lstStyle/>
                    <a:p>
                      <a:pPr algn="ctr" fontAlgn="b">
                        <a:buNone/>
                      </a:pPr>
                      <a:r>
                        <a:rPr lang="en-US" sz="1200" u="none" strike="noStrike" dirty="0">
                          <a:effectLst/>
                        </a:rPr>
                        <a:t>8</a:t>
                      </a:r>
                      <a:endParaRPr lang="en-US" sz="1200" b="0" i="0" u="none" strike="noStrike" dirty="0">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a:effectLst/>
                        </a:rPr>
                        <a:t>Rebonjaro Temporary Facility Work</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Sumpal</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dirty="0">
                          <a:effectLst/>
                        </a:rPr>
                        <a:t>IDPRJ</a:t>
                      </a:r>
                      <a:endParaRPr lang="en-US" sz="1200" b="0" i="0" u="none" strike="noStrike" dirty="0">
                        <a:solidFill>
                          <a:srgbClr val="0000CC"/>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a:solidFill>
                            <a:schemeClr val="tx1"/>
                          </a:solidFill>
                          <a:effectLst/>
                          <a:latin typeface="Aptos Narrow" panose="020B0004020202020204" pitchFamily="34" charset="0"/>
                        </a:rPr>
                        <a:t>1-Jun</a:t>
                      </a:r>
                    </a:p>
                  </a:txBody>
                  <a:tcPr marL="7620" marR="7620" marT="7620" marB="0" anchor="ctr"/>
                </a:tc>
                <a:tc>
                  <a:txBody>
                    <a:bodyPr/>
                    <a:lstStyle/>
                    <a:p>
                      <a:pPr algn="ctr" fontAlgn="ctr">
                        <a:buNone/>
                      </a:pPr>
                      <a:r>
                        <a:rPr lang="en-US" sz="1200" b="0" i="0" u="none" strike="noStrike">
                          <a:solidFill>
                            <a:schemeClr val="tx1"/>
                          </a:solidFill>
                          <a:effectLst/>
                          <a:latin typeface="Aptos Narrow" panose="020B0004020202020204" pitchFamily="34" charset="0"/>
                        </a:rPr>
                        <a:t>30-Jun</a:t>
                      </a:r>
                    </a:p>
                  </a:txBody>
                  <a:tcPr marL="7620" marR="7620" marT="762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Narrow" panose="020B0004020202020204" pitchFamily="34" charset="0"/>
                          <a:ea typeface="+mn-ea"/>
                          <a:cs typeface="+mn-cs"/>
                        </a:rPr>
                        <a:t>Continue</a:t>
                      </a:r>
                      <a:endParaRPr kumimoji="0" lang="en-US" sz="12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txBody>
                  <a:tcPr marL="7620" marR="7620" marT="7620" marB="0" anchor="b"/>
                </a:tc>
                <a:extLst>
                  <a:ext uri="{0D108BD9-81ED-4DB2-BD59-A6C34878D82A}">
                    <a16:rowId xmlns:a16="http://schemas.microsoft.com/office/drawing/2014/main" val="2428620101"/>
                  </a:ext>
                </a:extLst>
              </a:tr>
              <a:tr h="128083">
                <a:tc>
                  <a:txBody>
                    <a:bodyPr/>
                    <a:lstStyle/>
                    <a:p>
                      <a:pPr algn="ctr" fontAlgn="b">
                        <a:buNone/>
                      </a:pPr>
                      <a:r>
                        <a:rPr lang="en-US" sz="1200" u="none" strike="noStrike">
                          <a:effectLst/>
                        </a:rPr>
                        <a:t>9</a:t>
                      </a:r>
                      <a:endParaRPr lang="en-US" sz="1200" b="0" i="0" u="none" strike="noStrike">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dirty="0">
                          <a:solidFill>
                            <a:schemeClr val="tx1"/>
                          </a:solidFill>
                          <a:effectLst/>
                        </a:rPr>
                        <a:t>Relocation Equipment </a:t>
                      </a:r>
                      <a:r>
                        <a:rPr lang="en-US" sz="1200" u="none" strike="noStrike" dirty="0" err="1">
                          <a:solidFill>
                            <a:schemeClr val="tx1"/>
                          </a:solidFill>
                          <a:effectLst/>
                        </a:rPr>
                        <a:t>Sakakemang</a:t>
                      </a:r>
                      <a:r>
                        <a:rPr lang="en-US" sz="1200" u="none" strike="noStrike" dirty="0">
                          <a:solidFill>
                            <a:schemeClr val="tx1"/>
                          </a:solidFill>
                          <a:effectLst/>
                        </a:rPr>
                        <a:t> (Land preparation at Grissik – cutting and filling) </a:t>
                      </a:r>
                      <a:endParaRPr lang="en-US" sz="1200" b="0" i="0" u="none" strike="noStrike" dirty="0">
                        <a:solidFill>
                          <a:schemeClr val="tx1"/>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dirty="0">
                          <a:solidFill>
                            <a:schemeClr val="tx1"/>
                          </a:solidFill>
                          <a:effectLst/>
                        </a:rPr>
                        <a:t>Grissik</a:t>
                      </a:r>
                      <a:endParaRPr lang="en-US" sz="1200" b="0" i="0" u="none" strike="noStrike" dirty="0">
                        <a:solidFill>
                          <a:schemeClr val="tx1"/>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solidFill>
                            <a:schemeClr val="tx1"/>
                          </a:solidFill>
                          <a:effectLst/>
                        </a:rPr>
                        <a:t>OCS</a:t>
                      </a:r>
                      <a:endParaRPr lang="en-US" sz="1200" b="0" i="0" u="none" strike="noStrike">
                        <a:solidFill>
                          <a:schemeClr val="tx1"/>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a:solidFill>
                            <a:schemeClr val="tx1"/>
                          </a:solidFill>
                          <a:effectLst/>
                          <a:latin typeface="Aptos Narrow" panose="020B0004020202020204" pitchFamily="34" charset="0"/>
                        </a:rPr>
                        <a:t>1-Jun</a:t>
                      </a:r>
                    </a:p>
                  </a:txBody>
                  <a:tcPr marL="7620" marR="7620" marT="7620" marB="0" anchor="ctr"/>
                </a:tc>
                <a:tc>
                  <a:txBody>
                    <a:bodyPr/>
                    <a:lstStyle/>
                    <a:p>
                      <a:pPr algn="ctr" fontAlgn="b">
                        <a:buNone/>
                      </a:pPr>
                      <a:r>
                        <a:rPr lang="en-US" sz="1200" b="0" i="0" u="none" strike="noStrike">
                          <a:solidFill>
                            <a:schemeClr val="tx1"/>
                          </a:solidFill>
                          <a:effectLst/>
                          <a:latin typeface="Aptos Narrow" panose="020B0004020202020204" pitchFamily="34" charset="0"/>
                        </a:rPr>
                        <a:t>30-Jun</a:t>
                      </a:r>
                    </a:p>
                  </a:txBody>
                  <a:tcPr marL="7620" marR="7620" marT="7620"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Narrow" panose="020B0004020202020204" pitchFamily="34" charset="0"/>
                          <a:ea typeface="+mn-ea"/>
                          <a:cs typeface="+mn-cs"/>
                        </a:rPr>
                        <a:t>Continue</a:t>
                      </a:r>
                      <a:endParaRPr kumimoji="0" lang="en-US" sz="12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txBody>
                  <a:tcPr marL="7620" marR="7620" marT="7620" marB="0" anchor="b"/>
                </a:tc>
                <a:extLst>
                  <a:ext uri="{0D108BD9-81ED-4DB2-BD59-A6C34878D82A}">
                    <a16:rowId xmlns:a16="http://schemas.microsoft.com/office/drawing/2014/main" val="1924956426"/>
                  </a:ext>
                </a:extLst>
              </a:tr>
              <a:tr h="147986">
                <a:tc>
                  <a:txBody>
                    <a:bodyPr/>
                    <a:lstStyle/>
                    <a:p>
                      <a:pPr algn="ctr" fontAlgn="b">
                        <a:buNone/>
                      </a:pPr>
                      <a:r>
                        <a:rPr lang="en-US" sz="1200" u="none" strike="noStrike">
                          <a:effectLst/>
                        </a:rPr>
                        <a:t>10</a:t>
                      </a:r>
                      <a:endParaRPr lang="en-US" sz="1200" b="0" i="0" u="none" strike="noStrike">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dirty="0">
                          <a:effectLst/>
                        </a:rPr>
                        <a:t>Ramba Jetty Strengthening (Molding Fabrication).</a:t>
                      </a:r>
                      <a:endParaRPr lang="en-US" sz="1200" b="0" i="0" u="none" strike="noStrike" dirty="0">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Rawa</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dirty="0">
                          <a:effectLst/>
                        </a:rPr>
                        <a:t>OCS</a:t>
                      </a:r>
                      <a:endParaRPr lang="en-US" sz="1200" b="0" i="0" u="none" strike="noStrike" dirty="0">
                        <a:solidFill>
                          <a:srgbClr val="0000CC"/>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dirty="0">
                          <a:solidFill>
                            <a:schemeClr val="tx1"/>
                          </a:solidFill>
                          <a:effectLst/>
                          <a:latin typeface="Aptos Narrow" panose="020B0004020202020204" pitchFamily="34" charset="0"/>
                        </a:rPr>
                        <a:t>1-Jun</a:t>
                      </a:r>
                    </a:p>
                  </a:txBody>
                  <a:tcPr marL="7620" marR="7620" marT="7620" marB="0" anchor="ctr"/>
                </a:tc>
                <a:tc>
                  <a:txBody>
                    <a:bodyPr/>
                    <a:lstStyle/>
                    <a:p>
                      <a:pPr algn="ctr" fontAlgn="ctr">
                        <a:buNone/>
                      </a:pPr>
                      <a:r>
                        <a:rPr lang="en-US" sz="1200" b="0" i="0" u="none" strike="noStrike">
                          <a:solidFill>
                            <a:schemeClr val="tx1"/>
                          </a:solidFill>
                          <a:effectLst/>
                          <a:latin typeface="Aptos Narrow" panose="020B0004020202020204" pitchFamily="34" charset="0"/>
                        </a:rPr>
                        <a:t>30-Jun</a:t>
                      </a:r>
                    </a:p>
                  </a:txBody>
                  <a:tcPr marL="7620" marR="7620" marT="762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Narrow" panose="020B0004020202020204" pitchFamily="34" charset="0"/>
                          <a:ea typeface="+mn-ea"/>
                          <a:cs typeface="+mn-cs"/>
                        </a:rPr>
                        <a:t>Continue</a:t>
                      </a:r>
                      <a:endParaRPr kumimoji="0" lang="en-US" sz="12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txBody>
                  <a:tcPr marL="7620" marR="7620" marT="7620" marB="0" anchor="b"/>
                </a:tc>
                <a:extLst>
                  <a:ext uri="{0D108BD9-81ED-4DB2-BD59-A6C34878D82A}">
                    <a16:rowId xmlns:a16="http://schemas.microsoft.com/office/drawing/2014/main" val="835652180"/>
                  </a:ext>
                </a:extLst>
              </a:tr>
              <a:tr h="200431">
                <a:tc>
                  <a:txBody>
                    <a:bodyPr/>
                    <a:lstStyle/>
                    <a:p>
                      <a:pPr algn="ctr" fontAlgn="b">
                        <a:buNone/>
                      </a:pPr>
                      <a:r>
                        <a:rPr lang="en-US" sz="1200" u="none" strike="noStrike" dirty="0">
                          <a:effectLst/>
                        </a:rPr>
                        <a:t>11</a:t>
                      </a:r>
                      <a:endParaRPr lang="en-US" sz="1200" b="0" i="0" u="none" strike="noStrike" dirty="0">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dirty="0">
                          <a:effectLst/>
                        </a:rPr>
                        <a:t>ASM Phase-2</a:t>
                      </a:r>
                      <a:br>
                        <a:rPr lang="en-US" sz="1200" u="none" strike="noStrike" dirty="0">
                          <a:effectLst/>
                        </a:rPr>
                      </a:br>
                      <a:r>
                        <a:rPr lang="en-US" sz="1200" u="none" strike="noStrike" dirty="0">
                          <a:effectLst/>
                        </a:rPr>
                        <a:t>-Dismantle Metering from Suban &amp; Mobilize to Rawa</a:t>
                      </a:r>
                      <a:br>
                        <a:rPr lang="en-US" sz="1200" u="none" strike="noStrike" dirty="0">
                          <a:effectLst/>
                        </a:rPr>
                      </a:br>
                      <a:r>
                        <a:rPr lang="en-US" sz="1200" u="none" strike="noStrike" dirty="0">
                          <a:effectLst/>
                        </a:rPr>
                        <a:t>- Ground preparation, utility building/Panel Room, </a:t>
                      </a:r>
                      <a:r>
                        <a:rPr lang="en-US" sz="1200" u="none" strike="noStrike" dirty="0" err="1">
                          <a:effectLst/>
                        </a:rPr>
                        <a:t>etc</a:t>
                      </a:r>
                      <a:br>
                        <a:rPr lang="en-US" sz="1200" u="none" strike="noStrike" dirty="0">
                          <a:effectLst/>
                        </a:rPr>
                      </a:br>
                      <a:r>
                        <a:rPr lang="en-US" sz="1200" u="none" strike="noStrike" dirty="0">
                          <a:effectLst/>
                        </a:rPr>
                        <a:t>- Installation Metering condensate and flowline and tie in to KM 122 </a:t>
                      </a:r>
                      <a:r>
                        <a:rPr lang="en-US" sz="1200" u="none" strike="noStrike" dirty="0" err="1">
                          <a:effectLst/>
                        </a:rPr>
                        <a:t>pertagas</a:t>
                      </a:r>
                      <a:br>
                        <a:rPr lang="en-US" sz="1200" u="none" strike="noStrike" dirty="0">
                          <a:effectLst/>
                        </a:rPr>
                      </a:br>
                      <a:r>
                        <a:rPr lang="en-US" sz="1200" u="none" strike="noStrike" dirty="0">
                          <a:effectLst/>
                        </a:rPr>
                        <a:t>- Ground preparation for unloading facilities and mobilization Tank from Supat to Rawa Station.</a:t>
                      </a:r>
                      <a:endParaRPr lang="en-US" sz="1200" b="0" i="0" u="none" strike="noStrike" dirty="0">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dirty="0">
                          <a:effectLst/>
                        </a:rPr>
                        <a:t>Rawa</a:t>
                      </a:r>
                      <a:endParaRPr lang="en-US" sz="1200" b="0" i="0" u="none" strike="noStrike" dirty="0">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dirty="0">
                          <a:effectLst/>
                        </a:rPr>
                        <a:t>OCS</a:t>
                      </a:r>
                      <a:endParaRPr lang="en-US" sz="1200" b="0" i="0" u="none" strike="noStrike" dirty="0">
                        <a:solidFill>
                          <a:srgbClr val="0000CC"/>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dirty="0">
                          <a:solidFill>
                            <a:schemeClr val="tx1"/>
                          </a:solidFill>
                          <a:effectLst/>
                          <a:latin typeface="Aptos Narrow" panose="020B0004020202020204" pitchFamily="34" charset="0"/>
                        </a:rPr>
                        <a:t>1-Jun</a:t>
                      </a:r>
                    </a:p>
                  </a:txBody>
                  <a:tcPr marL="7620" marR="7620" marT="7620" marB="0" anchor="ctr"/>
                </a:tc>
                <a:tc>
                  <a:txBody>
                    <a:bodyPr/>
                    <a:lstStyle/>
                    <a:p>
                      <a:pPr algn="ctr" fontAlgn="ctr">
                        <a:buNone/>
                      </a:pPr>
                      <a:r>
                        <a:rPr lang="en-US" sz="1200" b="0" i="0" u="none" strike="noStrike" dirty="0">
                          <a:solidFill>
                            <a:schemeClr val="tx1"/>
                          </a:solidFill>
                          <a:effectLst/>
                          <a:latin typeface="Aptos Narrow" panose="020B0004020202020204" pitchFamily="34" charset="0"/>
                        </a:rPr>
                        <a:t>30-Jun</a:t>
                      </a:r>
                    </a:p>
                  </a:txBody>
                  <a:tcPr marL="7620" marR="7620" marT="762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Narrow" panose="020B0004020202020204" pitchFamily="34" charset="0"/>
                          <a:ea typeface="+mn-ea"/>
                          <a:cs typeface="+mn-cs"/>
                        </a:rPr>
                        <a:t>Continue</a:t>
                      </a:r>
                      <a:endParaRPr kumimoji="0" lang="en-US" sz="12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txBody>
                  <a:tcPr marL="7620" marR="7620" marT="7620" marB="0" anchor="ctr"/>
                </a:tc>
                <a:extLst>
                  <a:ext uri="{0D108BD9-81ED-4DB2-BD59-A6C34878D82A}">
                    <a16:rowId xmlns:a16="http://schemas.microsoft.com/office/drawing/2014/main" val="3427997012"/>
                  </a:ext>
                </a:extLst>
              </a:tr>
              <a:tr h="130491">
                <a:tc>
                  <a:txBody>
                    <a:bodyPr/>
                    <a:lstStyle/>
                    <a:p>
                      <a:pPr algn="ctr" fontAlgn="b">
                        <a:buNone/>
                      </a:pPr>
                      <a:r>
                        <a:rPr lang="en-US" sz="1200" u="none" strike="noStrike" dirty="0">
                          <a:effectLst/>
                        </a:rPr>
                        <a:t>12</a:t>
                      </a:r>
                      <a:endParaRPr lang="en-US" sz="1200" b="0" i="0" u="none" strike="noStrike" dirty="0">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dirty="0">
                          <a:effectLst/>
                        </a:rPr>
                        <a:t>TCMS Phase 1</a:t>
                      </a:r>
                      <a:br>
                        <a:rPr lang="en-US" sz="1200" u="none" strike="noStrike" dirty="0">
                          <a:effectLst/>
                        </a:rPr>
                      </a:br>
                      <a:r>
                        <a:rPr lang="en-US" sz="1200" u="none" strike="noStrike" dirty="0">
                          <a:effectLst/>
                        </a:rPr>
                        <a:t>Continue installation, commissioning and start up GEG and Continue closing Punchlist</a:t>
                      </a:r>
                      <a:endParaRPr lang="en-US" sz="1200" b="0" i="0" u="none" strike="noStrike" dirty="0">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Rawa</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dirty="0">
                          <a:effectLst/>
                        </a:rPr>
                        <a:t>OCS</a:t>
                      </a:r>
                      <a:endParaRPr lang="en-US" sz="1200" b="0" i="0" u="none" strike="noStrike" dirty="0">
                        <a:solidFill>
                          <a:srgbClr val="0000CC"/>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a:solidFill>
                            <a:schemeClr val="tx1"/>
                          </a:solidFill>
                          <a:effectLst/>
                          <a:latin typeface="Aptos Narrow" panose="020B0004020202020204" pitchFamily="34" charset="0"/>
                        </a:rPr>
                        <a:t>1-Jun</a:t>
                      </a:r>
                    </a:p>
                  </a:txBody>
                  <a:tcPr marL="7620" marR="7620" marT="7620" marB="0" anchor="ctr"/>
                </a:tc>
                <a:tc>
                  <a:txBody>
                    <a:bodyPr/>
                    <a:lstStyle/>
                    <a:p>
                      <a:pPr algn="ctr" fontAlgn="b">
                        <a:buNone/>
                      </a:pPr>
                      <a:r>
                        <a:rPr lang="en-US" sz="1200" b="0" i="0" u="none" strike="noStrike" dirty="0">
                          <a:solidFill>
                            <a:schemeClr val="tx1"/>
                          </a:solidFill>
                          <a:effectLst/>
                          <a:latin typeface="Aptos Narrow" panose="020B0004020202020204" pitchFamily="34" charset="0"/>
                        </a:rPr>
                        <a:t>30-Jun</a:t>
                      </a:r>
                    </a:p>
                  </a:txBody>
                  <a:tcPr marL="7620" marR="7620" marT="7620"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Narrow" panose="020B0004020202020204" pitchFamily="34" charset="0"/>
                          <a:ea typeface="+mn-ea"/>
                          <a:cs typeface="+mn-cs"/>
                        </a:rPr>
                        <a:t>Continue</a:t>
                      </a:r>
                      <a:endParaRPr kumimoji="0" lang="en-US" sz="12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txBody>
                  <a:tcPr marL="7620" marR="7620" marT="7620" marB="0" anchor="b"/>
                </a:tc>
                <a:extLst>
                  <a:ext uri="{0D108BD9-81ED-4DB2-BD59-A6C34878D82A}">
                    <a16:rowId xmlns:a16="http://schemas.microsoft.com/office/drawing/2014/main" val="759192399"/>
                  </a:ext>
                </a:extLst>
              </a:tr>
              <a:tr h="130491">
                <a:tc>
                  <a:txBody>
                    <a:bodyPr/>
                    <a:lstStyle/>
                    <a:p>
                      <a:pPr algn="ctr" fontAlgn="b">
                        <a:buNone/>
                      </a:pPr>
                      <a:r>
                        <a:rPr lang="en-US" sz="1200" u="none" strike="noStrike" dirty="0">
                          <a:effectLst/>
                        </a:rPr>
                        <a:t>13</a:t>
                      </a:r>
                      <a:endParaRPr lang="en-US" sz="1200" b="0" i="0" u="none" strike="noStrike" dirty="0">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a:effectLst/>
                        </a:rPr>
                        <a:t>TCMS Phase-2 (Installation flowline 10” from Tengah 5 to TCMS)</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Rawa</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OCS</a:t>
                      </a:r>
                      <a:endParaRPr lang="en-US" sz="1200" b="0" i="0" u="none" strike="noStrike">
                        <a:solidFill>
                          <a:srgbClr val="0000CC"/>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a:solidFill>
                            <a:schemeClr val="tx1"/>
                          </a:solidFill>
                          <a:effectLst/>
                          <a:latin typeface="Aptos Narrow" panose="020B0004020202020204" pitchFamily="34" charset="0"/>
                        </a:rPr>
                        <a:t>1-Jun</a:t>
                      </a:r>
                    </a:p>
                  </a:txBody>
                  <a:tcPr marL="7620" marR="7620" marT="7620" marB="0" anchor="ctr"/>
                </a:tc>
                <a:tc>
                  <a:txBody>
                    <a:bodyPr/>
                    <a:lstStyle/>
                    <a:p>
                      <a:pPr algn="ctr" fontAlgn="b">
                        <a:buNone/>
                      </a:pPr>
                      <a:r>
                        <a:rPr lang="en-US" sz="1200" b="0" i="0" u="none" strike="noStrike" dirty="0">
                          <a:solidFill>
                            <a:schemeClr val="tx1"/>
                          </a:solidFill>
                          <a:effectLst/>
                          <a:latin typeface="Aptos Narrow" panose="020B0004020202020204" pitchFamily="34" charset="0"/>
                        </a:rPr>
                        <a:t>30-Jun</a:t>
                      </a:r>
                    </a:p>
                  </a:txBody>
                  <a:tcPr marL="7620" marR="7620" marT="7620"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Narrow" panose="020B0004020202020204" pitchFamily="34" charset="0"/>
                          <a:ea typeface="+mn-ea"/>
                          <a:cs typeface="+mn-cs"/>
                        </a:rPr>
                        <a:t>Continue</a:t>
                      </a:r>
                      <a:endParaRPr kumimoji="0" lang="en-US" sz="12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txBody>
                  <a:tcPr marL="7620" marR="7620" marT="7620" marB="0" anchor="b"/>
                </a:tc>
                <a:extLst>
                  <a:ext uri="{0D108BD9-81ED-4DB2-BD59-A6C34878D82A}">
                    <a16:rowId xmlns:a16="http://schemas.microsoft.com/office/drawing/2014/main" val="643121811"/>
                  </a:ext>
                </a:extLst>
              </a:tr>
              <a:tr h="130491">
                <a:tc>
                  <a:txBody>
                    <a:bodyPr/>
                    <a:lstStyle/>
                    <a:p>
                      <a:pPr algn="ctr" fontAlgn="b">
                        <a:buNone/>
                      </a:pPr>
                      <a:r>
                        <a:rPr lang="en-US" sz="1200" u="none" strike="noStrike" dirty="0">
                          <a:effectLst/>
                        </a:rPr>
                        <a:t>14</a:t>
                      </a:r>
                      <a:endParaRPr lang="en-US" sz="1200" b="0" i="0" u="none" strike="noStrike" dirty="0">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dirty="0">
                          <a:effectLst/>
                        </a:rPr>
                        <a:t>Rawa 52/1A - Phase 2 (Preparation Relocate flowline Rawa 1A)</a:t>
                      </a:r>
                      <a:endParaRPr lang="en-US" sz="1200" b="0" i="0" u="none" strike="noStrike" dirty="0">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Rawa</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OCS</a:t>
                      </a:r>
                      <a:endParaRPr lang="en-US" sz="1200" b="0" i="0" u="none" strike="noStrike">
                        <a:solidFill>
                          <a:srgbClr val="0000CC"/>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a:solidFill>
                            <a:schemeClr val="tx1"/>
                          </a:solidFill>
                          <a:effectLst/>
                          <a:latin typeface="Aptos Narrow" panose="020B0004020202020204" pitchFamily="34" charset="0"/>
                        </a:rPr>
                        <a:t>1-Jun</a:t>
                      </a:r>
                    </a:p>
                  </a:txBody>
                  <a:tcPr marL="7620" marR="7620" marT="7620" marB="0" anchor="ctr"/>
                </a:tc>
                <a:tc>
                  <a:txBody>
                    <a:bodyPr/>
                    <a:lstStyle/>
                    <a:p>
                      <a:pPr algn="ctr" fontAlgn="ctr">
                        <a:buNone/>
                      </a:pPr>
                      <a:r>
                        <a:rPr lang="en-US" sz="1200" b="0" i="0" u="none" strike="noStrike" dirty="0">
                          <a:solidFill>
                            <a:schemeClr val="tx1"/>
                          </a:solidFill>
                          <a:effectLst/>
                          <a:latin typeface="Aptos Narrow" panose="020B0004020202020204" pitchFamily="34" charset="0"/>
                        </a:rPr>
                        <a:t>30-Jun</a:t>
                      </a:r>
                    </a:p>
                  </a:txBody>
                  <a:tcPr marL="7620" marR="7620" marT="762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Narrow" panose="020B0004020202020204" pitchFamily="34" charset="0"/>
                          <a:ea typeface="+mn-ea"/>
                          <a:cs typeface="+mn-cs"/>
                        </a:rPr>
                        <a:t>Continue</a:t>
                      </a:r>
                      <a:endParaRPr kumimoji="0" lang="en-US" sz="12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txBody>
                  <a:tcPr marL="7620" marR="7620" marT="7620" marB="0" anchor="b"/>
                </a:tc>
                <a:extLst>
                  <a:ext uri="{0D108BD9-81ED-4DB2-BD59-A6C34878D82A}">
                    <a16:rowId xmlns:a16="http://schemas.microsoft.com/office/drawing/2014/main" val="1819656077"/>
                  </a:ext>
                </a:extLst>
              </a:tr>
              <a:tr h="130491">
                <a:tc>
                  <a:txBody>
                    <a:bodyPr/>
                    <a:lstStyle/>
                    <a:p>
                      <a:pPr algn="ctr" fontAlgn="b">
                        <a:buNone/>
                      </a:pPr>
                      <a:r>
                        <a:rPr lang="en-US" sz="1200" u="none" strike="noStrike" dirty="0">
                          <a:effectLst/>
                        </a:rPr>
                        <a:t>15</a:t>
                      </a:r>
                      <a:endParaRPr lang="en-US" sz="1200" b="0" i="0" u="none" strike="noStrike" dirty="0">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a:effectLst/>
                        </a:rPr>
                        <a:t>Supat-2 Recompletion &amp; Testing (Rig-5)</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Supat</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dirty="0">
                          <a:effectLst/>
                        </a:rPr>
                        <a:t>WII</a:t>
                      </a:r>
                      <a:endParaRPr lang="en-US" sz="1200" b="0" i="0" u="none" strike="noStrike" dirty="0">
                        <a:solidFill>
                          <a:srgbClr val="0000CC"/>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dirty="0">
                          <a:solidFill>
                            <a:schemeClr val="tx1"/>
                          </a:solidFill>
                          <a:effectLst/>
                          <a:latin typeface="Aptos Narrow" panose="020B0004020202020204" pitchFamily="34" charset="0"/>
                        </a:rPr>
                        <a:t>1-Jun</a:t>
                      </a:r>
                    </a:p>
                  </a:txBody>
                  <a:tcPr marL="7620" marR="7620" marT="7620" marB="0" anchor="ctr"/>
                </a:tc>
                <a:tc>
                  <a:txBody>
                    <a:bodyPr/>
                    <a:lstStyle/>
                    <a:p>
                      <a:pPr algn="ctr" fontAlgn="ctr">
                        <a:buNone/>
                      </a:pPr>
                      <a:r>
                        <a:rPr lang="en-US" sz="1200" b="0" i="0" u="none" strike="noStrike" dirty="0">
                          <a:solidFill>
                            <a:schemeClr val="tx1"/>
                          </a:solidFill>
                          <a:effectLst/>
                          <a:latin typeface="Aptos Narrow" panose="020B0004020202020204" pitchFamily="34" charset="0"/>
                        </a:rPr>
                        <a:t>30-Jun</a:t>
                      </a:r>
                    </a:p>
                  </a:txBody>
                  <a:tcPr marL="7620" marR="7620" marT="762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Narrow" panose="020B0004020202020204" pitchFamily="34" charset="0"/>
                          <a:ea typeface="+mn-ea"/>
                          <a:cs typeface="+mn-cs"/>
                        </a:rPr>
                        <a:t>Continue</a:t>
                      </a:r>
                      <a:endParaRPr kumimoji="0" lang="en-US" sz="12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txBody>
                  <a:tcPr marL="7620" marR="7620" marT="7620" marB="0" anchor="b"/>
                </a:tc>
                <a:extLst>
                  <a:ext uri="{0D108BD9-81ED-4DB2-BD59-A6C34878D82A}">
                    <a16:rowId xmlns:a16="http://schemas.microsoft.com/office/drawing/2014/main" val="298458056"/>
                  </a:ext>
                </a:extLst>
              </a:tr>
              <a:tr h="130491">
                <a:tc>
                  <a:txBody>
                    <a:bodyPr/>
                    <a:lstStyle/>
                    <a:p>
                      <a:pPr algn="ctr" fontAlgn="b">
                        <a:buNone/>
                      </a:pPr>
                      <a:r>
                        <a:rPr lang="en-US" sz="1200" u="none" strike="noStrike" dirty="0">
                          <a:effectLst/>
                        </a:rPr>
                        <a:t>16</a:t>
                      </a:r>
                      <a:endParaRPr lang="en-US" sz="1200" b="0" i="0" u="none" strike="noStrike" dirty="0">
                        <a:solidFill>
                          <a:srgbClr val="000000"/>
                        </a:solidFill>
                        <a:effectLst/>
                        <a:latin typeface="Aptos Narrow" panose="020B0004020202020204" pitchFamily="34" charset="0"/>
                      </a:endParaRPr>
                    </a:p>
                  </a:txBody>
                  <a:tcPr marL="5935" marR="5935" marT="5935" marB="0" anchor="b"/>
                </a:tc>
                <a:tc>
                  <a:txBody>
                    <a:bodyPr/>
                    <a:lstStyle/>
                    <a:p>
                      <a:pPr algn="l" fontAlgn="ctr">
                        <a:buNone/>
                      </a:pPr>
                      <a:r>
                        <a:rPr lang="en-US" sz="1200" u="none" strike="noStrike">
                          <a:effectLst/>
                        </a:rPr>
                        <a:t>Supat-5 Recompletion &amp; Testing (Rig-5)</a:t>
                      </a: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dirty="0">
                          <a:effectLst/>
                        </a:rPr>
                        <a:t>Supat</a:t>
                      </a:r>
                      <a:endParaRPr lang="en-US" sz="1200" b="0" i="0" u="none" strike="noStrike" dirty="0">
                        <a:solidFill>
                          <a:srgbClr val="0000FF"/>
                        </a:solidFill>
                        <a:effectLst/>
                        <a:latin typeface="Calibri" panose="020F0502020204030204" pitchFamily="34" charset="0"/>
                      </a:endParaRPr>
                    </a:p>
                  </a:txBody>
                  <a:tcPr marL="5935" marR="5935" marT="5935" marB="0" anchor="ctr"/>
                </a:tc>
                <a:tc>
                  <a:txBody>
                    <a:bodyPr/>
                    <a:lstStyle/>
                    <a:p>
                      <a:pPr algn="ctr" fontAlgn="ctr">
                        <a:buNone/>
                      </a:pPr>
                      <a:r>
                        <a:rPr lang="en-US" sz="1200" u="none" strike="noStrike">
                          <a:effectLst/>
                        </a:rPr>
                        <a:t>WII</a:t>
                      </a:r>
                      <a:endParaRPr lang="en-US" sz="1200" b="0" i="0" u="none" strike="noStrike">
                        <a:solidFill>
                          <a:srgbClr val="0000CC"/>
                        </a:solidFill>
                        <a:effectLst/>
                        <a:latin typeface="Calibri" panose="020F0502020204030204" pitchFamily="34" charset="0"/>
                      </a:endParaRPr>
                    </a:p>
                  </a:txBody>
                  <a:tcPr marL="5935" marR="5935" marT="5935" marB="0" anchor="ctr"/>
                </a:tc>
                <a:tc>
                  <a:txBody>
                    <a:bodyPr/>
                    <a:lstStyle/>
                    <a:p>
                      <a:pPr algn="ctr" fontAlgn="ctr">
                        <a:buNone/>
                      </a:pPr>
                      <a:r>
                        <a:rPr lang="en-US" sz="1200" b="0" i="0" u="none" strike="noStrike">
                          <a:solidFill>
                            <a:schemeClr val="tx1"/>
                          </a:solidFill>
                          <a:effectLst/>
                          <a:latin typeface="Aptos Narrow" panose="020B0004020202020204" pitchFamily="34" charset="0"/>
                        </a:rPr>
                        <a:t>1-Jun</a:t>
                      </a:r>
                    </a:p>
                  </a:txBody>
                  <a:tcPr marL="7620" marR="7620" marT="7620" marB="0" anchor="ctr"/>
                </a:tc>
                <a:tc>
                  <a:txBody>
                    <a:bodyPr/>
                    <a:lstStyle/>
                    <a:p>
                      <a:pPr algn="ctr" fontAlgn="ctr">
                        <a:buNone/>
                      </a:pPr>
                      <a:r>
                        <a:rPr lang="en-US" sz="1200" b="0" i="0" u="none" strike="noStrike" dirty="0">
                          <a:solidFill>
                            <a:schemeClr val="tx1"/>
                          </a:solidFill>
                          <a:effectLst/>
                          <a:latin typeface="Aptos Narrow" panose="020B0004020202020204" pitchFamily="34" charset="0"/>
                        </a:rPr>
                        <a:t>30-Jun</a:t>
                      </a:r>
                    </a:p>
                  </a:txBody>
                  <a:tcPr marL="7620" marR="7620" marT="762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Continue</a:t>
                      </a:r>
                    </a:p>
                  </a:txBody>
                  <a:tcPr marL="7620" marR="7620" marT="7620" marB="0" anchor="b"/>
                </a:tc>
                <a:extLst>
                  <a:ext uri="{0D108BD9-81ED-4DB2-BD59-A6C34878D82A}">
                    <a16:rowId xmlns:a16="http://schemas.microsoft.com/office/drawing/2014/main" val="156450420"/>
                  </a:ext>
                </a:extLst>
              </a:tr>
              <a:tr h="130491">
                <a:tc>
                  <a:txBody>
                    <a:bodyPr/>
                    <a:lstStyle/>
                    <a:p>
                      <a:pPr algn="ctr" fontAlgn="b">
                        <a:buNone/>
                      </a:pPr>
                      <a:r>
                        <a:rPr lang="en-US" sz="1200" u="none" strike="noStrike" dirty="0">
                          <a:effectLst/>
                        </a:rPr>
                        <a:t>17</a:t>
                      </a:r>
                      <a:endParaRPr lang="en-US" sz="1200" b="0" i="0" u="none" strike="noStrike" dirty="0">
                        <a:solidFill>
                          <a:srgbClr val="000000"/>
                        </a:solidFill>
                        <a:effectLst/>
                        <a:latin typeface="Aptos Narrow" panose="020B0004020202020204" pitchFamily="34" charset="0"/>
                      </a:endParaRPr>
                    </a:p>
                  </a:txBody>
                  <a:tcPr marL="5935" marR="5935" marT="5935" marB="0" anchor="b"/>
                </a:tc>
                <a:tc>
                  <a:txBody>
                    <a:bodyPr/>
                    <a:lstStyle/>
                    <a:p>
                      <a:pPr algn="l" fontAlgn="ctr">
                        <a:buNone/>
                      </a:pPr>
                      <a:endParaRPr lang="en-US" sz="1200" b="0" i="0" u="none" strike="noStrike">
                        <a:solidFill>
                          <a:srgbClr val="0000FF"/>
                        </a:solidFill>
                        <a:effectLst/>
                        <a:latin typeface="Calibri" panose="020F0502020204030204" pitchFamily="34" charset="0"/>
                      </a:endParaRPr>
                    </a:p>
                  </a:txBody>
                  <a:tcPr marL="5935" marR="5935" marT="5935" marB="0" anchor="ctr"/>
                </a:tc>
                <a:tc>
                  <a:txBody>
                    <a:bodyPr/>
                    <a:lstStyle/>
                    <a:p>
                      <a:pPr algn="ctr" fontAlgn="ctr">
                        <a:buNone/>
                      </a:pPr>
                      <a:endParaRPr lang="en-US" sz="1200" b="0" i="0" u="none" strike="noStrike" dirty="0">
                        <a:solidFill>
                          <a:srgbClr val="0000FF"/>
                        </a:solidFill>
                        <a:effectLst/>
                        <a:latin typeface="Calibri" panose="020F0502020204030204" pitchFamily="34" charset="0"/>
                      </a:endParaRPr>
                    </a:p>
                  </a:txBody>
                  <a:tcPr marL="5935" marR="5935" marT="5935" marB="0" anchor="ctr"/>
                </a:tc>
                <a:tc>
                  <a:txBody>
                    <a:bodyPr/>
                    <a:lstStyle/>
                    <a:p>
                      <a:pPr algn="ctr" fontAlgn="ctr">
                        <a:buNone/>
                      </a:pPr>
                      <a:endParaRPr lang="en-US" sz="1200" b="0" i="0" u="none" strike="noStrike">
                        <a:solidFill>
                          <a:srgbClr val="0000CC"/>
                        </a:solidFill>
                        <a:effectLst/>
                        <a:latin typeface="Calibri" panose="020F0502020204030204" pitchFamily="34" charset="0"/>
                      </a:endParaRPr>
                    </a:p>
                  </a:txBody>
                  <a:tcPr marL="5935" marR="5935" marT="5935" marB="0" anchor="ctr"/>
                </a:tc>
                <a:tc>
                  <a:txBody>
                    <a:bodyPr/>
                    <a:lstStyle/>
                    <a:p>
                      <a:pPr algn="ctr" fontAlgn="ctr">
                        <a:buNone/>
                      </a:pPr>
                      <a:endParaRPr lang="en-US" sz="1200" b="0" i="0" u="none" strike="noStrike">
                        <a:solidFill>
                          <a:schemeClr val="tx1"/>
                        </a:solidFill>
                        <a:effectLst/>
                        <a:latin typeface="Aptos Narrow" panose="020B000402020202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Aptos Narrow" panose="020B0004020202020204" pitchFamily="34" charset="0"/>
                      </a:endParaRPr>
                    </a:p>
                  </a:txBody>
                  <a:tcPr marL="7620" marR="7620" marT="7620" marB="0" anchor="ctr"/>
                </a:tc>
                <a:tc>
                  <a:txBody>
                    <a:bodyPr/>
                    <a:lstStyle/>
                    <a:p>
                      <a:pPr algn="ctr" fontAlgn="b">
                        <a:buNone/>
                      </a:pPr>
                      <a:endParaRPr lang="en-US" sz="1200" b="0" i="0" u="none" strike="noStrike" dirty="0">
                        <a:solidFill>
                          <a:schemeClr val="tx1"/>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744403826"/>
                  </a:ext>
                </a:extLst>
              </a:tr>
            </a:tbl>
          </a:graphicData>
        </a:graphic>
      </p:graphicFrame>
    </p:spTree>
    <p:extLst>
      <p:ext uri="{BB962C8B-B14F-4D97-AF65-F5344CB8AC3E}">
        <p14:creationId xmlns:p14="http://schemas.microsoft.com/office/powerpoint/2010/main" val="2120918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44D9CB-022A-EB02-3B68-26BE85F4B606}"/>
              </a:ext>
            </a:extLst>
          </p:cNvPr>
          <p:cNvSpPr txBox="1"/>
          <p:nvPr/>
        </p:nvSpPr>
        <p:spPr>
          <a:xfrm>
            <a:off x="0" y="466290"/>
            <a:ext cx="9277166" cy="523220"/>
          </a:xfrm>
          <a:prstGeom prst="rect">
            <a:avLst/>
          </a:prstGeom>
          <a:noFill/>
        </p:spPr>
        <p:txBody>
          <a:bodyPr wrap="square" rtlCol="0">
            <a:noAutofit/>
          </a:bodyPr>
          <a:lstStyle/>
          <a:p>
            <a:r>
              <a:rPr lang="da-DK" sz="2000" b="1" dirty="0">
                <a:solidFill>
                  <a:srgbClr val="004C8F"/>
                </a:solidFill>
                <a:latin typeface="Univers 67 Condensed" pitchFamily="2" charset="0"/>
                <a:cs typeface="Calibri"/>
              </a:rPr>
              <a:t>Achievement Highlight Activity (5-20 June)</a:t>
            </a:r>
          </a:p>
        </p:txBody>
      </p:sp>
      <p:graphicFrame>
        <p:nvGraphicFramePr>
          <p:cNvPr id="3" name="Table 2">
            <a:extLst>
              <a:ext uri="{FF2B5EF4-FFF2-40B4-BE49-F238E27FC236}">
                <a16:creationId xmlns:a16="http://schemas.microsoft.com/office/drawing/2014/main" id="{7A780C05-643D-1877-566F-B6B193C3F7A5}"/>
              </a:ext>
            </a:extLst>
          </p:cNvPr>
          <p:cNvGraphicFramePr>
            <a:graphicFrameLocks noGrp="1"/>
          </p:cNvGraphicFramePr>
          <p:nvPr>
            <p:extLst>
              <p:ext uri="{D42A27DB-BD31-4B8C-83A1-F6EECF244321}">
                <p14:modId xmlns:p14="http://schemas.microsoft.com/office/powerpoint/2010/main" val="3194929101"/>
              </p:ext>
            </p:extLst>
          </p:nvPr>
        </p:nvGraphicFramePr>
        <p:xfrm>
          <a:off x="101600" y="1038226"/>
          <a:ext cx="11681428" cy="4409235"/>
        </p:xfrm>
        <a:graphic>
          <a:graphicData uri="http://schemas.openxmlformats.org/drawingml/2006/table">
            <a:tbl>
              <a:tblPr firstRow="1" firstCol="1" bandRow="1">
                <a:tableStyleId>{5C22544A-7EE6-4342-B048-85BDC9FD1C3A}</a:tableStyleId>
              </a:tblPr>
              <a:tblGrid>
                <a:gridCol w="542387">
                  <a:extLst>
                    <a:ext uri="{9D8B030D-6E8A-4147-A177-3AD203B41FA5}">
                      <a16:colId xmlns:a16="http://schemas.microsoft.com/office/drawing/2014/main" val="3971706225"/>
                    </a:ext>
                  </a:extLst>
                </a:gridCol>
                <a:gridCol w="5575838">
                  <a:extLst>
                    <a:ext uri="{9D8B030D-6E8A-4147-A177-3AD203B41FA5}">
                      <a16:colId xmlns:a16="http://schemas.microsoft.com/office/drawing/2014/main" val="613677343"/>
                    </a:ext>
                  </a:extLst>
                </a:gridCol>
                <a:gridCol w="1280570">
                  <a:extLst>
                    <a:ext uri="{9D8B030D-6E8A-4147-A177-3AD203B41FA5}">
                      <a16:colId xmlns:a16="http://schemas.microsoft.com/office/drawing/2014/main" val="2696464060"/>
                    </a:ext>
                  </a:extLst>
                </a:gridCol>
                <a:gridCol w="1354238">
                  <a:extLst>
                    <a:ext uri="{9D8B030D-6E8A-4147-A177-3AD203B41FA5}">
                      <a16:colId xmlns:a16="http://schemas.microsoft.com/office/drawing/2014/main" val="562786122"/>
                    </a:ext>
                  </a:extLst>
                </a:gridCol>
                <a:gridCol w="949124">
                  <a:extLst>
                    <a:ext uri="{9D8B030D-6E8A-4147-A177-3AD203B41FA5}">
                      <a16:colId xmlns:a16="http://schemas.microsoft.com/office/drawing/2014/main" val="1170593550"/>
                    </a:ext>
                  </a:extLst>
                </a:gridCol>
                <a:gridCol w="1015147">
                  <a:extLst>
                    <a:ext uri="{9D8B030D-6E8A-4147-A177-3AD203B41FA5}">
                      <a16:colId xmlns:a16="http://schemas.microsoft.com/office/drawing/2014/main" val="1025145664"/>
                    </a:ext>
                  </a:extLst>
                </a:gridCol>
                <a:gridCol w="964124">
                  <a:extLst>
                    <a:ext uri="{9D8B030D-6E8A-4147-A177-3AD203B41FA5}">
                      <a16:colId xmlns:a16="http://schemas.microsoft.com/office/drawing/2014/main" val="2508782320"/>
                    </a:ext>
                  </a:extLst>
                </a:gridCol>
              </a:tblGrid>
              <a:tr h="271171">
                <a:tc>
                  <a:txBody>
                    <a:bodyPr/>
                    <a:lstStyle/>
                    <a:p>
                      <a:pPr marL="0" marR="0" algn="ctr">
                        <a:lnSpc>
                          <a:spcPct val="115000"/>
                        </a:lnSpc>
                        <a:spcAft>
                          <a:spcPts val="1000"/>
                        </a:spcAft>
                        <a:buNone/>
                      </a:pPr>
                      <a:r>
                        <a:rPr lang="en-US" sz="1200" dirty="0">
                          <a:effectLst/>
                        </a:rPr>
                        <a:t>NO</a:t>
                      </a:r>
                      <a:endParaRPr lang="en-US" sz="1200" dirty="0">
                        <a:effectLst/>
                        <a:latin typeface="+mn-lt"/>
                        <a:ea typeface="Calibri" panose="020F0502020204030204" pitchFamily="34" charset="0"/>
                        <a:cs typeface="Cordia New" panose="020B0304020202020204" pitchFamily="34" charset="-34"/>
                      </a:endParaRPr>
                    </a:p>
                  </a:txBody>
                  <a:tcPr marL="41972" marR="41972" marT="0" marB="0" anchor="ctr"/>
                </a:tc>
                <a:tc>
                  <a:txBody>
                    <a:bodyPr/>
                    <a:lstStyle/>
                    <a:p>
                      <a:pPr marL="0" marR="0" algn="ctr">
                        <a:lnSpc>
                          <a:spcPct val="115000"/>
                        </a:lnSpc>
                        <a:spcAft>
                          <a:spcPts val="1000"/>
                        </a:spcAft>
                        <a:buNone/>
                      </a:pPr>
                      <a:r>
                        <a:rPr lang="en-US" sz="1200" dirty="0">
                          <a:effectLst/>
                        </a:rPr>
                        <a:t>HIGHLIGHT ACTIVITY</a:t>
                      </a:r>
                      <a:endParaRPr lang="en-US" sz="1200" dirty="0">
                        <a:effectLst/>
                        <a:latin typeface="+mn-lt"/>
                        <a:ea typeface="Calibri" panose="020F0502020204030204" pitchFamily="34" charset="0"/>
                        <a:cs typeface="Cordia New" panose="020B0304020202020204" pitchFamily="34" charset="-34"/>
                      </a:endParaRPr>
                    </a:p>
                  </a:txBody>
                  <a:tcPr marL="41972" marR="41972" marT="0" marB="0" anchor="ctr"/>
                </a:tc>
                <a:tc>
                  <a:txBody>
                    <a:bodyPr/>
                    <a:lstStyle/>
                    <a:p>
                      <a:pPr marL="0" marR="0" algn="ctr">
                        <a:lnSpc>
                          <a:spcPct val="115000"/>
                        </a:lnSpc>
                        <a:spcAft>
                          <a:spcPts val="1000"/>
                        </a:spcAft>
                        <a:buNone/>
                      </a:pPr>
                      <a:r>
                        <a:rPr lang="en-US" sz="1200">
                          <a:effectLst/>
                        </a:rPr>
                        <a:t>AREA</a:t>
                      </a:r>
                      <a:endParaRPr lang="en-US" sz="1200">
                        <a:effectLst/>
                        <a:latin typeface="+mn-lt"/>
                        <a:ea typeface="Calibri" panose="020F0502020204030204" pitchFamily="34" charset="0"/>
                        <a:cs typeface="Cordia New" panose="020B0304020202020204" pitchFamily="34" charset="-34"/>
                      </a:endParaRPr>
                    </a:p>
                  </a:txBody>
                  <a:tcPr marL="41972" marR="41972" marT="0" marB="0" anchor="ctr"/>
                </a:tc>
                <a:tc>
                  <a:txBody>
                    <a:bodyPr/>
                    <a:lstStyle/>
                    <a:p>
                      <a:pPr marL="0" marR="0" algn="ctr">
                        <a:lnSpc>
                          <a:spcPct val="115000"/>
                        </a:lnSpc>
                        <a:spcAft>
                          <a:spcPts val="1000"/>
                        </a:spcAft>
                        <a:buNone/>
                      </a:pPr>
                      <a:r>
                        <a:rPr lang="en-US" sz="1200" dirty="0">
                          <a:effectLst/>
                        </a:rPr>
                        <a:t>FUNCT.</a:t>
                      </a:r>
                      <a:endParaRPr lang="en-US" sz="1200" dirty="0">
                        <a:effectLst/>
                        <a:latin typeface="+mn-lt"/>
                        <a:ea typeface="Calibri" panose="020F0502020204030204" pitchFamily="34" charset="0"/>
                        <a:cs typeface="Cordia New" panose="020B0304020202020204" pitchFamily="34" charset="-34"/>
                      </a:endParaRPr>
                    </a:p>
                  </a:txBody>
                  <a:tcPr marL="41972" marR="41972" marT="0" marB="0" anchor="ctr"/>
                </a:tc>
                <a:tc>
                  <a:txBody>
                    <a:bodyPr/>
                    <a:lstStyle/>
                    <a:p>
                      <a:pPr marL="0" marR="0" algn="ctr">
                        <a:lnSpc>
                          <a:spcPct val="115000"/>
                        </a:lnSpc>
                        <a:spcAft>
                          <a:spcPts val="1000"/>
                        </a:spcAft>
                        <a:buNone/>
                      </a:pPr>
                      <a:r>
                        <a:rPr lang="en-US" sz="1200" dirty="0">
                          <a:effectLst/>
                        </a:rPr>
                        <a:t>PLAN START</a:t>
                      </a:r>
                      <a:endParaRPr lang="en-US" sz="1200" dirty="0">
                        <a:effectLst/>
                        <a:latin typeface="+mn-lt"/>
                        <a:ea typeface="Calibri" panose="020F0502020204030204" pitchFamily="34" charset="0"/>
                        <a:cs typeface="Cordia New" panose="020B0304020202020204" pitchFamily="34" charset="-34"/>
                      </a:endParaRPr>
                    </a:p>
                  </a:txBody>
                  <a:tcPr marL="41972" marR="41972" marT="0" marB="0" anchor="ctr"/>
                </a:tc>
                <a:tc>
                  <a:txBody>
                    <a:bodyPr/>
                    <a:lstStyle/>
                    <a:p>
                      <a:pPr marL="0" marR="0" algn="ctr">
                        <a:lnSpc>
                          <a:spcPct val="115000"/>
                        </a:lnSpc>
                        <a:spcAft>
                          <a:spcPts val="1000"/>
                        </a:spcAft>
                        <a:buNone/>
                      </a:pPr>
                      <a:r>
                        <a:rPr lang="en-US" sz="1200" dirty="0">
                          <a:effectLst/>
                        </a:rPr>
                        <a:t>PLAN FINISH</a:t>
                      </a:r>
                      <a:endParaRPr lang="en-US" sz="1200" dirty="0">
                        <a:effectLst/>
                        <a:latin typeface="+mn-lt"/>
                        <a:ea typeface="Calibri" panose="020F0502020204030204" pitchFamily="34" charset="0"/>
                        <a:cs typeface="Cordia New" panose="020B0304020202020204" pitchFamily="34" charset="-34"/>
                      </a:endParaRPr>
                    </a:p>
                  </a:txBody>
                  <a:tcPr marL="41972" marR="41972" marT="0" marB="0" anchor="ctr"/>
                </a:tc>
                <a:tc>
                  <a:txBody>
                    <a:bodyPr/>
                    <a:lstStyle/>
                    <a:p>
                      <a:pPr marL="0" marR="0" algn="ctr">
                        <a:lnSpc>
                          <a:spcPct val="115000"/>
                        </a:lnSpc>
                        <a:spcAft>
                          <a:spcPts val="1000"/>
                        </a:spcAft>
                        <a:buNone/>
                      </a:pPr>
                      <a:r>
                        <a:rPr lang="en-US" sz="1200" dirty="0">
                          <a:effectLst/>
                        </a:rPr>
                        <a:t>Remark</a:t>
                      </a:r>
                      <a:endParaRPr lang="en-US" sz="1200" dirty="0">
                        <a:effectLst/>
                        <a:latin typeface="+mn-lt"/>
                        <a:ea typeface="Calibri" panose="020F0502020204030204" pitchFamily="34" charset="0"/>
                        <a:cs typeface="Cordia New" panose="020B0304020202020204" pitchFamily="34" charset="-34"/>
                      </a:endParaRPr>
                    </a:p>
                  </a:txBody>
                  <a:tcPr marL="41972" marR="41972" marT="0" marB="0" anchor="ctr"/>
                </a:tc>
                <a:extLst>
                  <a:ext uri="{0D108BD9-81ED-4DB2-BD59-A6C34878D82A}">
                    <a16:rowId xmlns:a16="http://schemas.microsoft.com/office/drawing/2014/main" val="3437152421"/>
                  </a:ext>
                </a:extLst>
              </a:tr>
              <a:tr h="126759">
                <a:tc>
                  <a:txBody>
                    <a:bodyPr/>
                    <a:lstStyle/>
                    <a:p>
                      <a:pPr algn="ctr" fontAlgn="b">
                        <a:buNone/>
                      </a:pPr>
                      <a:r>
                        <a:rPr lang="en-US" sz="1200" b="1" i="0" u="none" strike="noStrike" dirty="0">
                          <a:solidFill>
                            <a:schemeClr val="bg1"/>
                          </a:solidFill>
                          <a:effectLst/>
                          <a:latin typeface="Aptos Narrow" panose="020B0004020202020204" pitchFamily="34" charset="0"/>
                        </a:rPr>
                        <a:t>18</a:t>
                      </a:r>
                    </a:p>
                  </a:txBody>
                  <a:tcPr marL="7620" marR="7620" marT="7620" marB="0" anchor="b"/>
                </a:tc>
                <a:tc>
                  <a:txBody>
                    <a:bodyPr/>
                    <a:lstStyle/>
                    <a:p>
                      <a:pPr algn="l" fontAlgn="ctr">
                        <a:buNone/>
                      </a:pPr>
                      <a:r>
                        <a:rPr lang="en-US" sz="1200" b="0" i="0" u="none" strike="noStrike" dirty="0">
                          <a:solidFill>
                            <a:schemeClr val="tx1"/>
                          </a:solidFill>
                          <a:effectLst/>
                          <a:latin typeface="+mn-lt"/>
                        </a:rPr>
                        <a:t>Replace UPS Parts and Battery Charger </a:t>
                      </a:r>
                    </a:p>
                  </a:txBody>
                  <a:tcPr marL="7620" marR="7620" marT="7620" marB="0" anchor="ctr"/>
                </a:tc>
                <a:tc>
                  <a:txBody>
                    <a:bodyPr/>
                    <a:lstStyle/>
                    <a:p>
                      <a:pPr algn="ctr" fontAlgn="ctr">
                        <a:buNone/>
                      </a:pPr>
                      <a:r>
                        <a:rPr lang="en-US" sz="1200" b="0" i="0" u="none" strike="noStrike" dirty="0">
                          <a:solidFill>
                            <a:schemeClr val="tx1"/>
                          </a:solidFill>
                          <a:effectLst/>
                          <a:latin typeface="+mn-lt"/>
                        </a:rPr>
                        <a:t>Dayung, Sumpal,</a:t>
                      </a:r>
                    </a:p>
                  </a:txBody>
                  <a:tcPr marL="7620" marR="7620" marT="7620" marB="0" anchor="ctr"/>
                </a:tc>
                <a:tc>
                  <a:txBody>
                    <a:bodyPr/>
                    <a:lstStyle/>
                    <a:p>
                      <a:pPr algn="ctr" fontAlgn="ctr">
                        <a:buNone/>
                      </a:pPr>
                      <a:r>
                        <a:rPr lang="en-US" sz="1200" b="0" i="0" u="none" strike="noStrike" dirty="0">
                          <a:solidFill>
                            <a:schemeClr val="tx1"/>
                          </a:solidFill>
                          <a:effectLst/>
                          <a:latin typeface="+mn-lt"/>
                        </a:rPr>
                        <a:t>M&amp;R</a:t>
                      </a:r>
                    </a:p>
                  </a:txBody>
                  <a:tcPr marL="7620" marR="7620" marT="7620" marB="0" anchor="ctr"/>
                </a:tc>
                <a:tc>
                  <a:txBody>
                    <a:bodyPr/>
                    <a:lstStyle/>
                    <a:p>
                      <a:pPr algn="ctr" fontAlgn="ctr">
                        <a:buNone/>
                      </a:pPr>
                      <a:r>
                        <a:rPr lang="en-US" sz="1200" b="0" i="0" u="none" strike="noStrike" dirty="0">
                          <a:solidFill>
                            <a:schemeClr val="tx1"/>
                          </a:solidFill>
                          <a:effectLst/>
                          <a:latin typeface="+mn-lt"/>
                        </a:rPr>
                        <a:t>7-Jun</a:t>
                      </a:r>
                    </a:p>
                  </a:txBody>
                  <a:tcPr marL="7620" marR="7620" marT="7620" marB="0" anchor="ctr"/>
                </a:tc>
                <a:tc>
                  <a:txBody>
                    <a:bodyPr/>
                    <a:lstStyle/>
                    <a:p>
                      <a:pPr algn="ctr" fontAlgn="ctr">
                        <a:buNone/>
                      </a:pPr>
                      <a:r>
                        <a:rPr lang="en-US" sz="1200" b="0" i="0" u="none" strike="noStrike" dirty="0">
                          <a:solidFill>
                            <a:schemeClr val="tx1"/>
                          </a:solidFill>
                          <a:effectLst/>
                          <a:latin typeface="+mn-lt"/>
                        </a:rPr>
                        <a:t>21-Jun</a:t>
                      </a:r>
                    </a:p>
                  </a:txBody>
                  <a:tcPr marL="7620" marR="7620" marT="7620" marB="0" anchor="ctr"/>
                </a:tc>
                <a:tc>
                  <a:txBody>
                    <a:bodyPr/>
                    <a:lstStyle/>
                    <a:p>
                      <a:pPr algn="ctr" fontAlgn="b">
                        <a:buNone/>
                      </a:pPr>
                      <a:r>
                        <a:rPr lang="en-US" sz="1200" b="0" i="0" u="none" strike="noStrike" dirty="0">
                          <a:solidFill>
                            <a:schemeClr val="tx1"/>
                          </a:solidFill>
                          <a:effectLst/>
                          <a:latin typeface="+mn-lt"/>
                        </a:rPr>
                        <a:t>Delay</a:t>
                      </a:r>
                    </a:p>
                  </a:txBody>
                  <a:tcPr marL="7620" marR="7620" marT="7620" marB="0" anchor="b"/>
                </a:tc>
                <a:extLst>
                  <a:ext uri="{0D108BD9-81ED-4DB2-BD59-A6C34878D82A}">
                    <a16:rowId xmlns:a16="http://schemas.microsoft.com/office/drawing/2014/main" val="2538297749"/>
                  </a:ext>
                </a:extLst>
              </a:tr>
              <a:tr h="0">
                <a:tc>
                  <a:txBody>
                    <a:bodyPr/>
                    <a:lstStyle/>
                    <a:p>
                      <a:pPr algn="ctr" fontAlgn="b">
                        <a:buNone/>
                      </a:pPr>
                      <a:r>
                        <a:rPr lang="en-US" sz="1200" b="1" i="0" u="none" strike="noStrike">
                          <a:solidFill>
                            <a:schemeClr val="bg1"/>
                          </a:solidFill>
                          <a:effectLst/>
                          <a:latin typeface="Aptos Narrow" panose="020B0004020202020204" pitchFamily="34" charset="0"/>
                        </a:rPr>
                        <a:t>19</a:t>
                      </a:r>
                    </a:p>
                  </a:txBody>
                  <a:tcPr marL="7620" marR="7620" marT="7620" marB="0" anchor="b"/>
                </a:tc>
                <a:tc>
                  <a:txBody>
                    <a:bodyPr/>
                    <a:lstStyle/>
                    <a:p>
                      <a:pPr algn="l" fontAlgn="ctr">
                        <a:buNone/>
                      </a:pPr>
                      <a:r>
                        <a:rPr lang="en-US" sz="1200" b="0" i="0" u="none" strike="noStrike" dirty="0">
                          <a:solidFill>
                            <a:schemeClr val="tx1"/>
                          </a:solidFill>
                          <a:effectLst/>
                          <a:latin typeface="+mn-lt"/>
                        </a:rPr>
                        <a:t>Rejuvenation phase-2 GC C6+ Grissik</a:t>
                      </a:r>
                    </a:p>
                  </a:txBody>
                  <a:tcPr marL="7620" marR="7620" marT="7620" marB="0" anchor="ctr"/>
                </a:tc>
                <a:tc>
                  <a:txBody>
                    <a:bodyPr/>
                    <a:lstStyle/>
                    <a:p>
                      <a:pPr algn="ctr" fontAlgn="ctr">
                        <a:buNone/>
                      </a:pPr>
                      <a:r>
                        <a:rPr lang="en-US" sz="1200" b="0" i="0" u="none" strike="noStrike" dirty="0">
                          <a:solidFill>
                            <a:schemeClr val="tx1"/>
                          </a:solidFill>
                          <a:effectLst/>
                          <a:latin typeface="+mn-lt"/>
                        </a:rPr>
                        <a:t>Grissik</a:t>
                      </a:r>
                    </a:p>
                  </a:txBody>
                  <a:tcPr marL="7620" marR="7620" marT="7620" marB="0" anchor="ctr"/>
                </a:tc>
                <a:tc>
                  <a:txBody>
                    <a:bodyPr/>
                    <a:lstStyle/>
                    <a:p>
                      <a:pPr algn="ctr" fontAlgn="ctr">
                        <a:buNone/>
                      </a:pPr>
                      <a:r>
                        <a:rPr lang="en-US" sz="1200" b="0" i="0" u="none" strike="noStrike" dirty="0">
                          <a:solidFill>
                            <a:schemeClr val="tx1"/>
                          </a:solidFill>
                          <a:effectLst/>
                          <a:latin typeface="+mn-lt"/>
                        </a:rPr>
                        <a:t>M&amp;R</a:t>
                      </a:r>
                    </a:p>
                  </a:txBody>
                  <a:tcPr marL="7620" marR="7620" marT="7620" marB="0" anchor="ctr"/>
                </a:tc>
                <a:tc>
                  <a:txBody>
                    <a:bodyPr/>
                    <a:lstStyle/>
                    <a:p>
                      <a:pPr algn="ctr" fontAlgn="ctr">
                        <a:buNone/>
                      </a:pPr>
                      <a:r>
                        <a:rPr lang="en-US" sz="1300" b="0" i="0" u="none" strike="noStrike" kern="1200" dirty="0">
                          <a:solidFill>
                            <a:schemeClr val="tx1"/>
                          </a:solidFill>
                          <a:effectLst/>
                          <a:latin typeface="+mn-lt"/>
                        </a:rPr>
                        <a:t>8-Jun</a:t>
                      </a:r>
                      <a:endParaRPr lang="en-US" sz="1300" b="0" i="0" u="none" strike="noStrike" dirty="0">
                        <a:solidFill>
                          <a:schemeClr val="tx1"/>
                        </a:solidFill>
                        <a:effectLst/>
                        <a:latin typeface="+mn-lt"/>
                      </a:endParaRPr>
                    </a:p>
                  </a:txBody>
                  <a:tcPr marL="7620" marR="7620" marT="7620" marB="0" anchor="ctr"/>
                </a:tc>
                <a:tc>
                  <a:txBody>
                    <a:bodyPr/>
                    <a:lstStyle/>
                    <a:p>
                      <a:pPr algn="ctr" fontAlgn="ctr">
                        <a:buNone/>
                      </a:pPr>
                      <a:r>
                        <a:rPr lang="en-US" sz="1300" b="0" i="0" u="none" strike="noStrike" kern="1200" dirty="0">
                          <a:solidFill>
                            <a:schemeClr val="tx1"/>
                          </a:solidFill>
                          <a:effectLst/>
                          <a:latin typeface="+mn-lt"/>
                        </a:rPr>
                        <a:t>29-Jun</a:t>
                      </a:r>
                      <a:endParaRPr lang="en-US" sz="1300" b="0" i="0" u="none" strike="noStrike" dirty="0">
                        <a:solidFill>
                          <a:schemeClr val="tx1"/>
                        </a:solidFill>
                        <a:effectLst/>
                        <a:latin typeface="+mn-lt"/>
                      </a:endParaRPr>
                    </a:p>
                  </a:txBody>
                  <a:tcPr marL="7620" marR="7620" marT="7620" marB="0" anchor="ctr"/>
                </a:tc>
                <a:tc>
                  <a:txBody>
                    <a:bodyPr/>
                    <a:lstStyle/>
                    <a:p>
                      <a:pPr algn="ctr" fontAlgn="b">
                        <a:buNone/>
                      </a:pPr>
                      <a:r>
                        <a:rPr lang="en-US" sz="1200" b="0" i="0" u="none" strike="noStrike" dirty="0">
                          <a:solidFill>
                            <a:schemeClr val="tx1"/>
                          </a:solidFill>
                          <a:effectLst/>
                          <a:latin typeface="+mn-lt"/>
                        </a:rPr>
                        <a:t>Completed</a:t>
                      </a:r>
                    </a:p>
                  </a:txBody>
                  <a:tcPr marL="7620" marR="7620" marT="7620" marB="0" anchor="b"/>
                </a:tc>
                <a:extLst>
                  <a:ext uri="{0D108BD9-81ED-4DB2-BD59-A6C34878D82A}">
                    <a16:rowId xmlns:a16="http://schemas.microsoft.com/office/drawing/2014/main" val="3004397957"/>
                  </a:ext>
                </a:extLst>
              </a:tr>
              <a:tr h="130491">
                <a:tc>
                  <a:txBody>
                    <a:bodyPr/>
                    <a:lstStyle/>
                    <a:p>
                      <a:pPr algn="ctr" fontAlgn="b">
                        <a:buNone/>
                      </a:pPr>
                      <a:r>
                        <a:rPr lang="en-US" sz="1200" b="1" i="0" u="none" strike="noStrike">
                          <a:solidFill>
                            <a:schemeClr val="bg1"/>
                          </a:solidFill>
                          <a:effectLst/>
                          <a:latin typeface="Aptos Narrow" panose="020B0004020202020204" pitchFamily="34" charset="0"/>
                        </a:rPr>
                        <a:t>20</a:t>
                      </a:r>
                    </a:p>
                  </a:txBody>
                  <a:tcPr marL="7620" marR="7620" marT="7620" marB="0" anchor="b"/>
                </a:tc>
                <a:tc>
                  <a:txBody>
                    <a:bodyPr/>
                    <a:lstStyle/>
                    <a:p>
                      <a:pPr algn="l" fontAlgn="ctr">
                        <a:buNone/>
                      </a:pPr>
                      <a:r>
                        <a:rPr lang="en-US" sz="1200" b="0" i="0" u="none" strike="noStrike" dirty="0">
                          <a:solidFill>
                            <a:schemeClr val="tx1"/>
                          </a:solidFill>
                          <a:effectLst/>
                          <a:latin typeface="+mn-lt"/>
                        </a:rPr>
                        <a:t>Continue commissioning auto synch GEG-PLN VV</a:t>
                      </a:r>
                    </a:p>
                  </a:txBody>
                  <a:tcPr marL="7620" marR="7620" marT="7620" marB="0" anchor="ctr"/>
                </a:tc>
                <a:tc>
                  <a:txBody>
                    <a:bodyPr/>
                    <a:lstStyle/>
                    <a:p>
                      <a:pPr algn="ctr" fontAlgn="ctr">
                        <a:buNone/>
                      </a:pPr>
                      <a:r>
                        <a:rPr lang="en-US" sz="1200" b="0" i="0" u="none" strike="noStrike">
                          <a:solidFill>
                            <a:schemeClr val="tx1"/>
                          </a:solidFill>
                          <a:effectLst/>
                          <a:latin typeface="+mn-lt"/>
                        </a:rPr>
                        <a:t>Rawa</a:t>
                      </a:r>
                    </a:p>
                  </a:txBody>
                  <a:tcPr marL="7620" marR="7620" marT="7620" marB="0" anchor="ctr"/>
                </a:tc>
                <a:tc>
                  <a:txBody>
                    <a:bodyPr/>
                    <a:lstStyle/>
                    <a:p>
                      <a:pPr algn="ctr" fontAlgn="ctr">
                        <a:buNone/>
                      </a:pPr>
                      <a:r>
                        <a:rPr lang="en-US" sz="1200" b="0" i="0" u="none" strike="noStrike">
                          <a:solidFill>
                            <a:schemeClr val="tx1"/>
                          </a:solidFill>
                          <a:effectLst/>
                          <a:latin typeface="+mn-lt"/>
                        </a:rPr>
                        <a:t>M&amp;R</a:t>
                      </a:r>
                    </a:p>
                  </a:txBody>
                  <a:tcPr marL="7620" marR="7620" marT="7620" marB="0" anchor="ctr"/>
                </a:tc>
                <a:tc>
                  <a:txBody>
                    <a:bodyPr/>
                    <a:lstStyle/>
                    <a:p>
                      <a:pPr algn="ctr" fontAlgn="ctr">
                        <a:buNone/>
                      </a:pPr>
                      <a:r>
                        <a:rPr lang="en-US" sz="1200" b="0" i="0" u="none" strike="noStrike">
                          <a:solidFill>
                            <a:schemeClr val="tx1"/>
                          </a:solidFill>
                          <a:effectLst/>
                          <a:latin typeface="+mn-lt"/>
                        </a:rPr>
                        <a:t>7-Jun</a:t>
                      </a:r>
                    </a:p>
                  </a:txBody>
                  <a:tcPr marL="7620" marR="7620" marT="7620" marB="0" anchor="ctr"/>
                </a:tc>
                <a:tc>
                  <a:txBody>
                    <a:bodyPr/>
                    <a:lstStyle/>
                    <a:p>
                      <a:pPr algn="ctr" fontAlgn="ctr">
                        <a:buNone/>
                      </a:pPr>
                      <a:r>
                        <a:rPr lang="en-US" sz="1200" b="0" i="0" u="none" strike="noStrike">
                          <a:solidFill>
                            <a:schemeClr val="tx1"/>
                          </a:solidFill>
                          <a:effectLst/>
                          <a:latin typeface="+mn-lt"/>
                        </a:rPr>
                        <a:t>30-Jun</a:t>
                      </a:r>
                    </a:p>
                  </a:txBody>
                  <a:tcPr marL="7620" marR="7620" marT="7620" marB="0" anchor="ctr"/>
                </a:tc>
                <a:tc>
                  <a:txBody>
                    <a:bodyPr/>
                    <a:lstStyle/>
                    <a:p>
                      <a:pPr algn="ctr" fontAlgn="b">
                        <a:buNone/>
                      </a:pPr>
                      <a:r>
                        <a:rPr lang="en-US" sz="1200" b="0" i="0" u="none" strike="noStrike" dirty="0">
                          <a:solidFill>
                            <a:schemeClr val="tx1"/>
                          </a:solidFill>
                          <a:effectLst/>
                          <a:latin typeface="+mn-lt"/>
                        </a:rPr>
                        <a:t>Completed</a:t>
                      </a:r>
                    </a:p>
                  </a:txBody>
                  <a:tcPr marL="7620" marR="7620" marT="7620" marB="0" anchor="b"/>
                </a:tc>
                <a:extLst>
                  <a:ext uri="{0D108BD9-81ED-4DB2-BD59-A6C34878D82A}">
                    <a16:rowId xmlns:a16="http://schemas.microsoft.com/office/drawing/2014/main" val="1275726859"/>
                  </a:ext>
                </a:extLst>
              </a:tr>
              <a:tr h="130491">
                <a:tc>
                  <a:txBody>
                    <a:bodyPr/>
                    <a:lstStyle/>
                    <a:p>
                      <a:pPr algn="ctr" fontAlgn="b">
                        <a:buNone/>
                      </a:pPr>
                      <a:r>
                        <a:rPr lang="en-US" sz="1200" b="1" i="0" u="none" strike="noStrike">
                          <a:solidFill>
                            <a:schemeClr val="bg1"/>
                          </a:solidFill>
                          <a:effectLst/>
                          <a:latin typeface="Aptos Narrow" panose="020B0004020202020204" pitchFamily="34" charset="0"/>
                        </a:rPr>
                        <a:t>21</a:t>
                      </a:r>
                    </a:p>
                  </a:txBody>
                  <a:tcPr marL="7620" marR="7620" marT="7620" marB="0" anchor="b"/>
                </a:tc>
                <a:tc>
                  <a:txBody>
                    <a:bodyPr/>
                    <a:lstStyle/>
                    <a:p>
                      <a:pPr algn="l" fontAlgn="ctr">
                        <a:buNone/>
                      </a:pPr>
                      <a:r>
                        <a:rPr lang="en-US" sz="1200" b="0" i="0" u="none" strike="noStrike" dirty="0">
                          <a:solidFill>
                            <a:schemeClr val="tx1"/>
                          </a:solidFill>
                          <a:effectLst/>
                          <a:latin typeface="+mn-lt"/>
                        </a:rPr>
                        <a:t>Internal cleaning cooler Dayung (Project Sambar)</a:t>
                      </a:r>
                    </a:p>
                  </a:txBody>
                  <a:tcPr marL="7620" marR="7620" marT="7620" marB="0" anchor="ctr"/>
                </a:tc>
                <a:tc>
                  <a:txBody>
                    <a:bodyPr/>
                    <a:lstStyle/>
                    <a:p>
                      <a:pPr algn="ctr" fontAlgn="ctr">
                        <a:buNone/>
                      </a:pPr>
                      <a:r>
                        <a:rPr lang="en-US" sz="1200" b="0" i="0" u="none" strike="noStrike" dirty="0" err="1">
                          <a:solidFill>
                            <a:schemeClr val="tx1"/>
                          </a:solidFill>
                          <a:effectLst/>
                          <a:latin typeface="+mn-lt"/>
                        </a:rPr>
                        <a:t>Dayung</a:t>
                      </a:r>
                      <a:endParaRPr lang="en-US" sz="1200" b="0" i="0" u="none" strike="noStrike" dirty="0">
                        <a:solidFill>
                          <a:schemeClr val="tx1"/>
                        </a:solidFill>
                        <a:effectLst/>
                        <a:latin typeface="+mn-lt"/>
                      </a:endParaRPr>
                    </a:p>
                  </a:txBody>
                  <a:tcPr marL="7620" marR="7620" marT="7620" marB="0" anchor="ctr"/>
                </a:tc>
                <a:tc>
                  <a:txBody>
                    <a:bodyPr/>
                    <a:lstStyle/>
                    <a:p>
                      <a:pPr algn="ctr" fontAlgn="ctr">
                        <a:buNone/>
                      </a:pPr>
                      <a:r>
                        <a:rPr lang="en-US" sz="1200" b="0" i="0" u="none" strike="noStrike" dirty="0">
                          <a:solidFill>
                            <a:schemeClr val="tx1"/>
                          </a:solidFill>
                          <a:effectLst/>
                          <a:latin typeface="+mn-lt"/>
                        </a:rPr>
                        <a:t>MECH</a:t>
                      </a:r>
                    </a:p>
                  </a:txBody>
                  <a:tcPr marL="7620" marR="7620" marT="7620" marB="0" anchor="ctr"/>
                </a:tc>
                <a:tc>
                  <a:txBody>
                    <a:bodyPr/>
                    <a:lstStyle/>
                    <a:p>
                      <a:pPr algn="ctr" fontAlgn="ctr">
                        <a:buNone/>
                      </a:pPr>
                      <a:r>
                        <a:rPr lang="en-US" sz="1200" b="0" i="0" u="none" strike="noStrike" dirty="0">
                          <a:solidFill>
                            <a:schemeClr val="tx1"/>
                          </a:solidFill>
                          <a:effectLst/>
                          <a:latin typeface="+mn-lt"/>
                        </a:rPr>
                        <a:t>1-Jun</a:t>
                      </a:r>
                    </a:p>
                  </a:txBody>
                  <a:tcPr marL="7620" marR="7620" marT="7620" marB="0" anchor="ctr"/>
                </a:tc>
                <a:tc>
                  <a:txBody>
                    <a:bodyPr/>
                    <a:lstStyle/>
                    <a:p>
                      <a:pPr algn="ctr" fontAlgn="ctr">
                        <a:buNone/>
                      </a:pPr>
                      <a:r>
                        <a:rPr lang="en-US" sz="1200" b="0" i="0" u="none" strike="noStrike" dirty="0">
                          <a:solidFill>
                            <a:schemeClr val="tx1"/>
                          </a:solidFill>
                          <a:effectLst/>
                          <a:latin typeface="+mn-lt"/>
                        </a:rPr>
                        <a:t>30-Jun</a:t>
                      </a:r>
                    </a:p>
                  </a:txBody>
                  <a:tcPr marL="7620" marR="7620" marT="7620" marB="0" anchor="ctr"/>
                </a:tc>
                <a:tc>
                  <a:txBody>
                    <a:bodyPr/>
                    <a:lstStyle/>
                    <a:p>
                      <a:pPr algn="ctr" fontAlgn="b">
                        <a:buNone/>
                      </a:pPr>
                      <a:r>
                        <a:rPr lang="en-US" sz="1200" b="0" i="0" u="none" strike="noStrike" dirty="0">
                          <a:solidFill>
                            <a:schemeClr val="tx1"/>
                          </a:solidFill>
                          <a:effectLst/>
                          <a:latin typeface="+mn-lt"/>
                        </a:rPr>
                        <a:t>Continue</a:t>
                      </a:r>
                    </a:p>
                  </a:txBody>
                  <a:tcPr marL="7620" marR="7620" marT="7620" marB="0" anchor="b"/>
                </a:tc>
                <a:extLst>
                  <a:ext uri="{0D108BD9-81ED-4DB2-BD59-A6C34878D82A}">
                    <a16:rowId xmlns:a16="http://schemas.microsoft.com/office/drawing/2014/main" val="3741695180"/>
                  </a:ext>
                </a:extLst>
              </a:tr>
              <a:tr h="274599">
                <a:tc>
                  <a:txBody>
                    <a:bodyPr/>
                    <a:lstStyle/>
                    <a:p>
                      <a:pPr algn="ctr" fontAlgn="b">
                        <a:buNone/>
                      </a:pPr>
                      <a:r>
                        <a:rPr lang="en-US" sz="1200" b="1" i="0" u="none" strike="noStrike">
                          <a:solidFill>
                            <a:schemeClr val="bg1"/>
                          </a:solidFill>
                          <a:effectLst/>
                          <a:latin typeface="Aptos Narrow" panose="020B0004020202020204" pitchFamily="34" charset="0"/>
                        </a:rPr>
                        <a:t>22</a:t>
                      </a:r>
                    </a:p>
                  </a:txBody>
                  <a:tcPr marL="7620" marR="7620" marT="7620" marB="0" anchor="b"/>
                </a:tc>
                <a:tc>
                  <a:txBody>
                    <a:bodyPr/>
                    <a:lstStyle/>
                    <a:p>
                      <a:pPr algn="l" fontAlgn="ctr">
                        <a:buNone/>
                      </a:pPr>
                      <a:r>
                        <a:rPr lang="en-US" sz="1200" b="0" i="0" u="none" strike="noStrike" dirty="0">
                          <a:solidFill>
                            <a:schemeClr val="tx1"/>
                          </a:solidFill>
                          <a:effectLst/>
                          <a:latin typeface="+mn-lt"/>
                        </a:rPr>
                        <a:t>Overhaul Genset water well#6 Dayung</a:t>
                      </a:r>
                    </a:p>
                  </a:txBody>
                  <a:tcPr marL="7620" marR="7620" marT="7620" marB="0" anchor="ctr"/>
                </a:tc>
                <a:tc>
                  <a:txBody>
                    <a:bodyPr/>
                    <a:lstStyle/>
                    <a:p>
                      <a:pPr algn="ctr" fontAlgn="ctr">
                        <a:buNone/>
                      </a:pPr>
                      <a:r>
                        <a:rPr lang="en-US" sz="1200" b="0" i="0" u="none" strike="noStrike" dirty="0">
                          <a:solidFill>
                            <a:schemeClr val="tx1"/>
                          </a:solidFill>
                          <a:effectLst/>
                          <a:latin typeface="+mn-lt"/>
                        </a:rPr>
                        <a:t>Dayung</a:t>
                      </a:r>
                    </a:p>
                  </a:txBody>
                  <a:tcPr marL="7620" marR="7620" marT="7620" marB="0" anchor="ctr"/>
                </a:tc>
                <a:tc>
                  <a:txBody>
                    <a:bodyPr/>
                    <a:lstStyle/>
                    <a:p>
                      <a:pPr algn="ctr" fontAlgn="ctr">
                        <a:buNone/>
                      </a:pPr>
                      <a:r>
                        <a:rPr lang="en-US" sz="1200" b="0" i="0" u="none" strike="noStrike" dirty="0">
                          <a:solidFill>
                            <a:schemeClr val="tx1"/>
                          </a:solidFill>
                          <a:effectLst/>
                          <a:latin typeface="+mn-lt"/>
                        </a:rPr>
                        <a:t>MECH</a:t>
                      </a:r>
                    </a:p>
                  </a:txBody>
                  <a:tcPr marL="7620" marR="7620" marT="7620" marB="0" anchor="ctr"/>
                </a:tc>
                <a:tc>
                  <a:txBody>
                    <a:bodyPr/>
                    <a:lstStyle/>
                    <a:p>
                      <a:pPr algn="ctr" fontAlgn="ctr">
                        <a:buNone/>
                      </a:pPr>
                      <a:r>
                        <a:rPr lang="en-US" sz="1200" b="0" i="0" u="none" strike="noStrike" dirty="0">
                          <a:solidFill>
                            <a:schemeClr val="tx1"/>
                          </a:solidFill>
                          <a:effectLst/>
                          <a:latin typeface="+mn-lt"/>
                        </a:rPr>
                        <a:t>14-Jun</a:t>
                      </a:r>
                    </a:p>
                  </a:txBody>
                  <a:tcPr marL="7620" marR="7620" marT="7620" marB="0" anchor="ctr"/>
                </a:tc>
                <a:tc>
                  <a:txBody>
                    <a:bodyPr/>
                    <a:lstStyle/>
                    <a:p>
                      <a:pPr algn="ctr" fontAlgn="ctr">
                        <a:buNone/>
                      </a:pPr>
                      <a:r>
                        <a:rPr lang="en-US" sz="1200" b="0" i="0" u="none" strike="noStrike" dirty="0">
                          <a:solidFill>
                            <a:schemeClr val="tx1"/>
                          </a:solidFill>
                          <a:effectLst/>
                          <a:latin typeface="+mn-lt"/>
                        </a:rPr>
                        <a:t>30-Jun</a:t>
                      </a:r>
                    </a:p>
                  </a:txBody>
                  <a:tcPr marL="7620" marR="7620" marT="7620" marB="0" anchor="ctr"/>
                </a:tc>
                <a:tc>
                  <a:txBody>
                    <a:bodyPr/>
                    <a:lstStyle/>
                    <a:p>
                      <a:pPr algn="ctr" fontAlgn="b">
                        <a:buNone/>
                      </a:pPr>
                      <a:r>
                        <a:rPr lang="en-US" sz="1200" b="0" i="0" u="none" strike="noStrike" dirty="0">
                          <a:solidFill>
                            <a:schemeClr val="tx1"/>
                          </a:solidFill>
                          <a:effectLst/>
                          <a:latin typeface="+mn-lt"/>
                        </a:rPr>
                        <a:t>Continue</a:t>
                      </a:r>
                    </a:p>
                  </a:txBody>
                  <a:tcPr marL="7620" marR="7620" marT="7620" marB="0" anchor="b"/>
                </a:tc>
                <a:extLst>
                  <a:ext uri="{0D108BD9-81ED-4DB2-BD59-A6C34878D82A}">
                    <a16:rowId xmlns:a16="http://schemas.microsoft.com/office/drawing/2014/main" val="2891278781"/>
                  </a:ext>
                </a:extLst>
              </a:tr>
              <a:tr h="226414">
                <a:tc>
                  <a:txBody>
                    <a:bodyPr/>
                    <a:lstStyle/>
                    <a:p>
                      <a:pPr algn="ctr" fontAlgn="b">
                        <a:buNone/>
                      </a:pPr>
                      <a:r>
                        <a:rPr lang="en-US" sz="1200" b="1" i="0" u="none" strike="noStrike" dirty="0">
                          <a:solidFill>
                            <a:schemeClr val="bg1"/>
                          </a:solidFill>
                          <a:effectLst/>
                          <a:latin typeface="Aptos Narrow" panose="020B0004020202020204" pitchFamily="34" charset="0"/>
                        </a:rPr>
                        <a:t>23</a:t>
                      </a:r>
                    </a:p>
                  </a:txBody>
                  <a:tcPr marL="7620" marR="7620" marT="7620" marB="0" anchor="b"/>
                </a:tc>
                <a:tc>
                  <a:txBody>
                    <a:bodyPr/>
                    <a:lstStyle/>
                    <a:p>
                      <a:pPr algn="l" fontAlgn="ctr">
                        <a:buNone/>
                      </a:pPr>
                      <a:r>
                        <a:rPr lang="en-US" sz="1200" b="0" i="0" u="none" strike="noStrike" dirty="0">
                          <a:solidFill>
                            <a:schemeClr val="tx1"/>
                          </a:solidFill>
                          <a:effectLst/>
                          <a:latin typeface="+mn-lt"/>
                        </a:rPr>
                        <a:t>Follow up Seepage on Degassing KO Drum Inlet Produce Water Tank-1</a:t>
                      </a:r>
                    </a:p>
                  </a:txBody>
                  <a:tcPr marL="7620" marR="7620" marT="7620" marB="0" anchor="ctr"/>
                </a:tc>
                <a:tc>
                  <a:txBody>
                    <a:bodyPr/>
                    <a:lstStyle/>
                    <a:p>
                      <a:pPr algn="ctr" fontAlgn="ctr">
                        <a:buNone/>
                      </a:pPr>
                      <a:r>
                        <a:rPr lang="en-US" sz="1200" b="0" i="0" u="none" strike="noStrike" dirty="0" err="1">
                          <a:solidFill>
                            <a:schemeClr val="tx1"/>
                          </a:solidFill>
                          <a:effectLst/>
                          <a:latin typeface="+mn-lt"/>
                        </a:rPr>
                        <a:t>Sumpal</a:t>
                      </a:r>
                      <a:endParaRPr lang="en-US" sz="1200" b="0" i="0" u="none" strike="noStrike" dirty="0">
                        <a:solidFill>
                          <a:schemeClr val="tx1"/>
                        </a:solidFill>
                        <a:effectLst/>
                        <a:latin typeface="+mn-lt"/>
                      </a:endParaRPr>
                    </a:p>
                  </a:txBody>
                  <a:tcPr marL="7620" marR="7620" marT="7620" marB="0" anchor="ctr"/>
                </a:tc>
                <a:tc>
                  <a:txBody>
                    <a:bodyPr/>
                    <a:lstStyle/>
                    <a:p>
                      <a:pPr algn="ctr" fontAlgn="ctr">
                        <a:buNone/>
                      </a:pPr>
                      <a:r>
                        <a:rPr lang="en-US" sz="1200" b="0" i="0" u="none" strike="noStrike" dirty="0">
                          <a:solidFill>
                            <a:schemeClr val="tx1"/>
                          </a:solidFill>
                          <a:effectLst/>
                          <a:latin typeface="+mn-lt"/>
                        </a:rPr>
                        <a:t>MECH</a:t>
                      </a:r>
                    </a:p>
                  </a:txBody>
                  <a:tcPr marL="7620" marR="7620" marT="7620" marB="0" anchor="ctr"/>
                </a:tc>
                <a:tc>
                  <a:txBody>
                    <a:bodyPr/>
                    <a:lstStyle/>
                    <a:p>
                      <a:pPr algn="ctr" fontAlgn="ctr">
                        <a:buNone/>
                      </a:pPr>
                      <a:r>
                        <a:rPr lang="en-US" sz="1200" b="0" i="0" u="none" strike="noStrike" dirty="0">
                          <a:solidFill>
                            <a:schemeClr val="tx1"/>
                          </a:solidFill>
                          <a:effectLst/>
                          <a:latin typeface="+mn-lt"/>
                        </a:rPr>
                        <a:t>1-Jun</a:t>
                      </a:r>
                    </a:p>
                  </a:txBody>
                  <a:tcPr marL="7620" marR="7620" marT="7620" marB="0" anchor="ctr"/>
                </a:tc>
                <a:tc>
                  <a:txBody>
                    <a:bodyPr/>
                    <a:lstStyle/>
                    <a:p>
                      <a:pPr algn="ctr" fontAlgn="b">
                        <a:buNone/>
                      </a:pPr>
                      <a:r>
                        <a:rPr lang="en-US" sz="1200" b="0" i="0" u="none" strike="noStrike" dirty="0">
                          <a:solidFill>
                            <a:schemeClr val="tx1"/>
                          </a:solidFill>
                          <a:effectLst/>
                          <a:latin typeface="+mn-lt"/>
                        </a:rPr>
                        <a:t>30-Jun</a:t>
                      </a:r>
                    </a:p>
                  </a:txBody>
                  <a:tcPr marL="7620" marR="7620" marT="7620" marB="0" anchor="b"/>
                </a:tc>
                <a:tc>
                  <a:txBody>
                    <a:bodyPr/>
                    <a:lstStyle/>
                    <a:p>
                      <a:pPr algn="ctr" fontAlgn="b">
                        <a:buNone/>
                      </a:pPr>
                      <a:r>
                        <a:rPr lang="en-US" sz="1200" b="0" i="0" u="none" strike="noStrike" dirty="0">
                          <a:solidFill>
                            <a:schemeClr val="tx1"/>
                          </a:solidFill>
                          <a:effectLst/>
                          <a:latin typeface="+mn-lt"/>
                        </a:rPr>
                        <a:t>Completed</a:t>
                      </a:r>
                    </a:p>
                  </a:txBody>
                  <a:tcPr marL="7620" marR="7620" marT="7620" marB="0" anchor="b"/>
                </a:tc>
                <a:extLst>
                  <a:ext uri="{0D108BD9-81ED-4DB2-BD59-A6C34878D82A}">
                    <a16:rowId xmlns:a16="http://schemas.microsoft.com/office/drawing/2014/main" val="359145558"/>
                  </a:ext>
                </a:extLst>
              </a:tr>
              <a:tr h="128083">
                <a:tc>
                  <a:txBody>
                    <a:bodyPr/>
                    <a:lstStyle/>
                    <a:p>
                      <a:pPr algn="ctr" fontAlgn="b">
                        <a:buNone/>
                      </a:pPr>
                      <a:r>
                        <a:rPr lang="en-US" sz="1200" b="1" i="0" u="none" strike="noStrike" dirty="0">
                          <a:solidFill>
                            <a:schemeClr val="bg1"/>
                          </a:solidFill>
                          <a:effectLst/>
                          <a:latin typeface="Aptos Narrow" panose="020B0004020202020204" pitchFamily="34" charset="0"/>
                        </a:rPr>
                        <a:t>24</a:t>
                      </a:r>
                    </a:p>
                  </a:txBody>
                  <a:tcPr marL="7620" marR="7620" marT="7620" marB="0" anchor="b"/>
                </a:tc>
                <a:tc>
                  <a:txBody>
                    <a:bodyPr/>
                    <a:lstStyle/>
                    <a:p>
                      <a:pPr algn="l" fontAlgn="ctr">
                        <a:buNone/>
                      </a:pPr>
                      <a:r>
                        <a:rPr lang="da-DK" sz="1200" b="0" i="0" u="none" strike="noStrike" dirty="0">
                          <a:solidFill>
                            <a:schemeClr val="tx1"/>
                          </a:solidFill>
                          <a:effectLst/>
                          <a:latin typeface="+mn-lt"/>
                        </a:rPr>
                        <a:t>Overhaul Genset Mangsang unit A</a:t>
                      </a:r>
                    </a:p>
                  </a:txBody>
                  <a:tcPr marL="7620" marR="7620" marT="7620" marB="0" anchor="ctr"/>
                </a:tc>
                <a:tc>
                  <a:txBody>
                    <a:bodyPr/>
                    <a:lstStyle/>
                    <a:p>
                      <a:pPr algn="ctr" fontAlgn="ctr">
                        <a:buNone/>
                      </a:pPr>
                      <a:r>
                        <a:rPr lang="en-US" sz="1200" b="0" i="0" u="none" strike="noStrike" dirty="0">
                          <a:solidFill>
                            <a:schemeClr val="tx1"/>
                          </a:solidFill>
                          <a:effectLst/>
                          <a:latin typeface="+mn-lt"/>
                        </a:rPr>
                        <a:t>Grissik</a:t>
                      </a:r>
                    </a:p>
                  </a:txBody>
                  <a:tcPr marL="7620" marR="7620" marT="7620" marB="0" anchor="ctr"/>
                </a:tc>
                <a:tc>
                  <a:txBody>
                    <a:bodyPr/>
                    <a:lstStyle/>
                    <a:p>
                      <a:pPr algn="ctr" fontAlgn="ctr">
                        <a:buNone/>
                      </a:pPr>
                      <a:r>
                        <a:rPr lang="en-US" sz="1200" b="0" i="0" u="none" strike="noStrike" dirty="0">
                          <a:solidFill>
                            <a:schemeClr val="tx1"/>
                          </a:solidFill>
                          <a:effectLst/>
                          <a:latin typeface="+mn-lt"/>
                        </a:rPr>
                        <a:t>MECH</a:t>
                      </a:r>
                    </a:p>
                  </a:txBody>
                  <a:tcPr marL="7620" marR="7620" marT="7620" marB="0" anchor="ctr"/>
                </a:tc>
                <a:tc>
                  <a:txBody>
                    <a:bodyPr/>
                    <a:lstStyle/>
                    <a:p>
                      <a:pPr algn="ctr" fontAlgn="ctr">
                        <a:buNone/>
                      </a:pPr>
                      <a:r>
                        <a:rPr lang="en-US" sz="1200" b="0" i="0" u="none" strike="noStrike">
                          <a:solidFill>
                            <a:schemeClr val="tx1"/>
                          </a:solidFill>
                          <a:effectLst/>
                          <a:latin typeface="+mn-lt"/>
                        </a:rPr>
                        <a:t>9-Jun</a:t>
                      </a:r>
                    </a:p>
                  </a:txBody>
                  <a:tcPr marL="7620" marR="7620" marT="7620" marB="0" anchor="ctr"/>
                </a:tc>
                <a:tc>
                  <a:txBody>
                    <a:bodyPr/>
                    <a:lstStyle/>
                    <a:p>
                      <a:pPr algn="ctr" fontAlgn="ctr">
                        <a:buNone/>
                      </a:pPr>
                      <a:r>
                        <a:rPr lang="en-US" sz="1200" b="0" i="0" u="none" strike="noStrike" dirty="0">
                          <a:solidFill>
                            <a:schemeClr val="tx1"/>
                          </a:solidFill>
                          <a:effectLst/>
                          <a:latin typeface="+mn-lt"/>
                        </a:rPr>
                        <a:t>14-Jun</a:t>
                      </a:r>
                    </a:p>
                  </a:txBody>
                  <a:tcPr marL="7620" marR="7620" marT="7620" marB="0" anchor="ctr"/>
                </a:tc>
                <a:tc>
                  <a:txBody>
                    <a:bodyPr/>
                    <a:lstStyle/>
                    <a:p>
                      <a:pPr algn="ctr" fontAlgn="b">
                        <a:buNone/>
                      </a:pPr>
                      <a:endParaRPr lang="en-US" sz="1200" b="0" i="0" u="none" strike="noStrike" dirty="0">
                        <a:solidFill>
                          <a:schemeClr val="tx1"/>
                        </a:solidFill>
                        <a:effectLst/>
                        <a:latin typeface="+mn-lt"/>
                      </a:endParaRPr>
                    </a:p>
                  </a:txBody>
                  <a:tcPr marL="7620" marR="7620" marT="7620" marB="0" anchor="b"/>
                </a:tc>
                <a:extLst>
                  <a:ext uri="{0D108BD9-81ED-4DB2-BD59-A6C34878D82A}">
                    <a16:rowId xmlns:a16="http://schemas.microsoft.com/office/drawing/2014/main" val="2428620101"/>
                  </a:ext>
                </a:extLst>
              </a:tr>
              <a:tr h="128083">
                <a:tc>
                  <a:txBody>
                    <a:bodyPr/>
                    <a:lstStyle/>
                    <a:p>
                      <a:pPr algn="ctr" fontAlgn="b">
                        <a:buNone/>
                      </a:pPr>
                      <a:r>
                        <a:rPr lang="en-US" sz="1200" b="1" i="0" u="none" strike="noStrike" dirty="0">
                          <a:solidFill>
                            <a:schemeClr val="bg1"/>
                          </a:solidFill>
                          <a:effectLst/>
                          <a:latin typeface="Aptos Narrow" panose="020B0004020202020204" pitchFamily="34" charset="0"/>
                        </a:rPr>
                        <a:t>25</a:t>
                      </a:r>
                    </a:p>
                  </a:txBody>
                  <a:tcPr marL="7620" marR="7620" marT="7620" marB="0" anchor="b"/>
                </a:tc>
                <a:tc>
                  <a:txBody>
                    <a:bodyPr/>
                    <a:lstStyle/>
                    <a:p>
                      <a:pPr algn="l" fontAlgn="ctr">
                        <a:buNone/>
                      </a:pPr>
                      <a:r>
                        <a:rPr lang="en-US" sz="1200" b="0" i="0" u="none" strike="noStrike" dirty="0">
                          <a:solidFill>
                            <a:schemeClr val="tx1"/>
                          </a:solidFill>
                          <a:effectLst/>
                          <a:latin typeface="+mn-lt"/>
                        </a:rPr>
                        <a:t>WHB 301 repair</a:t>
                      </a:r>
                    </a:p>
                  </a:txBody>
                  <a:tcPr marL="7620" marR="7620" marT="7620" marB="0" anchor="ctr"/>
                </a:tc>
                <a:tc>
                  <a:txBody>
                    <a:bodyPr/>
                    <a:lstStyle/>
                    <a:p>
                      <a:pPr algn="ctr" fontAlgn="ctr">
                        <a:buNone/>
                      </a:pPr>
                      <a:r>
                        <a:rPr lang="en-US" sz="1200" b="0" i="0" u="none" strike="noStrike" dirty="0">
                          <a:solidFill>
                            <a:schemeClr val="tx1"/>
                          </a:solidFill>
                          <a:effectLst/>
                          <a:latin typeface="+mn-lt"/>
                        </a:rPr>
                        <a:t>Grissik</a:t>
                      </a:r>
                    </a:p>
                  </a:txBody>
                  <a:tcPr marL="7620" marR="7620" marT="7620" marB="0" anchor="ctr"/>
                </a:tc>
                <a:tc>
                  <a:txBody>
                    <a:bodyPr/>
                    <a:lstStyle/>
                    <a:p>
                      <a:pPr algn="ctr" fontAlgn="ctr">
                        <a:buNone/>
                      </a:pPr>
                      <a:r>
                        <a:rPr lang="en-US" sz="1200" b="0" i="0" u="none" strike="noStrike" dirty="0">
                          <a:solidFill>
                            <a:schemeClr val="tx1"/>
                          </a:solidFill>
                          <a:effectLst/>
                          <a:latin typeface="+mn-lt"/>
                        </a:rPr>
                        <a:t>MECH</a:t>
                      </a:r>
                    </a:p>
                  </a:txBody>
                  <a:tcPr marL="7620" marR="7620" marT="7620" marB="0" anchor="ctr"/>
                </a:tc>
                <a:tc>
                  <a:txBody>
                    <a:bodyPr/>
                    <a:lstStyle/>
                    <a:p>
                      <a:pPr algn="ctr" fontAlgn="ctr">
                        <a:buNone/>
                      </a:pPr>
                      <a:r>
                        <a:rPr lang="en-US" sz="1200" b="0" i="0" u="none" strike="noStrike">
                          <a:solidFill>
                            <a:schemeClr val="tx1"/>
                          </a:solidFill>
                          <a:effectLst/>
                          <a:latin typeface="+mn-lt"/>
                        </a:rPr>
                        <a:t>1-Jun</a:t>
                      </a:r>
                    </a:p>
                  </a:txBody>
                  <a:tcPr marL="7620" marR="7620" marT="7620" marB="0" anchor="ctr"/>
                </a:tc>
                <a:tc>
                  <a:txBody>
                    <a:bodyPr/>
                    <a:lstStyle/>
                    <a:p>
                      <a:pPr algn="ctr" fontAlgn="ctr">
                        <a:buNone/>
                      </a:pPr>
                      <a:r>
                        <a:rPr lang="en-US" sz="1200" b="0" i="0" u="none" strike="noStrike">
                          <a:solidFill>
                            <a:schemeClr val="tx1"/>
                          </a:solidFill>
                          <a:effectLst/>
                          <a:latin typeface="+mn-lt"/>
                        </a:rPr>
                        <a:t>30-Jun</a:t>
                      </a:r>
                    </a:p>
                  </a:txBody>
                  <a:tcPr marL="7620" marR="7620" marT="7620" marB="0" anchor="ctr"/>
                </a:tc>
                <a:tc>
                  <a:txBody>
                    <a:bodyPr/>
                    <a:lstStyle/>
                    <a:p>
                      <a:pPr algn="ctr" fontAlgn="b">
                        <a:buNone/>
                      </a:pPr>
                      <a:r>
                        <a:rPr lang="en-US" sz="1200" b="0" i="0" u="none" strike="noStrike" dirty="0">
                          <a:solidFill>
                            <a:schemeClr val="tx1"/>
                          </a:solidFill>
                          <a:effectLst/>
                          <a:latin typeface="+mn-lt"/>
                        </a:rPr>
                        <a:t>Continue</a:t>
                      </a:r>
                    </a:p>
                  </a:txBody>
                  <a:tcPr marL="7620" marR="7620" marT="7620" marB="0" anchor="b"/>
                </a:tc>
                <a:extLst>
                  <a:ext uri="{0D108BD9-81ED-4DB2-BD59-A6C34878D82A}">
                    <a16:rowId xmlns:a16="http://schemas.microsoft.com/office/drawing/2014/main" val="1924956426"/>
                  </a:ext>
                </a:extLst>
              </a:tr>
              <a:tr h="147986">
                <a:tc>
                  <a:txBody>
                    <a:bodyPr/>
                    <a:lstStyle/>
                    <a:p>
                      <a:pPr algn="ctr" fontAlgn="b">
                        <a:buNone/>
                      </a:pPr>
                      <a:r>
                        <a:rPr lang="en-US" sz="1200" b="1" i="0" u="none" strike="noStrike" dirty="0">
                          <a:solidFill>
                            <a:schemeClr val="bg1"/>
                          </a:solidFill>
                          <a:effectLst/>
                          <a:latin typeface="Aptos Narrow" panose="020B0004020202020204" pitchFamily="34" charset="0"/>
                        </a:rPr>
                        <a:t>26</a:t>
                      </a:r>
                    </a:p>
                  </a:txBody>
                  <a:tcPr marL="7620" marR="7620" marT="7620" marB="0" anchor="b"/>
                </a:tc>
                <a:tc>
                  <a:txBody>
                    <a:bodyPr/>
                    <a:lstStyle/>
                    <a:p>
                      <a:pPr algn="l" fontAlgn="ctr">
                        <a:buNone/>
                      </a:pPr>
                      <a:r>
                        <a:rPr lang="en-US" sz="1200" b="0" i="0" u="none" strike="noStrike" dirty="0">
                          <a:solidFill>
                            <a:schemeClr val="tx1"/>
                          </a:solidFill>
                          <a:effectLst/>
                          <a:latin typeface="+mn-lt"/>
                        </a:rPr>
                        <a:t>WHB 101 recertification</a:t>
                      </a:r>
                    </a:p>
                  </a:txBody>
                  <a:tcPr marL="7620" marR="7620" marT="7620" marB="0" anchor="ctr"/>
                </a:tc>
                <a:tc>
                  <a:txBody>
                    <a:bodyPr/>
                    <a:lstStyle/>
                    <a:p>
                      <a:pPr algn="ctr" fontAlgn="ctr">
                        <a:buNone/>
                      </a:pPr>
                      <a:r>
                        <a:rPr lang="en-US" sz="1200" b="0" i="0" u="none" strike="noStrike" dirty="0">
                          <a:solidFill>
                            <a:schemeClr val="tx1"/>
                          </a:solidFill>
                          <a:effectLst/>
                          <a:latin typeface="+mn-lt"/>
                        </a:rPr>
                        <a:t>Grissik</a:t>
                      </a:r>
                    </a:p>
                  </a:txBody>
                  <a:tcPr marL="7620" marR="7620" marT="7620" marB="0" anchor="ctr"/>
                </a:tc>
                <a:tc>
                  <a:txBody>
                    <a:bodyPr/>
                    <a:lstStyle/>
                    <a:p>
                      <a:pPr algn="ctr" fontAlgn="ctr">
                        <a:buNone/>
                      </a:pPr>
                      <a:r>
                        <a:rPr lang="en-US" sz="1200" b="0" i="0" u="none" strike="noStrike" dirty="0">
                          <a:solidFill>
                            <a:schemeClr val="tx1"/>
                          </a:solidFill>
                          <a:effectLst/>
                          <a:latin typeface="+mn-lt"/>
                        </a:rPr>
                        <a:t>MECH</a:t>
                      </a:r>
                    </a:p>
                  </a:txBody>
                  <a:tcPr marL="7620" marR="7620" marT="7620" marB="0" anchor="ctr"/>
                </a:tc>
                <a:tc>
                  <a:txBody>
                    <a:bodyPr/>
                    <a:lstStyle/>
                    <a:p>
                      <a:pPr algn="ctr" fontAlgn="ctr">
                        <a:buNone/>
                      </a:pPr>
                      <a:r>
                        <a:rPr lang="en-US" sz="1200" b="0" i="0" u="none" strike="noStrike" dirty="0">
                          <a:solidFill>
                            <a:schemeClr val="tx1"/>
                          </a:solidFill>
                          <a:effectLst/>
                          <a:latin typeface="+mn-lt"/>
                        </a:rPr>
                        <a:t>14-Jun</a:t>
                      </a:r>
                    </a:p>
                  </a:txBody>
                  <a:tcPr marL="7620" marR="7620" marT="7620" marB="0" anchor="ctr"/>
                </a:tc>
                <a:tc>
                  <a:txBody>
                    <a:bodyPr/>
                    <a:lstStyle/>
                    <a:p>
                      <a:pPr algn="ctr" fontAlgn="ctr">
                        <a:buNone/>
                      </a:pPr>
                      <a:r>
                        <a:rPr lang="en-US" sz="1200" b="0" i="0" u="none" strike="noStrike" dirty="0">
                          <a:solidFill>
                            <a:schemeClr val="tx1"/>
                          </a:solidFill>
                          <a:effectLst/>
                          <a:latin typeface="+mn-lt"/>
                        </a:rPr>
                        <a:t>20-Jun</a:t>
                      </a:r>
                    </a:p>
                  </a:txBody>
                  <a:tcPr marL="7620" marR="7620" marT="7620" marB="0" anchor="ctr"/>
                </a:tc>
                <a:tc>
                  <a:txBody>
                    <a:bodyPr/>
                    <a:lstStyle/>
                    <a:p>
                      <a:pPr algn="ctr" fontAlgn="b">
                        <a:buNone/>
                      </a:pPr>
                      <a:r>
                        <a:rPr lang="en-US" sz="1200" b="0" i="0" u="none" strike="noStrike" dirty="0">
                          <a:solidFill>
                            <a:schemeClr val="tx1"/>
                          </a:solidFill>
                          <a:effectLst/>
                          <a:latin typeface="+mn-lt"/>
                        </a:rPr>
                        <a:t>Continue</a:t>
                      </a:r>
                    </a:p>
                  </a:txBody>
                  <a:tcPr marL="7620" marR="7620" marT="7620" marB="0" anchor="b"/>
                </a:tc>
                <a:extLst>
                  <a:ext uri="{0D108BD9-81ED-4DB2-BD59-A6C34878D82A}">
                    <a16:rowId xmlns:a16="http://schemas.microsoft.com/office/drawing/2014/main" val="835652180"/>
                  </a:ext>
                </a:extLst>
              </a:tr>
              <a:tr h="200431">
                <a:tc>
                  <a:txBody>
                    <a:bodyPr/>
                    <a:lstStyle/>
                    <a:p>
                      <a:pPr algn="ctr" fontAlgn="b">
                        <a:buNone/>
                      </a:pPr>
                      <a:r>
                        <a:rPr lang="en-US" sz="1200" b="1" i="0" u="none" strike="noStrike" dirty="0">
                          <a:solidFill>
                            <a:schemeClr val="bg1"/>
                          </a:solidFill>
                          <a:effectLst/>
                          <a:latin typeface="Aptos Narrow" panose="020B0004020202020204" pitchFamily="34" charset="0"/>
                        </a:rPr>
                        <a:t>27</a:t>
                      </a:r>
                    </a:p>
                  </a:txBody>
                  <a:tcPr marL="7620" marR="7620" marT="7620" marB="0" anchor="b"/>
                </a:tc>
                <a:tc>
                  <a:txBody>
                    <a:bodyPr/>
                    <a:lstStyle/>
                    <a:p>
                      <a:pPr algn="l" fontAlgn="ctr">
                        <a:buNone/>
                      </a:pPr>
                      <a:r>
                        <a:rPr lang="en-US" sz="1200" b="0" i="0" u="none" strike="noStrike" dirty="0">
                          <a:solidFill>
                            <a:schemeClr val="tx1"/>
                          </a:solidFill>
                          <a:effectLst/>
                          <a:latin typeface="+mn-lt"/>
                        </a:rPr>
                        <a:t>Well test Tengah-1</a:t>
                      </a:r>
                    </a:p>
                  </a:txBody>
                  <a:tcPr marL="7620" marR="7620" marT="7620" marB="0" anchor="ctr"/>
                </a:tc>
                <a:tc>
                  <a:txBody>
                    <a:bodyPr/>
                    <a:lstStyle/>
                    <a:p>
                      <a:pPr algn="ctr" fontAlgn="ctr">
                        <a:buNone/>
                      </a:pPr>
                      <a:r>
                        <a:rPr lang="en-US" sz="1200" b="0" i="0" u="none" strike="noStrike" dirty="0">
                          <a:solidFill>
                            <a:schemeClr val="tx1"/>
                          </a:solidFill>
                          <a:effectLst/>
                          <a:latin typeface="+mn-lt"/>
                        </a:rPr>
                        <a:t>Tengah</a:t>
                      </a:r>
                    </a:p>
                  </a:txBody>
                  <a:tcPr marL="7620" marR="7620" marT="7620" marB="0" anchor="ctr"/>
                </a:tc>
                <a:tc>
                  <a:txBody>
                    <a:bodyPr/>
                    <a:lstStyle/>
                    <a:p>
                      <a:pPr algn="ctr" fontAlgn="ctr">
                        <a:buNone/>
                      </a:pPr>
                      <a:r>
                        <a:rPr lang="en-US" sz="1200" b="0" i="0" u="none" strike="noStrike" dirty="0">
                          <a:solidFill>
                            <a:schemeClr val="tx1"/>
                          </a:solidFill>
                          <a:effectLst/>
                          <a:latin typeface="+mn-lt"/>
                        </a:rPr>
                        <a:t>IDINS</a:t>
                      </a:r>
                    </a:p>
                    <a:p>
                      <a:pPr algn="ctr" fontAlgn="ctr">
                        <a:buNone/>
                      </a:pPr>
                      <a:r>
                        <a:rPr lang="en-US" sz="1200" b="0" i="0" u="none" strike="noStrike" dirty="0">
                          <a:solidFill>
                            <a:schemeClr val="tx1"/>
                          </a:solidFill>
                          <a:effectLst/>
                          <a:latin typeface="+mn-lt"/>
                        </a:rPr>
                        <a:t>IDOPS_RW</a:t>
                      </a:r>
                    </a:p>
                  </a:txBody>
                  <a:tcPr marL="7620" marR="7620" marT="7620" marB="0" anchor="ctr"/>
                </a:tc>
                <a:tc>
                  <a:txBody>
                    <a:bodyPr/>
                    <a:lstStyle/>
                    <a:p>
                      <a:pPr algn="ctr" fontAlgn="ctr">
                        <a:buNone/>
                      </a:pPr>
                      <a:r>
                        <a:rPr lang="en-US" sz="1200" b="0" i="0" u="none" strike="noStrike" dirty="0">
                          <a:solidFill>
                            <a:schemeClr val="tx1"/>
                          </a:solidFill>
                          <a:effectLst/>
                          <a:latin typeface="+mn-lt"/>
                        </a:rPr>
                        <a:t>14 Jun</a:t>
                      </a:r>
                      <a:br>
                        <a:rPr lang="en-US" sz="1200" b="0" i="0" u="none" strike="noStrike" dirty="0">
                          <a:solidFill>
                            <a:schemeClr val="tx1"/>
                          </a:solidFill>
                          <a:effectLst/>
                          <a:latin typeface="+mn-lt"/>
                        </a:rPr>
                      </a:br>
                      <a:r>
                        <a:rPr lang="en-US" sz="1200" b="0" i="0" u="none" strike="noStrike" dirty="0">
                          <a:solidFill>
                            <a:schemeClr val="tx1"/>
                          </a:solidFill>
                          <a:effectLst/>
                          <a:latin typeface="+mn-lt"/>
                        </a:rPr>
                        <a:t>21 Jun</a:t>
                      </a:r>
                    </a:p>
                  </a:txBody>
                  <a:tcPr marL="7620" marR="7620" marT="7620" marB="0" anchor="ctr"/>
                </a:tc>
                <a:tc>
                  <a:txBody>
                    <a:bodyPr/>
                    <a:lstStyle/>
                    <a:p>
                      <a:pPr algn="ctr" fontAlgn="b">
                        <a:buNone/>
                      </a:pPr>
                      <a:r>
                        <a:rPr lang="en-US" sz="1200" b="0" i="0" u="none" strike="noStrike" dirty="0">
                          <a:solidFill>
                            <a:schemeClr val="tx1"/>
                          </a:solidFill>
                          <a:effectLst/>
                          <a:latin typeface="+mn-lt"/>
                        </a:rPr>
                        <a:t>20 Jun</a:t>
                      </a:r>
                      <a:br>
                        <a:rPr lang="en-US" sz="1200" b="0" i="0" u="none" strike="noStrike" dirty="0">
                          <a:solidFill>
                            <a:schemeClr val="tx1"/>
                          </a:solidFill>
                          <a:effectLst/>
                          <a:latin typeface="+mn-lt"/>
                        </a:rPr>
                      </a:br>
                      <a:r>
                        <a:rPr lang="en-US" sz="1200" b="0" i="0" u="none" strike="noStrike" dirty="0">
                          <a:solidFill>
                            <a:schemeClr val="tx1"/>
                          </a:solidFill>
                          <a:effectLst/>
                          <a:latin typeface="+mn-lt"/>
                        </a:rPr>
                        <a:t>30 Jun</a:t>
                      </a:r>
                    </a:p>
                  </a:txBody>
                  <a:tcPr marL="7620" marR="7620" marT="7620" marB="0" anchor="b"/>
                </a:tc>
                <a:tc>
                  <a:txBody>
                    <a:bodyPr/>
                    <a:lstStyle/>
                    <a:p>
                      <a:pPr algn="ctr" fontAlgn="b">
                        <a:buNone/>
                      </a:pPr>
                      <a:r>
                        <a:rPr lang="en-US" sz="1200" b="0" i="0" u="none" strike="noStrike" dirty="0">
                          <a:solidFill>
                            <a:schemeClr val="tx1"/>
                          </a:solidFill>
                          <a:effectLst/>
                          <a:latin typeface="+mn-lt"/>
                        </a:rPr>
                        <a:t>Delay</a:t>
                      </a:r>
                    </a:p>
                  </a:txBody>
                  <a:tcPr marL="7620" marR="7620" marT="7620" marB="0" anchor="b"/>
                </a:tc>
                <a:extLst>
                  <a:ext uri="{0D108BD9-81ED-4DB2-BD59-A6C34878D82A}">
                    <a16:rowId xmlns:a16="http://schemas.microsoft.com/office/drawing/2014/main" val="3427997012"/>
                  </a:ext>
                </a:extLst>
              </a:tr>
              <a:tr h="200431">
                <a:tc>
                  <a:txBody>
                    <a:bodyPr/>
                    <a:lstStyle/>
                    <a:p>
                      <a:pPr algn="ctr" fontAlgn="b">
                        <a:buNone/>
                      </a:pPr>
                      <a:endParaRPr lang="en-US" sz="1200" b="1" i="0" u="none" strike="noStrike" dirty="0">
                        <a:solidFill>
                          <a:schemeClr val="bg1"/>
                        </a:solidFill>
                        <a:effectLst/>
                        <a:latin typeface="Aptos Narrow" panose="020B0004020202020204" pitchFamily="34" charset="0"/>
                      </a:endParaRPr>
                    </a:p>
                  </a:txBody>
                  <a:tcPr marL="7620" marR="7620" marT="7620" marB="0" anchor="b"/>
                </a:tc>
                <a:tc>
                  <a:txBody>
                    <a:bodyPr/>
                    <a:lstStyle/>
                    <a:p>
                      <a:pPr algn="l" fontAlgn="ctr">
                        <a:buNone/>
                      </a:pPr>
                      <a:endParaRPr lang="en-US" sz="1200" b="0" i="0" u="none" strike="noStrike" dirty="0">
                        <a:solidFill>
                          <a:srgbClr val="0000FF"/>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rgbClr val="0000FF"/>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rgbClr val="0000FF"/>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rgbClr val="0000FF"/>
                        </a:solidFill>
                        <a:effectLst/>
                        <a:latin typeface="Aptos Narrow" panose="020B0004020202020204" pitchFamily="34" charset="0"/>
                      </a:endParaRPr>
                    </a:p>
                  </a:txBody>
                  <a:tcPr marL="7620" marR="7620" marT="7620" marB="0" anchor="ctr"/>
                </a:tc>
                <a:tc>
                  <a:txBody>
                    <a:bodyPr/>
                    <a:lstStyle/>
                    <a:p>
                      <a:pPr algn="ctr" fontAlgn="ctr">
                        <a:buNone/>
                      </a:pPr>
                      <a:endParaRPr lang="en-US" sz="1200" b="0" i="0" u="none" strike="noStrike" dirty="0">
                        <a:solidFill>
                          <a:srgbClr val="0000FF"/>
                        </a:solidFill>
                        <a:effectLst/>
                        <a:latin typeface="Aptos Narrow" panose="020B0004020202020204" pitchFamily="34" charset="0"/>
                      </a:endParaRPr>
                    </a:p>
                  </a:txBody>
                  <a:tcPr marL="7620" marR="7620" marT="7620" marB="0" anchor="ctr"/>
                </a:tc>
                <a:tc>
                  <a:txBody>
                    <a:bodyPr/>
                    <a:lstStyle/>
                    <a:p>
                      <a:pPr algn="ctr" fontAlgn="b">
                        <a:buNone/>
                      </a:pPr>
                      <a:endParaRPr lang="en-US" sz="1200" b="0" i="0" u="none" strike="noStrike" dirty="0">
                        <a:solidFill>
                          <a:schemeClr val="tx1"/>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993502863"/>
                  </a:ext>
                </a:extLst>
              </a:tr>
              <a:tr h="130491">
                <a:tc>
                  <a:txBody>
                    <a:bodyPr/>
                    <a:lstStyle/>
                    <a:p>
                      <a:pPr algn="ctr" fontAlgn="b">
                        <a:buNone/>
                      </a:pPr>
                      <a:r>
                        <a:rPr lang="en-US" sz="1200" b="1" i="0" u="none" strike="noStrike" dirty="0">
                          <a:solidFill>
                            <a:schemeClr val="bg1"/>
                          </a:solidFill>
                          <a:effectLst/>
                          <a:latin typeface="Aptos Narrow" panose="020B0004020202020204" pitchFamily="34" charset="0"/>
                        </a:rPr>
                        <a:t>28</a:t>
                      </a:r>
                    </a:p>
                  </a:txBody>
                  <a:tcPr marL="7620" marR="7620" marT="7620" marB="0" anchor="b"/>
                </a:tc>
                <a:tc>
                  <a:txBody>
                    <a:bodyPr/>
                    <a:lstStyle/>
                    <a:p>
                      <a:pPr algn="l"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Aptos Narrow" panose="020B000402020202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Aptos Narrow" panose="020B0004020202020204" pitchFamily="34" charset="0"/>
                      </a:endParaRPr>
                    </a:p>
                  </a:txBody>
                  <a:tcPr marL="7620" marR="7620" marT="7620" marB="0" anchor="ctr"/>
                </a:tc>
                <a:tc>
                  <a:txBody>
                    <a:bodyPr/>
                    <a:lstStyle/>
                    <a:p>
                      <a:pPr algn="ctr" fontAlgn="b">
                        <a:buNone/>
                      </a:pPr>
                      <a:endParaRPr lang="en-US" sz="1200" b="0" i="0" u="none" strike="noStrike" dirty="0">
                        <a:solidFill>
                          <a:schemeClr val="tx1"/>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759192399"/>
                  </a:ext>
                </a:extLst>
              </a:tr>
              <a:tr h="130491">
                <a:tc>
                  <a:txBody>
                    <a:bodyPr/>
                    <a:lstStyle/>
                    <a:p>
                      <a:pPr algn="ctr" fontAlgn="b">
                        <a:buNone/>
                      </a:pPr>
                      <a:r>
                        <a:rPr lang="en-US" sz="1200" b="1" i="0" u="none" strike="noStrike" dirty="0">
                          <a:solidFill>
                            <a:schemeClr val="bg1"/>
                          </a:solidFill>
                          <a:effectLst/>
                          <a:latin typeface="Aptos Narrow" panose="020B0004020202020204" pitchFamily="34" charset="0"/>
                        </a:rPr>
                        <a:t>29</a:t>
                      </a:r>
                    </a:p>
                  </a:txBody>
                  <a:tcPr marL="7620" marR="7620" marT="7620" marB="0" anchor="b"/>
                </a:tc>
                <a:tc>
                  <a:txBody>
                    <a:bodyPr/>
                    <a:lstStyle/>
                    <a:p>
                      <a:pPr algn="l" fontAlgn="ctr">
                        <a:buNone/>
                      </a:pPr>
                      <a:endParaRPr lang="en-US" sz="1200" b="0" i="0" u="none" strike="noStrike" dirty="0">
                        <a:solidFill>
                          <a:srgbClr val="0000FF"/>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rgbClr val="0000FF"/>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rgbClr val="0000FF"/>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rgbClr val="0000FF"/>
                        </a:solidFill>
                        <a:effectLst/>
                        <a:latin typeface="Aptos Narrow" panose="020B0004020202020204" pitchFamily="34" charset="0"/>
                      </a:endParaRPr>
                    </a:p>
                  </a:txBody>
                  <a:tcPr marL="7620" marR="7620" marT="7620" marB="0" anchor="ctr"/>
                </a:tc>
                <a:tc>
                  <a:txBody>
                    <a:bodyPr/>
                    <a:lstStyle/>
                    <a:p>
                      <a:pPr algn="ctr" fontAlgn="b">
                        <a:buNone/>
                      </a:pPr>
                      <a:endParaRPr lang="en-US" sz="1200" b="0" i="0" u="none" strike="noStrike" dirty="0">
                        <a:solidFill>
                          <a:srgbClr val="0000FF"/>
                        </a:solidFill>
                        <a:effectLst/>
                        <a:latin typeface="Aptos Narrow" panose="020B0004020202020204" pitchFamily="34" charset="0"/>
                      </a:endParaRPr>
                    </a:p>
                  </a:txBody>
                  <a:tcPr marL="7620" marR="7620" marT="7620" marB="0" anchor="b"/>
                </a:tc>
                <a:tc>
                  <a:txBody>
                    <a:bodyPr/>
                    <a:lstStyle/>
                    <a:p>
                      <a:pPr algn="ctr" fontAlgn="b">
                        <a:buNone/>
                      </a:pPr>
                      <a:endParaRPr lang="en-US" sz="1200" b="0" i="0" u="none" strike="noStrike" dirty="0">
                        <a:solidFill>
                          <a:srgbClr val="0000FF"/>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643121811"/>
                  </a:ext>
                </a:extLst>
              </a:tr>
              <a:tr h="130491">
                <a:tc>
                  <a:txBody>
                    <a:bodyPr/>
                    <a:lstStyle/>
                    <a:p>
                      <a:pPr algn="ctr" fontAlgn="b">
                        <a:buNone/>
                      </a:pPr>
                      <a:r>
                        <a:rPr lang="en-US" sz="1200" b="1" i="0" u="none" strike="noStrike" dirty="0">
                          <a:solidFill>
                            <a:schemeClr val="bg1"/>
                          </a:solidFill>
                          <a:effectLst/>
                          <a:latin typeface="Aptos Narrow" panose="020B0004020202020204" pitchFamily="34" charset="0"/>
                        </a:rPr>
                        <a:t>30</a:t>
                      </a:r>
                    </a:p>
                  </a:txBody>
                  <a:tcPr marL="7620" marR="7620" marT="7620" marB="0" anchor="b"/>
                </a:tc>
                <a:tc>
                  <a:txBody>
                    <a:bodyPr/>
                    <a:lstStyle/>
                    <a:p>
                      <a:pPr algn="l" fontAlgn="ctr">
                        <a:buNone/>
                      </a:pPr>
                      <a:endParaRPr lang="en-US" sz="1200" b="0" i="0" u="none" strike="noStrike" dirty="0">
                        <a:solidFill>
                          <a:srgbClr val="0000FF"/>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rgbClr val="0000FF"/>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rgbClr val="0000FF"/>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rgbClr val="0000FF"/>
                        </a:solidFill>
                        <a:effectLst/>
                        <a:latin typeface="Aptos Narrow" panose="020B0004020202020204" pitchFamily="34" charset="0"/>
                      </a:endParaRPr>
                    </a:p>
                  </a:txBody>
                  <a:tcPr marL="7620" marR="7620" marT="7620" marB="0" anchor="ctr"/>
                </a:tc>
                <a:tc>
                  <a:txBody>
                    <a:bodyPr/>
                    <a:lstStyle/>
                    <a:p>
                      <a:pPr algn="ctr" fontAlgn="b">
                        <a:buNone/>
                      </a:pPr>
                      <a:endParaRPr lang="en-US" sz="1200" b="0" i="0" u="none" strike="noStrike" dirty="0">
                        <a:solidFill>
                          <a:srgbClr val="0000FF"/>
                        </a:solidFill>
                        <a:effectLst/>
                        <a:latin typeface="Aptos Narrow" panose="020B0004020202020204" pitchFamily="34" charset="0"/>
                      </a:endParaRPr>
                    </a:p>
                  </a:txBody>
                  <a:tcPr marL="7620" marR="7620" marT="7620" marB="0" anchor="b"/>
                </a:tc>
                <a:tc>
                  <a:txBody>
                    <a:bodyPr/>
                    <a:lstStyle/>
                    <a:p>
                      <a:pPr algn="ctr" fontAlgn="b">
                        <a:buNone/>
                      </a:pPr>
                      <a:endParaRPr lang="en-US" sz="1200" b="0" i="0" u="none" strike="noStrike" dirty="0">
                        <a:solidFill>
                          <a:srgbClr val="0000FF"/>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819656077"/>
                  </a:ext>
                </a:extLst>
              </a:tr>
              <a:tr h="130491">
                <a:tc>
                  <a:txBody>
                    <a:bodyPr/>
                    <a:lstStyle/>
                    <a:p>
                      <a:pPr algn="ctr" fontAlgn="b">
                        <a:buNone/>
                      </a:pPr>
                      <a:r>
                        <a:rPr lang="en-US" sz="1200" b="1" i="0" u="none" strike="noStrike">
                          <a:solidFill>
                            <a:schemeClr val="bg1"/>
                          </a:solidFill>
                          <a:effectLst/>
                          <a:latin typeface="Aptos Narrow" panose="020B0004020202020204" pitchFamily="34" charset="0"/>
                        </a:rPr>
                        <a:t>31</a:t>
                      </a:r>
                    </a:p>
                  </a:txBody>
                  <a:tcPr marL="7620" marR="7620" marT="7620" marB="0" anchor="b"/>
                </a:tc>
                <a:tc>
                  <a:txBody>
                    <a:bodyPr/>
                    <a:lstStyle/>
                    <a:p>
                      <a:pPr algn="l"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a:solidFill>
                          <a:schemeClr val="tx1"/>
                        </a:solidFill>
                        <a:effectLst/>
                        <a:latin typeface="Aptos Narrow" panose="020B000402020202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Aptos Narrow" panose="020B0004020202020204" pitchFamily="34" charset="0"/>
                      </a:endParaRPr>
                    </a:p>
                  </a:txBody>
                  <a:tcPr marL="7620" marR="7620" marT="7620" marB="0" anchor="ctr"/>
                </a:tc>
                <a:tc>
                  <a:txBody>
                    <a:bodyPr/>
                    <a:lstStyle/>
                    <a:p>
                      <a:pPr algn="ctr" fontAlgn="b">
                        <a:buNone/>
                      </a:pPr>
                      <a:endParaRPr lang="en-US" sz="1200" b="0" i="0" u="none" strike="noStrike" dirty="0">
                        <a:solidFill>
                          <a:schemeClr val="tx1"/>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98458056"/>
                  </a:ext>
                </a:extLst>
              </a:tr>
              <a:tr h="130491">
                <a:tc>
                  <a:txBody>
                    <a:bodyPr/>
                    <a:lstStyle/>
                    <a:p>
                      <a:pPr algn="ctr" fontAlgn="b">
                        <a:buNone/>
                      </a:pPr>
                      <a:r>
                        <a:rPr lang="en-US" sz="1200" b="1" i="0" u="none" strike="noStrike" dirty="0">
                          <a:solidFill>
                            <a:schemeClr val="bg1"/>
                          </a:solidFill>
                          <a:effectLst/>
                          <a:latin typeface="Aptos Narrow" panose="020B0004020202020204" pitchFamily="34" charset="0"/>
                        </a:rPr>
                        <a:t>32</a:t>
                      </a:r>
                    </a:p>
                  </a:txBody>
                  <a:tcPr marL="7620" marR="7620" marT="7620" marB="0" anchor="b"/>
                </a:tc>
                <a:tc>
                  <a:txBody>
                    <a:bodyPr/>
                    <a:lstStyle/>
                    <a:p>
                      <a:pPr algn="l"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b">
                        <a:buNone/>
                      </a:pPr>
                      <a:endParaRPr lang="en-US" sz="1200" b="0" i="0" u="none" strike="noStrike" dirty="0">
                        <a:solidFill>
                          <a:schemeClr val="tx1"/>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56450420"/>
                  </a:ext>
                </a:extLst>
              </a:tr>
              <a:tr h="130491">
                <a:tc>
                  <a:txBody>
                    <a:bodyPr/>
                    <a:lstStyle/>
                    <a:p>
                      <a:pPr algn="ctr" fontAlgn="b">
                        <a:buNone/>
                      </a:pPr>
                      <a:r>
                        <a:rPr lang="en-US" sz="1200" b="1" i="0" u="none" strike="noStrike" dirty="0">
                          <a:solidFill>
                            <a:schemeClr val="bg1"/>
                          </a:solidFill>
                          <a:effectLst/>
                          <a:latin typeface="Aptos Narrow" panose="020B0004020202020204" pitchFamily="34" charset="0"/>
                        </a:rPr>
                        <a:t>33</a:t>
                      </a:r>
                    </a:p>
                  </a:txBody>
                  <a:tcPr marL="7620" marR="7620" marT="7620" marB="0" anchor="b"/>
                </a:tc>
                <a:tc>
                  <a:txBody>
                    <a:bodyPr/>
                    <a:lstStyle/>
                    <a:p>
                      <a:pPr algn="l"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b">
                        <a:buNone/>
                      </a:pPr>
                      <a:endParaRPr lang="en-US" sz="1200" b="0" i="0" u="none" strike="noStrike" dirty="0">
                        <a:solidFill>
                          <a:schemeClr val="tx1"/>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744403826"/>
                  </a:ext>
                </a:extLst>
              </a:tr>
              <a:tr h="130491">
                <a:tc>
                  <a:txBody>
                    <a:bodyPr/>
                    <a:lstStyle/>
                    <a:p>
                      <a:pPr algn="ctr" fontAlgn="b">
                        <a:buNone/>
                      </a:pPr>
                      <a:r>
                        <a:rPr lang="en-US" sz="1200" b="1" i="0" u="none" strike="noStrike" dirty="0">
                          <a:solidFill>
                            <a:schemeClr val="bg1"/>
                          </a:solidFill>
                          <a:effectLst/>
                          <a:latin typeface="Aptos Narrow" panose="020B0004020202020204" pitchFamily="34" charset="0"/>
                        </a:rPr>
                        <a:t>34</a:t>
                      </a:r>
                    </a:p>
                  </a:txBody>
                  <a:tcPr marL="7620" marR="7620" marT="7620" marB="0" anchor="b"/>
                </a:tc>
                <a:tc>
                  <a:txBody>
                    <a:bodyPr/>
                    <a:lstStyle/>
                    <a:p>
                      <a:pPr algn="l" fontAlgn="ctr">
                        <a:buNone/>
                      </a:pPr>
                      <a:endParaRPr lang="en-US" sz="1200" b="0" i="0" u="none" strike="noStrike" dirty="0">
                        <a:solidFill>
                          <a:srgbClr val="0000FF"/>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rgbClr val="0000FF"/>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rgbClr val="0000FF"/>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rgbClr val="0000FF"/>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rgbClr val="0000FF"/>
                        </a:solidFill>
                        <a:effectLst/>
                        <a:latin typeface="Calibri" panose="020F0502020204030204" pitchFamily="34" charset="0"/>
                      </a:endParaRPr>
                    </a:p>
                  </a:txBody>
                  <a:tcPr marL="7620" marR="7620" marT="7620" marB="0" anchor="ctr"/>
                </a:tc>
                <a:tc>
                  <a:txBody>
                    <a:bodyPr/>
                    <a:lstStyle/>
                    <a:p>
                      <a:pPr algn="ctr" fontAlgn="b">
                        <a:buNone/>
                      </a:pPr>
                      <a:endParaRPr lang="en-US" sz="1200" b="0" i="0" u="none" strike="noStrike" dirty="0">
                        <a:solidFill>
                          <a:srgbClr val="0000FF"/>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931665948"/>
                  </a:ext>
                </a:extLst>
              </a:tr>
              <a:tr h="130491">
                <a:tc>
                  <a:txBody>
                    <a:bodyPr/>
                    <a:lstStyle/>
                    <a:p>
                      <a:pPr algn="ctr" fontAlgn="b">
                        <a:buNone/>
                      </a:pPr>
                      <a:r>
                        <a:rPr lang="en-US" sz="1200" b="1" i="0" u="none" strike="noStrike" dirty="0">
                          <a:solidFill>
                            <a:schemeClr val="bg1"/>
                          </a:solidFill>
                          <a:effectLst/>
                          <a:latin typeface="Aptos Narrow" panose="020B0004020202020204" pitchFamily="34" charset="0"/>
                        </a:rPr>
                        <a:t>35</a:t>
                      </a:r>
                    </a:p>
                  </a:txBody>
                  <a:tcPr marL="7620" marR="7620" marT="7620" marB="0" anchor="b"/>
                </a:tc>
                <a:tc>
                  <a:txBody>
                    <a:bodyPr/>
                    <a:lstStyle/>
                    <a:p>
                      <a:pPr algn="l"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Aptos Narrow" panose="020B0004020202020204" pitchFamily="34" charset="0"/>
                      </a:endParaRPr>
                    </a:p>
                  </a:txBody>
                  <a:tcPr marL="7620" marR="7620" marT="7620" marB="0" anchor="ctr"/>
                </a:tc>
                <a:tc>
                  <a:txBody>
                    <a:bodyPr/>
                    <a:lstStyle/>
                    <a:p>
                      <a:pPr algn="ctr" fontAlgn="b">
                        <a:buNone/>
                      </a:pPr>
                      <a:endParaRPr lang="en-US" sz="1200" b="0" i="0" u="none" strike="noStrike" dirty="0">
                        <a:solidFill>
                          <a:schemeClr val="tx1"/>
                        </a:solidFill>
                        <a:effectLst/>
                        <a:latin typeface="Aptos Narrow" panose="020B0004020202020204" pitchFamily="34" charset="0"/>
                      </a:endParaRPr>
                    </a:p>
                  </a:txBody>
                  <a:tcPr marL="7620" marR="7620" marT="7620" marB="0" anchor="b"/>
                </a:tc>
                <a:tc>
                  <a:txBody>
                    <a:bodyPr/>
                    <a:lstStyle/>
                    <a:p>
                      <a:pPr algn="ctr" fontAlgn="b">
                        <a:buNone/>
                      </a:pPr>
                      <a:endParaRPr lang="en-US" sz="1200" b="0" i="0" u="none" strike="noStrike" dirty="0">
                        <a:solidFill>
                          <a:schemeClr val="tx1"/>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999169988"/>
                  </a:ext>
                </a:extLst>
              </a:tr>
              <a:tr h="130491">
                <a:tc>
                  <a:txBody>
                    <a:bodyPr/>
                    <a:lstStyle/>
                    <a:p>
                      <a:pPr algn="ctr" fontAlgn="b">
                        <a:buNone/>
                      </a:pPr>
                      <a:r>
                        <a:rPr lang="en-US" sz="1200" b="1" i="0" u="none" strike="noStrike" dirty="0">
                          <a:solidFill>
                            <a:schemeClr val="bg1"/>
                          </a:solidFill>
                          <a:effectLst/>
                          <a:latin typeface="Aptos Narrow" panose="020B0004020202020204" pitchFamily="34" charset="0"/>
                        </a:rPr>
                        <a:t>36</a:t>
                      </a:r>
                    </a:p>
                  </a:txBody>
                  <a:tcPr marL="7620" marR="7620" marT="7620" marB="0" anchor="b"/>
                </a:tc>
                <a:tc>
                  <a:txBody>
                    <a:bodyPr/>
                    <a:lstStyle/>
                    <a:p>
                      <a:pPr algn="l"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ctr">
                        <a:buNone/>
                      </a:pPr>
                      <a:endParaRPr lang="en-US" sz="1200" b="0" i="0" u="none" strike="noStrike">
                        <a:solidFill>
                          <a:schemeClr val="tx1"/>
                        </a:solidFill>
                        <a:effectLst/>
                        <a:latin typeface="Aptos Narrow" panose="020B0004020202020204" pitchFamily="34" charset="0"/>
                      </a:endParaRPr>
                    </a:p>
                  </a:txBody>
                  <a:tcPr marL="7620" marR="7620" marT="7620" marB="0" anchor="ctr"/>
                </a:tc>
                <a:tc>
                  <a:txBody>
                    <a:bodyPr/>
                    <a:lstStyle/>
                    <a:p>
                      <a:pPr algn="ctr" fontAlgn="b">
                        <a:buNone/>
                      </a:pPr>
                      <a:endParaRPr lang="en-US" sz="1200" b="0" i="0" u="none" strike="noStrike" dirty="0">
                        <a:solidFill>
                          <a:schemeClr val="tx1"/>
                        </a:solidFill>
                        <a:effectLst/>
                        <a:latin typeface="Aptos Narrow" panose="020B0004020202020204" pitchFamily="34" charset="0"/>
                      </a:endParaRPr>
                    </a:p>
                  </a:txBody>
                  <a:tcPr marL="7620" marR="7620" marT="7620" marB="0" anchor="b"/>
                </a:tc>
                <a:tc>
                  <a:txBody>
                    <a:bodyPr/>
                    <a:lstStyle/>
                    <a:p>
                      <a:pPr algn="ctr" fontAlgn="b">
                        <a:buNone/>
                      </a:pPr>
                      <a:endParaRPr lang="en-US" sz="1200" b="0" i="0" u="none" strike="noStrike" dirty="0">
                        <a:solidFill>
                          <a:schemeClr val="tx1"/>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779205907"/>
                  </a:ext>
                </a:extLst>
              </a:tr>
            </a:tbl>
          </a:graphicData>
        </a:graphic>
      </p:graphicFrame>
    </p:spTree>
    <p:extLst>
      <p:ext uri="{BB962C8B-B14F-4D97-AF65-F5344CB8AC3E}">
        <p14:creationId xmlns:p14="http://schemas.microsoft.com/office/powerpoint/2010/main" val="3178580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8868-E0E0-7626-A8D1-6358BE0FA9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203704-914E-8BF3-CEA3-AACD46127741}"/>
              </a:ext>
            </a:extLst>
          </p:cNvPr>
          <p:cNvSpPr txBox="1"/>
          <p:nvPr/>
        </p:nvSpPr>
        <p:spPr>
          <a:xfrm>
            <a:off x="0" y="466290"/>
            <a:ext cx="9277166" cy="523220"/>
          </a:xfrm>
          <a:prstGeom prst="rect">
            <a:avLst/>
          </a:prstGeom>
          <a:noFill/>
        </p:spPr>
        <p:txBody>
          <a:bodyPr wrap="square" rtlCol="0">
            <a:noAutofit/>
          </a:bodyPr>
          <a:lstStyle/>
          <a:p>
            <a:r>
              <a:rPr lang="da-DK" sz="2000" b="1" dirty="0">
                <a:solidFill>
                  <a:srgbClr val="004C8F"/>
                </a:solidFill>
                <a:latin typeface="Univers 67 Condensed" pitchFamily="2" charset="0"/>
                <a:cs typeface="Calibri"/>
              </a:rPr>
              <a:t>Focus next week Highlight Activity (21-26 June)</a:t>
            </a:r>
          </a:p>
        </p:txBody>
      </p:sp>
    </p:spTree>
    <p:extLst>
      <p:ext uri="{BB962C8B-B14F-4D97-AF65-F5344CB8AC3E}">
        <p14:creationId xmlns:p14="http://schemas.microsoft.com/office/powerpoint/2010/main" val="2515896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B9ED8-81EA-2FCF-BE99-9B06E279127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80F49D2-5563-A331-DF39-DD2F00644825}"/>
              </a:ext>
            </a:extLst>
          </p:cNvPr>
          <p:cNvSpPr txBox="1"/>
          <p:nvPr/>
        </p:nvSpPr>
        <p:spPr>
          <a:xfrm>
            <a:off x="0" y="466290"/>
            <a:ext cx="9277166" cy="523220"/>
          </a:xfrm>
          <a:prstGeom prst="rect">
            <a:avLst/>
          </a:prstGeom>
          <a:noFill/>
        </p:spPr>
        <p:txBody>
          <a:bodyPr wrap="square" rtlCol="0">
            <a:noAutofit/>
          </a:bodyPr>
          <a:lstStyle/>
          <a:p>
            <a:r>
              <a:rPr lang="da-DK" sz="2000" b="1" dirty="0">
                <a:solidFill>
                  <a:srgbClr val="004C8F"/>
                </a:solidFill>
                <a:latin typeface="Univers 67 Condensed" pitchFamily="2" charset="0"/>
                <a:cs typeface="Calibri"/>
              </a:rPr>
              <a:t>Focus next week Highlight Activity (21-26 June)</a:t>
            </a:r>
          </a:p>
        </p:txBody>
      </p:sp>
    </p:spTree>
    <p:extLst>
      <p:ext uri="{BB962C8B-B14F-4D97-AF65-F5344CB8AC3E}">
        <p14:creationId xmlns:p14="http://schemas.microsoft.com/office/powerpoint/2010/main" val="3005435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449D7-D931-B64F-40A2-C8633D913C1B}"/>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FABF4E97-A5E3-04F5-D66A-5D8BF5561FE2}"/>
              </a:ext>
            </a:extLst>
          </p:cNvPr>
          <p:cNvSpPr txBox="1"/>
          <p:nvPr/>
        </p:nvSpPr>
        <p:spPr>
          <a:xfrm>
            <a:off x="231528" y="196152"/>
            <a:ext cx="10569187" cy="523220"/>
          </a:xfrm>
          <a:prstGeom prst="rect">
            <a:avLst/>
          </a:prstGeom>
          <a:noFill/>
        </p:spPr>
        <p:txBody>
          <a:bodyPr wrap="square" rtlCol="0">
            <a:noAutofit/>
          </a:bodyPr>
          <a:lstStyle/>
          <a:p>
            <a:r>
              <a:rPr lang="en-US" sz="2800" b="1" dirty="0">
                <a:solidFill>
                  <a:srgbClr val="004C8F"/>
                </a:solidFill>
                <a:latin typeface="Univers 67 Condensed" pitchFamily="2" charset="0"/>
                <a:cs typeface="Calibri"/>
              </a:rPr>
              <a:t>Attainment 30D June 2026, GGSDR (up to 27 June)</a:t>
            </a:r>
          </a:p>
        </p:txBody>
      </p:sp>
      <p:pic>
        <p:nvPicPr>
          <p:cNvPr id="4" name="Picture 3">
            <a:extLst>
              <a:ext uri="{FF2B5EF4-FFF2-40B4-BE49-F238E27FC236}">
                <a16:creationId xmlns:a16="http://schemas.microsoft.com/office/drawing/2014/main" id="{F4D9E601-E019-D0AE-6E91-8BF1CB4BDF41}"/>
              </a:ext>
            </a:extLst>
          </p:cNvPr>
          <p:cNvPicPr>
            <a:picLocks noChangeAspect="1"/>
          </p:cNvPicPr>
          <p:nvPr/>
        </p:nvPicPr>
        <p:blipFill>
          <a:blip r:embed="rId3"/>
          <a:stretch>
            <a:fillRect/>
          </a:stretch>
        </p:blipFill>
        <p:spPr>
          <a:xfrm>
            <a:off x="497937" y="968930"/>
            <a:ext cx="3829615" cy="5474200"/>
          </a:xfrm>
          <a:prstGeom prst="rect">
            <a:avLst/>
          </a:prstGeom>
        </p:spPr>
      </p:pic>
      <p:pic>
        <p:nvPicPr>
          <p:cNvPr id="8" name="Picture 7">
            <a:extLst>
              <a:ext uri="{FF2B5EF4-FFF2-40B4-BE49-F238E27FC236}">
                <a16:creationId xmlns:a16="http://schemas.microsoft.com/office/drawing/2014/main" id="{FCCFB46B-ECAA-87E4-3F14-F969667034B0}"/>
              </a:ext>
            </a:extLst>
          </p:cNvPr>
          <p:cNvPicPr>
            <a:picLocks noChangeAspect="1"/>
          </p:cNvPicPr>
          <p:nvPr/>
        </p:nvPicPr>
        <p:blipFill>
          <a:blip r:embed="rId4"/>
          <a:stretch>
            <a:fillRect/>
          </a:stretch>
        </p:blipFill>
        <p:spPr>
          <a:xfrm>
            <a:off x="4759149" y="1040865"/>
            <a:ext cx="5725202" cy="1928672"/>
          </a:xfrm>
          <a:prstGeom prst="rect">
            <a:avLst/>
          </a:prstGeom>
        </p:spPr>
      </p:pic>
      <p:pic>
        <p:nvPicPr>
          <p:cNvPr id="10" name="Picture 9">
            <a:extLst>
              <a:ext uri="{FF2B5EF4-FFF2-40B4-BE49-F238E27FC236}">
                <a16:creationId xmlns:a16="http://schemas.microsoft.com/office/drawing/2014/main" id="{81E7B737-8E4B-D923-12A3-2D530D152230}"/>
              </a:ext>
            </a:extLst>
          </p:cNvPr>
          <p:cNvPicPr>
            <a:picLocks noChangeAspect="1"/>
          </p:cNvPicPr>
          <p:nvPr/>
        </p:nvPicPr>
        <p:blipFill>
          <a:blip r:embed="rId5"/>
          <a:stretch>
            <a:fillRect/>
          </a:stretch>
        </p:blipFill>
        <p:spPr>
          <a:xfrm>
            <a:off x="4759147" y="3095598"/>
            <a:ext cx="5725203" cy="3198339"/>
          </a:xfrm>
          <a:prstGeom prst="rect">
            <a:avLst/>
          </a:prstGeom>
        </p:spPr>
      </p:pic>
    </p:spTree>
    <p:extLst>
      <p:ext uri="{BB962C8B-B14F-4D97-AF65-F5344CB8AC3E}">
        <p14:creationId xmlns:p14="http://schemas.microsoft.com/office/powerpoint/2010/main" val="2710185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E5DC-5709-ADB4-37F4-FCEECDAAF5DF}"/>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7ABE578-6705-CE6F-2EA9-109631433B08}"/>
              </a:ext>
            </a:extLst>
          </p:cNvPr>
          <p:cNvGraphicFramePr>
            <a:graphicFrameLocks noGrp="1"/>
          </p:cNvGraphicFramePr>
          <p:nvPr>
            <p:extLst>
              <p:ext uri="{D42A27DB-BD31-4B8C-83A1-F6EECF244321}">
                <p14:modId xmlns:p14="http://schemas.microsoft.com/office/powerpoint/2010/main" val="1118920243"/>
              </p:ext>
            </p:extLst>
          </p:nvPr>
        </p:nvGraphicFramePr>
        <p:xfrm>
          <a:off x="397829" y="4999949"/>
          <a:ext cx="7490646" cy="1395910"/>
        </p:xfrm>
        <a:graphic>
          <a:graphicData uri="http://schemas.openxmlformats.org/drawingml/2006/table">
            <a:tbl>
              <a:tblPr/>
              <a:tblGrid>
                <a:gridCol w="686961">
                  <a:extLst>
                    <a:ext uri="{9D8B030D-6E8A-4147-A177-3AD203B41FA5}">
                      <a16:colId xmlns:a16="http://schemas.microsoft.com/office/drawing/2014/main" val="237336915"/>
                    </a:ext>
                  </a:extLst>
                </a:gridCol>
                <a:gridCol w="752568">
                  <a:extLst>
                    <a:ext uri="{9D8B030D-6E8A-4147-A177-3AD203B41FA5}">
                      <a16:colId xmlns:a16="http://schemas.microsoft.com/office/drawing/2014/main" val="2796419844"/>
                    </a:ext>
                  </a:extLst>
                </a:gridCol>
                <a:gridCol w="764351">
                  <a:extLst>
                    <a:ext uri="{9D8B030D-6E8A-4147-A177-3AD203B41FA5}">
                      <a16:colId xmlns:a16="http://schemas.microsoft.com/office/drawing/2014/main" val="3884946517"/>
                    </a:ext>
                  </a:extLst>
                </a:gridCol>
                <a:gridCol w="4280369">
                  <a:extLst>
                    <a:ext uri="{9D8B030D-6E8A-4147-A177-3AD203B41FA5}">
                      <a16:colId xmlns:a16="http://schemas.microsoft.com/office/drawing/2014/main" val="2644962023"/>
                    </a:ext>
                  </a:extLst>
                </a:gridCol>
                <a:gridCol w="1006397">
                  <a:extLst>
                    <a:ext uri="{9D8B030D-6E8A-4147-A177-3AD203B41FA5}">
                      <a16:colId xmlns:a16="http://schemas.microsoft.com/office/drawing/2014/main" val="4178687049"/>
                    </a:ext>
                  </a:extLst>
                </a:gridCol>
              </a:tblGrid>
              <a:tr h="344350">
                <a:tc>
                  <a:txBody>
                    <a:bodyPr/>
                    <a:lstStyle/>
                    <a:p>
                      <a:pPr algn="ctr" fontAlgn="ctr"/>
                      <a:r>
                        <a:rPr lang="en-US" sz="1000" b="1" i="0" u="none" strike="noStrike" dirty="0">
                          <a:solidFill>
                            <a:srgbClr val="000000"/>
                          </a:solidFill>
                          <a:effectLst/>
                          <a:latin typeface="Aptos Narrow" panose="020B0004020202020204" pitchFamily="34" charset="0"/>
                        </a:rPr>
                        <a:t>Field</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a:noFill/>
                    </a:lnT>
                    <a:lnB w="6350" cap="flat" cmpd="sng" algn="ctr">
                      <a:solidFill>
                        <a:srgbClr val="000000"/>
                      </a:solidFill>
                      <a:prstDash val="dash"/>
                      <a:round/>
                      <a:headEnd type="none" w="med" len="med"/>
                      <a:tailEnd type="none" w="med" len="med"/>
                    </a:lnB>
                    <a:solidFill>
                      <a:srgbClr val="92D050"/>
                    </a:solidFill>
                  </a:tcPr>
                </a:tc>
                <a:tc>
                  <a:txBody>
                    <a:bodyPr/>
                    <a:lstStyle/>
                    <a:p>
                      <a:pPr algn="ctr" fontAlgn="ctr"/>
                      <a:r>
                        <a:rPr lang="en-US" sz="1000" b="1" i="0" u="none" strike="noStrike" dirty="0">
                          <a:solidFill>
                            <a:srgbClr val="000000"/>
                          </a:solidFill>
                          <a:effectLst/>
                          <a:latin typeface="Aptos Narrow" panose="020B0004020202020204" pitchFamily="34" charset="0"/>
                        </a:rPr>
                        <a:t>Order Requestor</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ctr" fontAlgn="ctr"/>
                      <a:r>
                        <a:rPr lang="en-US" sz="1000" b="1" i="0" u="none" strike="noStrike" dirty="0">
                          <a:solidFill>
                            <a:srgbClr val="000000"/>
                          </a:solidFill>
                          <a:effectLst/>
                          <a:latin typeface="Aptos Narrow" panose="020B0004020202020204" pitchFamily="34" charset="0"/>
                        </a:rPr>
                        <a:t>PMO SAP</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ctr" fontAlgn="ctr"/>
                      <a:r>
                        <a:rPr lang="en-US" sz="1000" b="1" i="0" u="none" strike="noStrike" dirty="0">
                          <a:solidFill>
                            <a:srgbClr val="000000"/>
                          </a:solidFill>
                          <a:effectLst/>
                          <a:latin typeface="Aptos Narrow" panose="020B0004020202020204" pitchFamily="34" charset="0"/>
                        </a:rPr>
                        <a:t>Order Description/Level 1 (90 Days Activity)</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ctr" fontAlgn="ctr"/>
                      <a:r>
                        <a:rPr lang="en-US" sz="1000" b="1" i="0" u="none" strike="noStrike" dirty="0">
                          <a:solidFill>
                            <a:srgbClr val="000000"/>
                          </a:solidFill>
                          <a:effectLst/>
                          <a:latin typeface="Aptos Narrow" panose="020B0004020202020204" pitchFamily="34" charset="0"/>
                        </a:rPr>
                        <a:t>Main Work Center</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extLst>
                  <a:ext uri="{0D108BD9-81ED-4DB2-BD59-A6C34878D82A}">
                    <a16:rowId xmlns:a16="http://schemas.microsoft.com/office/drawing/2014/main" val="2867372396"/>
                  </a:ext>
                </a:extLst>
              </a:tr>
              <a:tr h="174054">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2808232994"/>
                  </a:ext>
                </a:extLst>
              </a:tr>
              <a:tr h="174054">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4239294099"/>
                  </a:ext>
                </a:extLst>
              </a:tr>
              <a:tr h="174054">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3853429193"/>
                  </a:ext>
                </a:extLst>
              </a:tr>
              <a:tr h="174054">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767886993"/>
                  </a:ext>
                </a:extLst>
              </a:tr>
              <a:tr h="174054">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3772289784"/>
                  </a:ext>
                </a:extLst>
              </a:tr>
              <a:tr h="174054">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623419829"/>
                  </a:ext>
                </a:extLst>
              </a:tr>
            </a:tbl>
          </a:graphicData>
        </a:graphic>
      </p:graphicFrame>
      <p:sp>
        <p:nvSpPr>
          <p:cNvPr id="5" name="TextBox 4">
            <a:extLst>
              <a:ext uri="{FF2B5EF4-FFF2-40B4-BE49-F238E27FC236}">
                <a16:creationId xmlns:a16="http://schemas.microsoft.com/office/drawing/2014/main" id="{58D2A097-5B32-5544-5677-BFC6B657C638}"/>
              </a:ext>
            </a:extLst>
          </p:cNvPr>
          <p:cNvSpPr txBox="1"/>
          <p:nvPr/>
        </p:nvSpPr>
        <p:spPr>
          <a:xfrm>
            <a:off x="397829" y="4168640"/>
            <a:ext cx="2294743" cy="396013"/>
          </a:xfrm>
          <a:prstGeom prst="rect">
            <a:avLst/>
          </a:prstGeom>
          <a:noFill/>
        </p:spPr>
        <p:txBody>
          <a:bodyPr wrap="square" rtlCol="0">
            <a:noAutofit/>
          </a:bodyPr>
          <a:lstStyle/>
          <a:p>
            <a:r>
              <a:rPr lang="da-DK" sz="2000" b="1" dirty="0">
                <a:solidFill>
                  <a:srgbClr val="004C8F"/>
                </a:solidFill>
                <a:latin typeface="Univers 67 Condensed" pitchFamily="2" charset="0"/>
                <a:cs typeface="Calibri"/>
              </a:rPr>
              <a:t>Request Activity</a:t>
            </a:r>
          </a:p>
        </p:txBody>
      </p:sp>
      <p:sp>
        <p:nvSpPr>
          <p:cNvPr id="6" name="TextBox 5">
            <a:extLst>
              <a:ext uri="{FF2B5EF4-FFF2-40B4-BE49-F238E27FC236}">
                <a16:creationId xmlns:a16="http://schemas.microsoft.com/office/drawing/2014/main" id="{AA823183-145F-C8DE-0C14-065C5052AE93}"/>
              </a:ext>
            </a:extLst>
          </p:cNvPr>
          <p:cNvSpPr txBox="1"/>
          <p:nvPr/>
        </p:nvSpPr>
        <p:spPr>
          <a:xfrm>
            <a:off x="397829" y="6415048"/>
            <a:ext cx="11542712" cy="1948602"/>
          </a:xfrm>
          <a:prstGeom prst="rect">
            <a:avLst/>
          </a:prstGeom>
          <a:noFill/>
        </p:spPr>
        <p:txBody>
          <a:bodyPr wrap="square" rtlCol="0">
            <a:noAutofit/>
          </a:bodyPr>
          <a:lstStyle/>
          <a:p>
            <a:r>
              <a:rPr lang="da-DK" sz="2000" b="1" dirty="0">
                <a:solidFill>
                  <a:srgbClr val="004C8F"/>
                </a:solidFill>
                <a:latin typeface="Univers 67 Condensed" pitchFamily="2" charset="0"/>
                <a:cs typeface="Calibri"/>
              </a:rPr>
              <a:t>Concern:</a:t>
            </a:r>
          </a:p>
          <a:p>
            <a:pPr marL="342900" indent="-342900">
              <a:buFont typeface="Arial" panose="020B0604020202020204" pitchFamily="34" charset="0"/>
              <a:buChar char="•"/>
            </a:pPr>
            <a:endParaRPr lang="da-DK" sz="1600" dirty="0">
              <a:solidFill>
                <a:srgbClr val="004C8F"/>
              </a:solidFill>
              <a:latin typeface="Univers 67 Condensed" pitchFamily="2" charset="0"/>
              <a:cs typeface="Calibri"/>
            </a:endParaRPr>
          </a:p>
        </p:txBody>
      </p:sp>
      <p:sp>
        <p:nvSpPr>
          <p:cNvPr id="8" name="TextBox 7">
            <a:extLst>
              <a:ext uri="{FF2B5EF4-FFF2-40B4-BE49-F238E27FC236}">
                <a16:creationId xmlns:a16="http://schemas.microsoft.com/office/drawing/2014/main" id="{8D5E0BB7-B1C5-9942-9527-C1CA31B30AC0}"/>
              </a:ext>
            </a:extLst>
          </p:cNvPr>
          <p:cNvSpPr txBox="1"/>
          <p:nvPr/>
        </p:nvSpPr>
        <p:spPr>
          <a:xfrm>
            <a:off x="216421" y="171390"/>
            <a:ext cx="10569187" cy="523220"/>
          </a:xfrm>
          <a:prstGeom prst="rect">
            <a:avLst/>
          </a:prstGeom>
          <a:noFill/>
        </p:spPr>
        <p:txBody>
          <a:bodyPr wrap="square" rtlCol="0">
            <a:noAutofit/>
          </a:bodyPr>
          <a:lstStyle/>
          <a:p>
            <a:r>
              <a:rPr lang="sv-SE" sz="2800" b="1" dirty="0">
                <a:solidFill>
                  <a:srgbClr val="004C8F"/>
                </a:solidFill>
                <a:latin typeface="Univers 67 Condensed" pitchFamily="2" charset="0"/>
                <a:cs typeface="Calibri"/>
              </a:rPr>
              <a:t>Break in</a:t>
            </a:r>
          </a:p>
        </p:txBody>
      </p:sp>
      <p:graphicFrame>
        <p:nvGraphicFramePr>
          <p:cNvPr id="2" name="Table 1">
            <a:extLst>
              <a:ext uri="{FF2B5EF4-FFF2-40B4-BE49-F238E27FC236}">
                <a16:creationId xmlns:a16="http://schemas.microsoft.com/office/drawing/2014/main" id="{56887F25-AD64-DFE1-833B-DC819E01F8B2}"/>
              </a:ext>
            </a:extLst>
          </p:cNvPr>
          <p:cNvGraphicFramePr>
            <a:graphicFrameLocks noGrp="1"/>
          </p:cNvGraphicFramePr>
          <p:nvPr>
            <p:extLst>
              <p:ext uri="{D42A27DB-BD31-4B8C-83A1-F6EECF244321}">
                <p14:modId xmlns:p14="http://schemas.microsoft.com/office/powerpoint/2010/main" val="4039149812"/>
              </p:ext>
            </p:extLst>
          </p:nvPr>
        </p:nvGraphicFramePr>
        <p:xfrm>
          <a:off x="312847" y="984064"/>
          <a:ext cx="8578786" cy="3926475"/>
        </p:xfrm>
        <a:graphic>
          <a:graphicData uri="http://schemas.openxmlformats.org/drawingml/2006/table">
            <a:tbl>
              <a:tblPr/>
              <a:tblGrid>
                <a:gridCol w="4202547">
                  <a:extLst>
                    <a:ext uri="{9D8B030D-6E8A-4147-A177-3AD203B41FA5}">
                      <a16:colId xmlns:a16="http://schemas.microsoft.com/office/drawing/2014/main" val="4109055999"/>
                    </a:ext>
                  </a:extLst>
                </a:gridCol>
                <a:gridCol w="1508172">
                  <a:extLst>
                    <a:ext uri="{9D8B030D-6E8A-4147-A177-3AD203B41FA5}">
                      <a16:colId xmlns:a16="http://schemas.microsoft.com/office/drawing/2014/main" val="2838293739"/>
                    </a:ext>
                  </a:extLst>
                </a:gridCol>
                <a:gridCol w="1033690">
                  <a:extLst>
                    <a:ext uri="{9D8B030D-6E8A-4147-A177-3AD203B41FA5}">
                      <a16:colId xmlns:a16="http://schemas.microsoft.com/office/drawing/2014/main" val="2984021761"/>
                    </a:ext>
                  </a:extLst>
                </a:gridCol>
                <a:gridCol w="830342">
                  <a:extLst>
                    <a:ext uri="{9D8B030D-6E8A-4147-A177-3AD203B41FA5}">
                      <a16:colId xmlns:a16="http://schemas.microsoft.com/office/drawing/2014/main" val="3080045470"/>
                    </a:ext>
                  </a:extLst>
                </a:gridCol>
                <a:gridCol w="1004035">
                  <a:extLst>
                    <a:ext uri="{9D8B030D-6E8A-4147-A177-3AD203B41FA5}">
                      <a16:colId xmlns:a16="http://schemas.microsoft.com/office/drawing/2014/main" val="433657053"/>
                    </a:ext>
                  </a:extLst>
                </a:gridCol>
              </a:tblGrid>
              <a:tr h="261765">
                <a:tc>
                  <a:txBody>
                    <a:bodyPr/>
                    <a:lstStyle/>
                    <a:p>
                      <a:pPr algn="l" fontAlgn="b">
                        <a:buNone/>
                      </a:pPr>
                      <a:r>
                        <a:rPr lang="en-US" sz="1200" b="1" i="0" u="none" strike="noStrike">
                          <a:solidFill>
                            <a:srgbClr val="000000"/>
                          </a:solidFill>
                          <a:effectLst/>
                          <a:latin typeface="Aptos Narrow" panose="020B0004020202020204" pitchFamily="34" charset="0"/>
                        </a:rPr>
                        <a:t>Row Labels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b">
                        <a:buNone/>
                      </a:pPr>
                      <a:r>
                        <a:rPr lang="en-US" sz="1200" b="1" i="0" u="none" strike="noStrike" dirty="0">
                          <a:solidFill>
                            <a:srgbClr val="000000"/>
                          </a:solidFill>
                          <a:effectLst/>
                          <a:latin typeface="Aptos Narrow" panose="020B0004020202020204" pitchFamily="34" charset="0"/>
                        </a:rPr>
                        <a:t>ELETECH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b">
                        <a:buNone/>
                      </a:pPr>
                      <a:r>
                        <a:rPr lang="en-US" sz="1200" b="1" i="0" u="none" strike="noStrike">
                          <a:solidFill>
                            <a:srgbClr val="000000"/>
                          </a:solidFill>
                          <a:effectLst/>
                          <a:latin typeface="Aptos Narrow" panose="020B0004020202020204" pitchFamily="34" charset="0"/>
                        </a:rPr>
                        <a:t>MECHTECH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b">
                        <a:buNone/>
                      </a:pPr>
                      <a:r>
                        <a:rPr lang="en-US" sz="1200" b="1" i="0" u="none" strike="noStrike">
                          <a:solidFill>
                            <a:srgbClr val="000000"/>
                          </a:solidFill>
                          <a:effectLst/>
                          <a:latin typeface="Aptos Narrow" panose="020B0004020202020204" pitchFamily="34" charset="0"/>
                        </a:rPr>
                        <a:t>PIPEINSP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b">
                        <a:buNone/>
                      </a:pPr>
                      <a:r>
                        <a:rPr lang="en-US" sz="1200" b="1" i="0" u="none" strike="noStrike">
                          <a:solidFill>
                            <a:srgbClr val="000000"/>
                          </a:solidFill>
                          <a:effectLst/>
                          <a:latin typeface="Aptos Narrow" panose="020B0004020202020204" pitchFamily="34" charset="0"/>
                        </a:rPr>
                        <a:t>Grand Total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664537645"/>
                  </a:ext>
                </a:extLst>
              </a:tr>
              <a:tr h="261765">
                <a:tc>
                  <a:txBody>
                    <a:bodyPr/>
                    <a:lstStyle/>
                    <a:p>
                      <a:pPr algn="l" fontAlgn="b">
                        <a:buNone/>
                      </a:pPr>
                      <a:r>
                        <a:rPr lang="en-US" sz="1200" b="1" i="0" u="none" strike="noStrike">
                          <a:solidFill>
                            <a:srgbClr val="000000"/>
                          </a:solidFill>
                          <a:effectLst/>
                          <a:latin typeface="Aptos Narrow" panose="020B0004020202020204" pitchFamily="34" charset="0"/>
                        </a:rPr>
                        <a:t>Gelam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1" i="0" u="none" strike="noStrike">
                          <a:solidFill>
                            <a:srgbClr val="000000"/>
                          </a:solidFill>
                          <a:effectLst/>
                          <a:latin typeface="Aptos Narrow" panose="020B000402020202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1"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1"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1" i="0" u="none" strike="noStrike">
                          <a:solidFill>
                            <a:srgbClr val="000000"/>
                          </a:solidFill>
                          <a:effectLst/>
                          <a:latin typeface="Aptos Narrow" panose="020B000402020202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0318540"/>
                  </a:ext>
                </a:extLst>
              </a:tr>
              <a:tr h="261765">
                <a:tc>
                  <a:txBody>
                    <a:bodyPr/>
                    <a:lstStyle/>
                    <a:p>
                      <a:pPr algn="l" fontAlgn="b">
                        <a:buNone/>
                      </a:pPr>
                      <a:r>
                        <a:rPr lang="en-US" sz="1200" b="0" i="0" u="none" strike="noStrike">
                          <a:solidFill>
                            <a:srgbClr val="000000"/>
                          </a:solidFill>
                          <a:effectLst/>
                          <a:latin typeface="Aptos Narrow" panose="020B0004020202020204" pitchFamily="34" charset="0"/>
                        </a:rPr>
                        <a:t>RDG: Battery Diesel Fire pump No Cover</a:t>
                      </a:r>
                    </a:p>
                  </a:txBody>
                  <a:tcPr marL="85725"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6698109"/>
                  </a:ext>
                </a:extLst>
              </a:tr>
              <a:tr h="261765">
                <a:tc>
                  <a:txBody>
                    <a:bodyPr/>
                    <a:lstStyle/>
                    <a:p>
                      <a:pPr algn="l" fontAlgn="b">
                        <a:buNone/>
                      </a:pPr>
                      <a:r>
                        <a:rPr lang="en-US" sz="1200" b="0" i="0" u="none" strike="noStrike">
                          <a:solidFill>
                            <a:srgbClr val="000000"/>
                          </a:solidFill>
                          <a:effectLst/>
                          <a:latin typeface="Aptos Narrow" panose="020B0004020202020204" pitchFamily="34" charset="0"/>
                        </a:rPr>
                        <a:t>RDG: MOTOR LIME DOSING A NOISE</a:t>
                      </a:r>
                    </a:p>
                  </a:txBody>
                  <a:tcPr marL="85725"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5232826"/>
                  </a:ext>
                </a:extLst>
              </a:tr>
              <a:tr h="261765">
                <a:tc>
                  <a:txBody>
                    <a:bodyPr/>
                    <a:lstStyle/>
                    <a:p>
                      <a:pPr algn="l" fontAlgn="b">
                        <a:buNone/>
                      </a:pPr>
                      <a:r>
                        <a:rPr lang="en-US" sz="1200" b="0" i="0" u="none" strike="noStrike" dirty="0">
                          <a:solidFill>
                            <a:srgbClr val="000000"/>
                          </a:solidFill>
                          <a:effectLst/>
                          <a:latin typeface="Aptos Narrow" panose="020B0004020202020204" pitchFamily="34" charset="0"/>
                        </a:rPr>
                        <a:t>RDG: UPS 88G401 OVERLOAD ALARM</a:t>
                      </a:r>
                    </a:p>
                  </a:txBody>
                  <a:tcPr marL="85725"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1454617"/>
                  </a:ext>
                </a:extLst>
              </a:tr>
              <a:tr h="261765">
                <a:tc>
                  <a:txBody>
                    <a:bodyPr/>
                    <a:lstStyle/>
                    <a:p>
                      <a:pPr algn="l" fontAlgn="b">
                        <a:buNone/>
                      </a:pPr>
                      <a:r>
                        <a:rPr lang="en-US" sz="1200" b="1" i="0" u="none" strike="noStrike" dirty="0">
                          <a:solidFill>
                            <a:srgbClr val="000000"/>
                          </a:solidFill>
                          <a:effectLst/>
                          <a:latin typeface="Aptos Narrow" panose="020B0004020202020204" pitchFamily="34" charset="0"/>
                        </a:rPr>
                        <a:t>Grissik</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1"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1" i="0" u="none" strike="noStrike">
                          <a:solidFill>
                            <a:srgbClr val="000000"/>
                          </a:solidFill>
                          <a:effectLst/>
                          <a:latin typeface="Aptos Narrow" panose="020B000402020202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1" i="0" u="none" strike="noStrike">
                          <a:solidFill>
                            <a:srgbClr val="000000"/>
                          </a:solidFill>
                          <a:effectLst/>
                          <a:latin typeface="Aptos Narrow" panose="020B000402020202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1" i="0" u="none" strike="noStrike">
                          <a:solidFill>
                            <a:srgbClr val="000000"/>
                          </a:solidFill>
                          <a:effectLst/>
                          <a:latin typeface="Aptos Narrow" panose="020B0004020202020204" pitchFamily="34" charset="0"/>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7173465"/>
                  </a:ext>
                </a:extLst>
              </a:tr>
              <a:tr h="261765">
                <a:tc>
                  <a:txBody>
                    <a:bodyPr/>
                    <a:lstStyle/>
                    <a:p>
                      <a:pPr algn="l" fontAlgn="b">
                        <a:buNone/>
                      </a:pPr>
                      <a:r>
                        <a:rPr lang="en-US" sz="1200" b="0" i="0" u="none" strike="noStrike" dirty="0">
                          <a:solidFill>
                            <a:srgbClr val="000000"/>
                          </a:solidFill>
                          <a:effectLst/>
                          <a:latin typeface="Aptos Narrow" panose="020B0004020202020204" pitchFamily="34" charset="0"/>
                        </a:rPr>
                        <a:t>Scanning Underground SACP Pipeline-AI 4 INCH</a:t>
                      </a:r>
                    </a:p>
                  </a:txBody>
                  <a:tcPr marL="85725"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97037127"/>
                  </a:ext>
                </a:extLst>
              </a:tr>
              <a:tr h="261765">
                <a:tc>
                  <a:txBody>
                    <a:bodyPr/>
                    <a:lstStyle/>
                    <a:p>
                      <a:pPr algn="l" fontAlgn="b">
                        <a:buNone/>
                      </a:pPr>
                      <a:r>
                        <a:rPr lang="en-US" sz="1200" b="0" i="0" u="none" strike="noStrike" dirty="0">
                          <a:solidFill>
                            <a:srgbClr val="000000"/>
                          </a:solidFill>
                          <a:effectLst/>
                          <a:latin typeface="Aptos Narrow" panose="020B0004020202020204" pitchFamily="34" charset="0"/>
                        </a:rPr>
                        <a:t>Support Lighting and Power WHB#1</a:t>
                      </a:r>
                    </a:p>
                  </a:txBody>
                  <a:tcPr marL="85725"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07212495"/>
                  </a:ext>
                </a:extLst>
              </a:tr>
              <a:tr h="261765">
                <a:tc>
                  <a:txBody>
                    <a:bodyPr/>
                    <a:lstStyle/>
                    <a:p>
                      <a:pPr algn="l" fontAlgn="b">
                        <a:buNone/>
                      </a:pPr>
                      <a:r>
                        <a:rPr lang="en-US" sz="1200" b="1" i="0" u="none" strike="noStrike" dirty="0">
                          <a:solidFill>
                            <a:srgbClr val="000000"/>
                          </a:solidFill>
                          <a:effectLst/>
                          <a:latin typeface="Aptos Narrow" panose="020B0004020202020204" pitchFamily="34" charset="0"/>
                        </a:rPr>
                        <a:t>Tengah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1" i="0" u="none" strike="noStrike" dirty="0">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1" i="0" u="none" strike="noStrike" dirty="0">
                          <a:solidFill>
                            <a:srgbClr val="000000"/>
                          </a:solidFill>
                          <a:effectLst/>
                          <a:latin typeface="Aptos Narrow" panose="020B0004020202020204" pitchFamily="34" charset="0"/>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1" i="0" u="none" strike="noStrike" dirty="0">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1" i="0" u="none" strike="noStrike" dirty="0">
                          <a:solidFill>
                            <a:srgbClr val="000000"/>
                          </a:solidFill>
                          <a:effectLst/>
                          <a:latin typeface="Aptos Narrow" panose="020B0004020202020204" pitchFamily="34" charset="0"/>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56202789"/>
                  </a:ext>
                </a:extLst>
              </a:tr>
              <a:tr h="261765">
                <a:tc>
                  <a:txBody>
                    <a:bodyPr/>
                    <a:lstStyle/>
                    <a:p>
                      <a:pPr algn="l" fontAlgn="b">
                        <a:buNone/>
                      </a:pPr>
                      <a:r>
                        <a:rPr lang="en-US" sz="1200" b="0" i="0" u="none" strike="noStrike">
                          <a:solidFill>
                            <a:srgbClr val="000000"/>
                          </a:solidFill>
                          <a:effectLst/>
                          <a:latin typeface="Aptos Narrow" panose="020B0004020202020204" pitchFamily="34" charset="0"/>
                        </a:rPr>
                        <a:t>DR 1 Engine under speed and compressor o</a:t>
                      </a:r>
                    </a:p>
                  </a:txBody>
                  <a:tcPr marL="85725"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dirty="0">
                          <a:solidFill>
                            <a:srgbClr val="000000"/>
                          </a:solidFill>
                          <a:effectLst/>
                          <a:latin typeface="Aptos Narrow" panose="020B0004020202020204" pitchFamily="34" charset="0"/>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1013059"/>
                  </a:ext>
                </a:extLst>
              </a:tr>
              <a:tr h="261765">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85725"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dirty="0">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7737151"/>
                  </a:ext>
                </a:extLst>
              </a:tr>
              <a:tr h="261765">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85725"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dirty="0">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4639291"/>
                  </a:ext>
                </a:extLst>
              </a:tr>
              <a:tr h="261765">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85725"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dirty="0">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1029291"/>
                  </a:ext>
                </a:extLst>
              </a:tr>
              <a:tr h="261765">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85725"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200" b="0" i="0" u="none" strike="noStrike" dirty="0">
                        <a:solidFill>
                          <a:srgbClr val="000000"/>
                        </a:solidFill>
                        <a:effectLst/>
                        <a:latin typeface="Aptos Narrow" panose="020B00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5090124"/>
                  </a:ext>
                </a:extLst>
              </a:tr>
              <a:tr h="261765">
                <a:tc>
                  <a:txBody>
                    <a:bodyPr/>
                    <a:lstStyle/>
                    <a:p>
                      <a:pPr algn="l" fontAlgn="b">
                        <a:buNone/>
                      </a:pPr>
                      <a:r>
                        <a:rPr lang="en-US" sz="1200" b="1" i="0" u="none" strike="noStrike">
                          <a:solidFill>
                            <a:srgbClr val="000000"/>
                          </a:solidFill>
                          <a:effectLst/>
                          <a:latin typeface="Aptos Narrow" panose="020B0004020202020204" pitchFamily="34" charset="0"/>
                        </a:rPr>
                        <a:t>Grand Total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b">
                        <a:buNone/>
                      </a:pPr>
                      <a:r>
                        <a:rPr lang="en-US" sz="1200" b="1" i="0" u="none" strike="noStrike">
                          <a:solidFill>
                            <a:srgbClr val="000000"/>
                          </a:solidFill>
                          <a:effectLst/>
                          <a:latin typeface="Aptos Narrow" panose="020B000402020202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b">
                        <a:buNone/>
                      </a:pPr>
                      <a:r>
                        <a:rPr lang="en-US" sz="1200" b="1" i="0" u="none" strike="noStrike">
                          <a:solidFill>
                            <a:srgbClr val="000000"/>
                          </a:solidFill>
                          <a:effectLst/>
                          <a:latin typeface="Aptos Narrow" panose="020B0004020202020204" pitchFamily="34" charset="0"/>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b">
                        <a:buNone/>
                      </a:pPr>
                      <a:r>
                        <a:rPr lang="en-US" sz="1200" b="1" i="0" u="none" strike="noStrike">
                          <a:solidFill>
                            <a:srgbClr val="000000"/>
                          </a:solidFill>
                          <a:effectLst/>
                          <a:latin typeface="Aptos Narrow" panose="020B0004020202020204" pitchFamily="34" charset="0"/>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b">
                        <a:buNone/>
                      </a:pPr>
                      <a:r>
                        <a:rPr lang="en-US" sz="1200" b="1" i="0" u="none" strike="noStrike" dirty="0">
                          <a:solidFill>
                            <a:srgbClr val="000000"/>
                          </a:solidFill>
                          <a:effectLst/>
                          <a:latin typeface="Aptos Narrow" panose="020B0004020202020204" pitchFamily="34" charset="0"/>
                        </a:rPr>
                        <a:t>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356482453"/>
                  </a:ext>
                </a:extLst>
              </a:tr>
            </a:tbl>
          </a:graphicData>
        </a:graphic>
      </p:graphicFrame>
    </p:spTree>
    <p:extLst>
      <p:ext uri="{BB962C8B-B14F-4D97-AF65-F5344CB8AC3E}">
        <p14:creationId xmlns:p14="http://schemas.microsoft.com/office/powerpoint/2010/main" val="2434880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78475-64D7-1C5B-75A0-8BCEE4B5CD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09A7EC3-B7BA-6D13-B75E-C5BEAD2B4564}"/>
              </a:ext>
            </a:extLst>
          </p:cNvPr>
          <p:cNvSpPr txBox="1"/>
          <p:nvPr/>
        </p:nvSpPr>
        <p:spPr>
          <a:xfrm>
            <a:off x="402339" y="205040"/>
            <a:ext cx="10569187" cy="523220"/>
          </a:xfrm>
          <a:prstGeom prst="rect">
            <a:avLst/>
          </a:prstGeom>
          <a:noFill/>
        </p:spPr>
        <p:txBody>
          <a:bodyPr wrap="square" rtlCol="0">
            <a:noAutofit/>
          </a:bodyPr>
          <a:lstStyle/>
          <a:p>
            <a:pPr>
              <a:lnSpc>
                <a:spcPct val="90000"/>
              </a:lnSpc>
              <a:spcBef>
                <a:spcPct val="0"/>
              </a:spcBef>
              <a:spcAft>
                <a:spcPts val="600"/>
              </a:spcAft>
            </a:pPr>
            <a:r>
              <a:rPr lang="en-US" sz="2800" b="1" dirty="0">
                <a:solidFill>
                  <a:srgbClr val="004C8F"/>
                </a:solidFill>
                <a:latin typeface="Univers 67 Condensed" pitchFamily="2" charset="0"/>
                <a:cs typeface="Calibri"/>
              </a:rPr>
              <a:t>PPM Compliance in June 2026, GGSDR</a:t>
            </a:r>
          </a:p>
        </p:txBody>
      </p:sp>
      <p:pic>
        <p:nvPicPr>
          <p:cNvPr id="5" name="Picture 4">
            <a:extLst>
              <a:ext uri="{FF2B5EF4-FFF2-40B4-BE49-F238E27FC236}">
                <a16:creationId xmlns:a16="http://schemas.microsoft.com/office/drawing/2014/main" id="{DFEB0CC9-FB20-4782-A508-39C6014DC4DB}"/>
              </a:ext>
            </a:extLst>
          </p:cNvPr>
          <p:cNvPicPr>
            <a:picLocks noChangeAspect="1"/>
          </p:cNvPicPr>
          <p:nvPr/>
        </p:nvPicPr>
        <p:blipFill>
          <a:blip r:embed="rId3"/>
          <a:stretch>
            <a:fillRect/>
          </a:stretch>
        </p:blipFill>
        <p:spPr>
          <a:xfrm>
            <a:off x="155087" y="984800"/>
            <a:ext cx="5666291" cy="2045567"/>
          </a:xfrm>
          <a:prstGeom prst="rect">
            <a:avLst/>
          </a:prstGeom>
          <a:ln w="19050">
            <a:solidFill>
              <a:schemeClr val="tx1"/>
            </a:solidFill>
          </a:ln>
        </p:spPr>
      </p:pic>
      <p:pic>
        <p:nvPicPr>
          <p:cNvPr id="9" name="Picture 8">
            <a:extLst>
              <a:ext uri="{FF2B5EF4-FFF2-40B4-BE49-F238E27FC236}">
                <a16:creationId xmlns:a16="http://schemas.microsoft.com/office/drawing/2014/main" id="{AE99F315-3966-61D1-2138-6BD98061C822}"/>
              </a:ext>
            </a:extLst>
          </p:cNvPr>
          <p:cNvPicPr>
            <a:picLocks noChangeAspect="1"/>
          </p:cNvPicPr>
          <p:nvPr/>
        </p:nvPicPr>
        <p:blipFill>
          <a:blip r:embed="rId4"/>
          <a:stretch>
            <a:fillRect/>
          </a:stretch>
        </p:blipFill>
        <p:spPr>
          <a:xfrm>
            <a:off x="155087" y="3218034"/>
            <a:ext cx="7572375" cy="1219200"/>
          </a:xfrm>
          <a:prstGeom prst="rect">
            <a:avLst/>
          </a:prstGeom>
        </p:spPr>
      </p:pic>
    </p:spTree>
    <p:extLst>
      <p:ext uri="{BB962C8B-B14F-4D97-AF65-F5344CB8AC3E}">
        <p14:creationId xmlns:p14="http://schemas.microsoft.com/office/powerpoint/2010/main" val="2048899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41F22-007A-D765-AFE3-BA2CC4BCC833}"/>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6C9EF944-4ED5-8C72-B735-19A01DE04B95}"/>
              </a:ext>
            </a:extLst>
          </p:cNvPr>
          <p:cNvSpPr txBox="1"/>
          <p:nvPr/>
        </p:nvSpPr>
        <p:spPr>
          <a:xfrm>
            <a:off x="231528" y="196152"/>
            <a:ext cx="10569187" cy="523220"/>
          </a:xfrm>
          <a:prstGeom prst="rect">
            <a:avLst/>
          </a:prstGeom>
          <a:noFill/>
        </p:spPr>
        <p:txBody>
          <a:bodyPr wrap="square" rtlCol="0">
            <a:noAutofit/>
          </a:bodyPr>
          <a:lstStyle/>
          <a:p>
            <a:r>
              <a:rPr lang="en-US" sz="2800" b="1" dirty="0">
                <a:solidFill>
                  <a:srgbClr val="004C8F"/>
                </a:solidFill>
                <a:latin typeface="Univers 67 Condensed" pitchFamily="2" charset="0"/>
                <a:cs typeface="Calibri"/>
              </a:rPr>
              <a:t>Craft Utilization KPI Maintenance in KPI May-Jun 2026</a:t>
            </a:r>
          </a:p>
        </p:txBody>
      </p:sp>
      <p:pic>
        <p:nvPicPr>
          <p:cNvPr id="3" name="Picture 2">
            <a:extLst>
              <a:ext uri="{FF2B5EF4-FFF2-40B4-BE49-F238E27FC236}">
                <a16:creationId xmlns:a16="http://schemas.microsoft.com/office/drawing/2014/main" id="{1A733104-815E-E266-6140-24F74D67B95A}"/>
              </a:ext>
            </a:extLst>
          </p:cNvPr>
          <p:cNvPicPr>
            <a:picLocks noChangeAspect="1"/>
          </p:cNvPicPr>
          <p:nvPr/>
        </p:nvPicPr>
        <p:blipFill>
          <a:blip r:embed="rId3"/>
          <a:stretch>
            <a:fillRect/>
          </a:stretch>
        </p:blipFill>
        <p:spPr>
          <a:xfrm>
            <a:off x="337794" y="1047013"/>
            <a:ext cx="7010400" cy="2162175"/>
          </a:xfrm>
          <a:prstGeom prst="rect">
            <a:avLst/>
          </a:prstGeom>
          <a:ln w="19050">
            <a:solidFill>
              <a:schemeClr val="tx1"/>
            </a:solidFill>
          </a:ln>
        </p:spPr>
      </p:pic>
      <p:pic>
        <p:nvPicPr>
          <p:cNvPr id="13" name="Picture 12">
            <a:extLst>
              <a:ext uri="{FF2B5EF4-FFF2-40B4-BE49-F238E27FC236}">
                <a16:creationId xmlns:a16="http://schemas.microsoft.com/office/drawing/2014/main" id="{6418A740-F46C-0F39-792C-B6466E30FDC5}"/>
              </a:ext>
            </a:extLst>
          </p:cNvPr>
          <p:cNvPicPr>
            <a:picLocks noChangeAspect="1"/>
          </p:cNvPicPr>
          <p:nvPr/>
        </p:nvPicPr>
        <p:blipFill>
          <a:blip r:embed="rId4"/>
          <a:stretch>
            <a:fillRect/>
          </a:stretch>
        </p:blipFill>
        <p:spPr>
          <a:xfrm>
            <a:off x="329937" y="3353586"/>
            <a:ext cx="5369848" cy="2381988"/>
          </a:xfrm>
          <a:prstGeom prst="rect">
            <a:avLst/>
          </a:prstGeom>
          <a:ln w="19050">
            <a:solidFill>
              <a:schemeClr val="tx1"/>
            </a:solidFill>
          </a:ln>
        </p:spPr>
      </p:pic>
      <p:pic>
        <p:nvPicPr>
          <p:cNvPr id="15" name="Picture 14">
            <a:extLst>
              <a:ext uri="{FF2B5EF4-FFF2-40B4-BE49-F238E27FC236}">
                <a16:creationId xmlns:a16="http://schemas.microsoft.com/office/drawing/2014/main" id="{AB767F07-75E2-692D-6844-386C86D2E0EC}"/>
              </a:ext>
            </a:extLst>
          </p:cNvPr>
          <p:cNvPicPr>
            <a:picLocks noChangeAspect="1"/>
          </p:cNvPicPr>
          <p:nvPr/>
        </p:nvPicPr>
        <p:blipFill>
          <a:blip r:embed="rId5"/>
          <a:stretch>
            <a:fillRect/>
          </a:stretch>
        </p:blipFill>
        <p:spPr>
          <a:xfrm>
            <a:off x="5859644" y="3353586"/>
            <a:ext cx="6162676" cy="2162175"/>
          </a:xfrm>
          <a:prstGeom prst="rect">
            <a:avLst/>
          </a:prstGeom>
          <a:ln w="19050">
            <a:solidFill>
              <a:schemeClr val="tx1"/>
            </a:solidFill>
          </a:ln>
        </p:spPr>
      </p:pic>
    </p:spTree>
    <p:extLst>
      <p:ext uri="{BB962C8B-B14F-4D97-AF65-F5344CB8AC3E}">
        <p14:creationId xmlns:p14="http://schemas.microsoft.com/office/powerpoint/2010/main" val="1726481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71DDD-0BEF-B855-30C2-9C91664FE7AF}"/>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66287DBD-DCB4-F9CC-C2F4-567AE7DB4785}"/>
              </a:ext>
            </a:extLst>
          </p:cNvPr>
          <p:cNvSpPr txBox="1"/>
          <p:nvPr/>
        </p:nvSpPr>
        <p:spPr>
          <a:xfrm>
            <a:off x="231528" y="196152"/>
            <a:ext cx="10569187" cy="523220"/>
          </a:xfrm>
          <a:prstGeom prst="rect">
            <a:avLst/>
          </a:prstGeom>
          <a:noFill/>
        </p:spPr>
        <p:txBody>
          <a:bodyPr wrap="square" rtlCol="0">
            <a:noAutofit/>
          </a:bodyPr>
          <a:lstStyle/>
          <a:p>
            <a:r>
              <a:rPr lang="sv-SE" sz="2800" b="1" dirty="0">
                <a:solidFill>
                  <a:srgbClr val="004C8F"/>
                </a:solidFill>
                <a:latin typeface="Univers 67 Condensed" pitchFamily="2" charset="0"/>
                <a:cs typeface="Calibri"/>
              </a:rPr>
              <a:t>List GGSDR PMO Deferral and Potential Deferral</a:t>
            </a:r>
          </a:p>
        </p:txBody>
      </p:sp>
      <p:graphicFrame>
        <p:nvGraphicFramePr>
          <p:cNvPr id="6" name="Table 5">
            <a:extLst>
              <a:ext uri="{FF2B5EF4-FFF2-40B4-BE49-F238E27FC236}">
                <a16:creationId xmlns:a16="http://schemas.microsoft.com/office/drawing/2014/main" id="{976B251A-5A81-CA3B-5E35-556FE9310825}"/>
              </a:ext>
            </a:extLst>
          </p:cNvPr>
          <p:cNvGraphicFramePr>
            <a:graphicFrameLocks noGrp="1"/>
          </p:cNvGraphicFramePr>
          <p:nvPr/>
        </p:nvGraphicFramePr>
        <p:xfrm>
          <a:off x="231528" y="1061560"/>
          <a:ext cx="11818632" cy="4546344"/>
        </p:xfrm>
        <a:graphic>
          <a:graphicData uri="http://schemas.openxmlformats.org/drawingml/2006/table">
            <a:tbl>
              <a:tblPr/>
              <a:tblGrid>
                <a:gridCol w="708272">
                  <a:extLst>
                    <a:ext uri="{9D8B030D-6E8A-4147-A177-3AD203B41FA5}">
                      <a16:colId xmlns:a16="http://schemas.microsoft.com/office/drawing/2014/main" val="3090438549"/>
                    </a:ext>
                  </a:extLst>
                </a:gridCol>
                <a:gridCol w="2945849">
                  <a:extLst>
                    <a:ext uri="{9D8B030D-6E8A-4147-A177-3AD203B41FA5}">
                      <a16:colId xmlns:a16="http://schemas.microsoft.com/office/drawing/2014/main" val="3053156951"/>
                    </a:ext>
                  </a:extLst>
                </a:gridCol>
                <a:gridCol w="507418">
                  <a:extLst>
                    <a:ext uri="{9D8B030D-6E8A-4147-A177-3AD203B41FA5}">
                      <a16:colId xmlns:a16="http://schemas.microsoft.com/office/drawing/2014/main" val="4111476322"/>
                    </a:ext>
                  </a:extLst>
                </a:gridCol>
                <a:gridCol w="662463">
                  <a:extLst>
                    <a:ext uri="{9D8B030D-6E8A-4147-A177-3AD203B41FA5}">
                      <a16:colId xmlns:a16="http://schemas.microsoft.com/office/drawing/2014/main" val="1977459975"/>
                    </a:ext>
                  </a:extLst>
                </a:gridCol>
                <a:gridCol w="690654">
                  <a:extLst>
                    <a:ext uri="{9D8B030D-6E8A-4147-A177-3AD203B41FA5}">
                      <a16:colId xmlns:a16="http://schemas.microsoft.com/office/drawing/2014/main" val="1406780770"/>
                    </a:ext>
                  </a:extLst>
                </a:gridCol>
                <a:gridCol w="648369">
                  <a:extLst>
                    <a:ext uri="{9D8B030D-6E8A-4147-A177-3AD203B41FA5}">
                      <a16:colId xmlns:a16="http://schemas.microsoft.com/office/drawing/2014/main" val="2980174756"/>
                    </a:ext>
                  </a:extLst>
                </a:gridCol>
                <a:gridCol w="803413">
                  <a:extLst>
                    <a:ext uri="{9D8B030D-6E8A-4147-A177-3AD203B41FA5}">
                      <a16:colId xmlns:a16="http://schemas.microsoft.com/office/drawing/2014/main" val="3196351379"/>
                    </a:ext>
                  </a:extLst>
                </a:gridCol>
                <a:gridCol w="1384831">
                  <a:extLst>
                    <a:ext uri="{9D8B030D-6E8A-4147-A177-3AD203B41FA5}">
                      <a16:colId xmlns:a16="http://schemas.microsoft.com/office/drawing/2014/main" val="1622155218"/>
                    </a:ext>
                  </a:extLst>
                </a:gridCol>
                <a:gridCol w="873888">
                  <a:extLst>
                    <a:ext uri="{9D8B030D-6E8A-4147-A177-3AD203B41FA5}">
                      <a16:colId xmlns:a16="http://schemas.microsoft.com/office/drawing/2014/main" val="1694128962"/>
                    </a:ext>
                  </a:extLst>
                </a:gridCol>
                <a:gridCol w="676558">
                  <a:extLst>
                    <a:ext uri="{9D8B030D-6E8A-4147-A177-3AD203B41FA5}">
                      <a16:colId xmlns:a16="http://schemas.microsoft.com/office/drawing/2014/main" val="1689075081"/>
                    </a:ext>
                  </a:extLst>
                </a:gridCol>
                <a:gridCol w="1916917">
                  <a:extLst>
                    <a:ext uri="{9D8B030D-6E8A-4147-A177-3AD203B41FA5}">
                      <a16:colId xmlns:a16="http://schemas.microsoft.com/office/drawing/2014/main" val="4198400699"/>
                    </a:ext>
                  </a:extLst>
                </a:gridCol>
              </a:tblGrid>
              <a:tr h="406584">
                <a:tc>
                  <a:txBody>
                    <a:bodyPr/>
                    <a:lstStyle/>
                    <a:p>
                      <a:pPr algn="ctr" fontAlgn="ctr">
                        <a:buNone/>
                      </a:pPr>
                      <a:r>
                        <a:rPr lang="en-US" sz="1000" b="1" i="0" u="none" strike="noStrike" dirty="0">
                          <a:solidFill>
                            <a:srgbClr val="000000"/>
                          </a:solidFill>
                          <a:effectLst/>
                          <a:latin typeface="Calibri" panose="020F0502020204030204" pitchFamily="34" charset="0"/>
                        </a:rPr>
                        <a:t>Order</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Order Description</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000" b="1" i="0" u="none" strike="noStrike">
                          <a:solidFill>
                            <a:srgbClr val="000000"/>
                          </a:solidFill>
                          <a:effectLst/>
                          <a:latin typeface="Calibri" panose="020F0502020204030204" pitchFamily="34" charset="0"/>
                        </a:rPr>
                        <a:t>Area</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000" b="1" i="0" u="none" strike="noStrike">
                          <a:solidFill>
                            <a:srgbClr val="000000"/>
                          </a:solidFill>
                          <a:effectLst/>
                          <a:latin typeface="Calibri" panose="020F0502020204030204" pitchFamily="34" charset="0"/>
                        </a:rPr>
                        <a:t>Work Center</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000" b="1" i="0" u="none" strike="noStrike">
                          <a:solidFill>
                            <a:srgbClr val="000000"/>
                          </a:solidFill>
                          <a:effectLst/>
                          <a:latin typeface="Calibri" panose="020F0502020204030204" pitchFamily="34" charset="0"/>
                        </a:rPr>
                        <a:t>Type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000" b="1" i="0" u="none" strike="noStrike">
                          <a:solidFill>
                            <a:srgbClr val="000000"/>
                          </a:solidFill>
                          <a:effectLst/>
                          <a:latin typeface="Calibri" panose="020F0502020204030204" pitchFamily="34" charset="0"/>
                        </a:rPr>
                        <a:t>Due Date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000" b="1" i="0" u="none" strike="noStrike">
                          <a:solidFill>
                            <a:srgbClr val="FF0000"/>
                          </a:solidFill>
                          <a:effectLst/>
                          <a:latin typeface="Calibri" panose="020F0502020204030204" pitchFamily="34" charset="0"/>
                        </a:rPr>
                        <a:t>Stage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D0D0D"/>
                    </a:solidFill>
                  </a:tcPr>
                </a:tc>
                <a:tc>
                  <a:txBody>
                    <a:bodyPr/>
                    <a:lstStyle/>
                    <a:p>
                      <a:pPr algn="ctr" fontAlgn="ctr">
                        <a:buNone/>
                      </a:pPr>
                      <a:r>
                        <a:rPr lang="en-US" sz="1000" b="1" i="0" u="none" strike="noStrike">
                          <a:solidFill>
                            <a:srgbClr val="000000"/>
                          </a:solidFill>
                          <a:effectLst/>
                          <a:latin typeface="Calibri" panose="020F0502020204030204" pitchFamily="34" charset="0"/>
                        </a:rPr>
                        <a:t>Dept.</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000" b="1" i="0" u="none" strike="noStrike">
                          <a:solidFill>
                            <a:srgbClr val="FF0000"/>
                          </a:solidFill>
                          <a:effectLst/>
                          <a:latin typeface="Calibri" panose="020F0502020204030204" pitchFamily="34" charset="0"/>
                        </a:rPr>
                        <a:t>1st Def Due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D0D0D"/>
                    </a:solidFill>
                  </a:tcPr>
                </a:tc>
                <a:tc>
                  <a:txBody>
                    <a:bodyPr/>
                    <a:lstStyle/>
                    <a:p>
                      <a:pPr algn="l" fontAlgn="ctr">
                        <a:buNone/>
                      </a:pPr>
                      <a:r>
                        <a:rPr lang="en-US" sz="1000" b="1" i="0" u="none" strike="noStrike">
                          <a:solidFill>
                            <a:srgbClr val="000000"/>
                          </a:solidFill>
                          <a:effectLst/>
                          <a:latin typeface="Calibri" panose="020F0502020204030204" pitchFamily="34" charset="0"/>
                        </a:rPr>
                        <a:t>Remaining</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ctr">
                        <a:buNone/>
                      </a:pPr>
                      <a:r>
                        <a:rPr lang="en-US" sz="1000" b="1" i="0" u="none" strike="noStrike">
                          <a:solidFill>
                            <a:srgbClr val="000000"/>
                          </a:solidFill>
                          <a:effectLst/>
                          <a:latin typeface="Calibri" panose="020F0502020204030204" pitchFamily="34" charset="0"/>
                        </a:rPr>
                        <a:t>Remark</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474150624"/>
                  </a:ext>
                </a:extLst>
              </a:tr>
              <a:tr h="258735">
                <a:tc>
                  <a:txBody>
                    <a:bodyPr/>
                    <a:lstStyle/>
                    <a:p>
                      <a:pPr algn="r" fontAlgn="ctr">
                        <a:buNone/>
                      </a:pPr>
                      <a:r>
                        <a:rPr lang="en-US" sz="1000" b="0" i="0" u="none" strike="noStrike" dirty="0">
                          <a:solidFill>
                            <a:srgbClr val="000000"/>
                          </a:solidFill>
                          <a:effectLst/>
                          <a:latin typeface="Calibri" panose="020F0502020204030204" pitchFamily="34" charset="0"/>
                        </a:rPr>
                        <a:t>1100272723</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ctr">
                        <a:buNone/>
                      </a:pPr>
                      <a:r>
                        <a:rPr lang="en-US" sz="1000" b="0" i="0" u="none" strike="noStrike" dirty="0">
                          <a:solidFill>
                            <a:srgbClr val="000000"/>
                          </a:solidFill>
                          <a:effectLst/>
                          <a:latin typeface="Calibri" panose="020F0502020204030204" pitchFamily="34" charset="0"/>
                        </a:rPr>
                        <a:t>1M-SALES GAS METERING GSPL PM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ctr">
                        <a:buNone/>
                      </a:pPr>
                      <a:r>
                        <a:rPr lang="en-US" sz="1000" b="0" i="0" u="none" strike="noStrike">
                          <a:solidFill>
                            <a:srgbClr val="000000"/>
                          </a:solidFill>
                          <a:effectLst/>
                          <a:latin typeface="Calibri" panose="020F0502020204030204" pitchFamily="34" charset="0"/>
                        </a:rPr>
                        <a:t>Grissik</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ctr">
                        <a:buNone/>
                      </a:pPr>
                      <a:r>
                        <a:rPr lang="en-US" sz="1000" b="0" i="0" u="none" strike="noStrike">
                          <a:solidFill>
                            <a:srgbClr val="000000"/>
                          </a:solidFill>
                          <a:effectLst/>
                          <a:latin typeface="Calibri" panose="020F0502020204030204" pitchFamily="34" charset="0"/>
                        </a:rPr>
                        <a:t>IDMET</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ctr">
                        <a:buNone/>
                      </a:pPr>
                      <a:r>
                        <a:rPr lang="en-US" sz="1000" b="0" i="0" u="none" strike="noStrike">
                          <a:solidFill>
                            <a:srgbClr val="000000"/>
                          </a:solidFill>
                          <a:effectLst/>
                          <a:latin typeface="Calibri" panose="020F0502020204030204" pitchFamily="34" charset="0"/>
                        </a:rPr>
                        <a:t>Non 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en-US" sz="1000" b="0" i="0" u="none" strike="noStrike">
                          <a:solidFill>
                            <a:srgbClr val="000000"/>
                          </a:solidFill>
                          <a:effectLst/>
                          <a:latin typeface="Calibri" panose="020F0502020204030204" pitchFamily="34" charset="0"/>
                        </a:rPr>
                        <a:t>25-May-26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1000" b="0" i="0" u="none" strike="noStrike">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ctr">
                        <a:buNone/>
                      </a:pPr>
                      <a:r>
                        <a:rPr lang="en-US" sz="1000" b="0" i="0" u="none" strike="noStrike">
                          <a:solidFill>
                            <a:srgbClr val="000000"/>
                          </a:solidFill>
                          <a:effectLst/>
                          <a:latin typeface="Calibri" panose="020F0502020204030204" pitchFamily="34" charset="0"/>
                        </a:rPr>
                        <a:t>Production &amp; Safety</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en-US" sz="1000" b="0" i="0" u="none" strike="noStrike">
                          <a:solidFill>
                            <a:srgbClr val="000000"/>
                          </a:solidFill>
                          <a:effectLst/>
                          <a:latin typeface="Calibri" panose="020F0502020204030204" pitchFamily="34" charset="0"/>
                        </a:rPr>
                        <a:t>9-Jun-26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1000" b="0" i="0" u="none" strike="noStrike">
                          <a:solidFill>
                            <a:srgbClr val="000000"/>
                          </a:solidFill>
                          <a:effectLst/>
                          <a:latin typeface="Calibri" panose="020F0502020204030204" pitchFamily="34" charset="0"/>
                        </a:rPr>
                        <a:t>-4</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ctr">
                        <a:buNone/>
                      </a:pPr>
                      <a:r>
                        <a:rPr lang="en-US" sz="1000" b="0" i="0" u="none" strike="noStrike">
                          <a:solidFill>
                            <a:srgbClr val="000000"/>
                          </a:solidFill>
                          <a:effectLst/>
                          <a:latin typeface="Calibri" panose="020F0502020204030204" pitchFamily="34" charset="0"/>
                        </a:rPr>
                        <a:t>No Notif Def</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464565773"/>
                  </a:ext>
                </a:extLst>
              </a:tr>
              <a:tr h="258735">
                <a:tc>
                  <a:txBody>
                    <a:bodyPr/>
                    <a:lstStyle/>
                    <a:p>
                      <a:pPr algn="r" fontAlgn="ctr">
                        <a:buNone/>
                      </a:pPr>
                      <a:r>
                        <a:rPr lang="en-US" sz="1000" b="0" i="0" u="none" strike="noStrike" dirty="0">
                          <a:solidFill>
                            <a:srgbClr val="000000"/>
                          </a:solidFill>
                          <a:effectLst/>
                          <a:latin typeface="Calibri" panose="020F0502020204030204" pitchFamily="34" charset="0"/>
                        </a:rPr>
                        <a:t>1100267354</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ctr">
                        <a:buNone/>
                      </a:pPr>
                      <a:r>
                        <a:rPr lang="en-US" sz="1000" b="0" i="0" u="none" strike="noStrike">
                          <a:solidFill>
                            <a:srgbClr val="000000"/>
                          </a:solidFill>
                          <a:effectLst/>
                          <a:latin typeface="Calibri" panose="020F0502020204030204" pitchFamily="34" charset="0"/>
                        </a:rPr>
                        <a:t>2Y-THERMOGRAPHY AT SUMPAL PM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ctr">
                        <a:buNone/>
                      </a:pPr>
                      <a:r>
                        <a:rPr lang="en-US" sz="1000" b="0" i="0" u="none" strike="noStrike">
                          <a:solidFill>
                            <a:srgbClr val="000000"/>
                          </a:solidFill>
                          <a:effectLst/>
                          <a:latin typeface="Calibri" panose="020F0502020204030204" pitchFamily="34" charset="0"/>
                        </a:rPr>
                        <a:t>Sumpal</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ctr">
                        <a:buNone/>
                      </a:pPr>
                      <a:r>
                        <a:rPr lang="en-US" sz="1000" b="0" i="0" u="none" strike="noStrike">
                          <a:solidFill>
                            <a:srgbClr val="000000"/>
                          </a:solidFill>
                          <a:effectLst/>
                          <a:latin typeface="Calibri" panose="020F0502020204030204" pitchFamily="34" charset="0"/>
                        </a:rPr>
                        <a:t>IDELES</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ctr">
                        <a:buNone/>
                      </a:pPr>
                      <a:r>
                        <a:rPr lang="en-US" sz="1000" b="0" i="0" u="none" strike="noStrike">
                          <a:solidFill>
                            <a:srgbClr val="000000"/>
                          </a:solidFill>
                          <a:effectLst/>
                          <a:latin typeface="Calibri" panose="020F0502020204030204" pitchFamily="34" charset="0"/>
                        </a:rPr>
                        <a:t>Non 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en-US" sz="1000" b="0" i="0" u="none" strike="noStrike">
                          <a:solidFill>
                            <a:srgbClr val="000000"/>
                          </a:solidFill>
                          <a:effectLst/>
                          <a:latin typeface="Calibri" panose="020F0502020204030204" pitchFamily="34" charset="0"/>
                        </a:rPr>
                        <a:t>12-May-26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1000" b="0" i="0" u="none" strike="noStrike" dirty="0">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ctr">
                        <a:buNone/>
                      </a:pPr>
                      <a:r>
                        <a:rPr lang="en-US" sz="1000" b="0" i="0" u="none" strike="noStrike">
                          <a:solidFill>
                            <a:srgbClr val="000000"/>
                          </a:solidFill>
                          <a:effectLst/>
                          <a:latin typeface="Calibri" panose="020F0502020204030204" pitchFamily="34" charset="0"/>
                        </a:rPr>
                        <a:t>Production &amp; Safety</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en-US" sz="1000" b="0" i="0" u="none" strike="noStrike">
                          <a:solidFill>
                            <a:srgbClr val="000000"/>
                          </a:solidFill>
                          <a:effectLst/>
                          <a:latin typeface="Calibri" panose="020F0502020204030204" pitchFamily="34" charset="0"/>
                        </a:rPr>
                        <a:t>11-Jun-26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US" sz="1000" b="0" i="0" u="none" strike="noStrike">
                          <a:solidFill>
                            <a:srgbClr val="000000"/>
                          </a:solidFill>
                          <a:effectLst/>
                          <a:latin typeface="Calibri" panose="020F0502020204030204" pitchFamily="34" charset="0"/>
                        </a:rPr>
                        <a:t>-2</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ctr">
                        <a:buNone/>
                      </a:pPr>
                      <a:r>
                        <a:rPr lang="en-US" sz="1000" b="0" i="0" u="none" strike="noStrike">
                          <a:solidFill>
                            <a:srgbClr val="000000"/>
                          </a:solidFill>
                          <a:effectLst/>
                          <a:latin typeface="Calibri" panose="020F0502020204030204" pitchFamily="34" charset="0"/>
                        </a:rPr>
                        <a:t>PID 10651842, Approved OIM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768996247"/>
                  </a:ext>
                </a:extLst>
              </a:tr>
              <a:tr h="258735">
                <a:tc>
                  <a:txBody>
                    <a:bodyPr/>
                    <a:lstStyle/>
                    <a:p>
                      <a:pPr algn="r" fontAlgn="ctr">
                        <a:buNone/>
                      </a:pPr>
                      <a:r>
                        <a:rPr lang="en-US" sz="1000" b="0" i="0" u="none" strike="noStrike" dirty="0">
                          <a:solidFill>
                            <a:srgbClr val="000000"/>
                          </a:solidFill>
                          <a:effectLst/>
                          <a:latin typeface="Calibri" panose="020F0502020204030204" pitchFamily="34" charset="0"/>
                        </a:rPr>
                        <a:t>1100266704</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3M-PCN BACKUP INS PM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Gelam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IDINS</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Non 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3-Jun-26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dirty="0">
                          <a:solidFill>
                            <a:srgbClr val="000000"/>
                          </a:solidFill>
                          <a:effectLst/>
                          <a:latin typeface="Calibri" panose="020F0502020204030204" pitchFamily="34" charset="0"/>
                        </a:rPr>
                        <a:t>Maintenance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18-Jun-26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5</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dirty="0">
                          <a:solidFill>
                            <a:srgbClr val="000000"/>
                          </a:solidFill>
                          <a:effectLst/>
                          <a:latin typeface="Calibri" panose="020F0502020204030204" pitchFamily="34" charset="0"/>
                        </a:rPr>
                        <a:t> </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1703792"/>
                  </a:ext>
                </a:extLst>
              </a:tr>
              <a:tr h="258735">
                <a:tc>
                  <a:txBody>
                    <a:bodyPr/>
                    <a:lstStyle/>
                    <a:p>
                      <a:pPr algn="r" fontAlgn="ctr">
                        <a:buNone/>
                      </a:pPr>
                      <a:r>
                        <a:rPr lang="en-US" sz="1000" b="0" i="0" u="none" strike="noStrike" dirty="0">
                          <a:solidFill>
                            <a:srgbClr val="000000"/>
                          </a:solidFill>
                          <a:effectLst/>
                          <a:latin typeface="Calibri" panose="020F0502020204030204" pitchFamily="34" charset="0"/>
                        </a:rPr>
                        <a:t>1100274172</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1M-H2S ANALYZER PM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Grissik</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IDINS</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Non 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4-Jun-26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Maintenance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dirty="0">
                          <a:solidFill>
                            <a:srgbClr val="000000"/>
                          </a:solidFill>
                          <a:effectLst/>
                          <a:latin typeface="Calibri" panose="020F0502020204030204" pitchFamily="34" charset="0"/>
                        </a:rPr>
                        <a:t>19-Jun-26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dirty="0">
                          <a:solidFill>
                            <a:srgbClr val="000000"/>
                          </a:solidFill>
                          <a:effectLst/>
                          <a:latin typeface="Calibri" panose="020F0502020204030204" pitchFamily="34" charset="0"/>
                        </a:rPr>
                        <a:t>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 </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3943087"/>
                  </a:ext>
                </a:extLst>
              </a:tr>
              <a:tr h="258735">
                <a:tc>
                  <a:txBody>
                    <a:bodyPr/>
                    <a:lstStyle/>
                    <a:p>
                      <a:pPr algn="r" fontAlgn="ctr">
                        <a:buNone/>
                      </a:pPr>
                      <a:r>
                        <a:rPr lang="en-US" sz="1000" b="0" i="0" u="none" strike="noStrike">
                          <a:solidFill>
                            <a:srgbClr val="000000"/>
                          </a:solidFill>
                          <a:effectLst/>
                          <a:latin typeface="Calibri" panose="020F0502020204030204" pitchFamily="34" charset="0"/>
                        </a:rPr>
                        <a:t>1100280643</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3M-PIG TRAP ROW PM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Rawa</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IDPL_ROW</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Non 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4-Jun-26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Offsite Support</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19-Jun-26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dirty="0">
                          <a:solidFill>
                            <a:srgbClr val="000000"/>
                          </a:solidFill>
                          <a:effectLst/>
                          <a:latin typeface="Calibri" panose="020F0502020204030204" pitchFamily="34" charset="0"/>
                        </a:rPr>
                        <a:t>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 </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9895806"/>
                  </a:ext>
                </a:extLst>
              </a:tr>
              <a:tr h="258735">
                <a:tc>
                  <a:txBody>
                    <a:bodyPr/>
                    <a:lstStyle/>
                    <a:p>
                      <a:pPr algn="r" fontAlgn="ctr">
                        <a:buNone/>
                      </a:pPr>
                      <a:r>
                        <a:rPr lang="en-US" sz="1000" b="0" i="0" u="none" strike="noStrike" dirty="0">
                          <a:solidFill>
                            <a:srgbClr val="000000"/>
                          </a:solidFill>
                          <a:effectLst/>
                          <a:latin typeface="Calibri" panose="020F0502020204030204" pitchFamily="34" charset="0"/>
                        </a:rPr>
                        <a:t>1100280626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3M-HVAC "A" PCR-3 ELE PM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Sumpal</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IDELE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Non 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4-Jun-26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Maintenance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19-Jun-26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dirty="0">
                          <a:solidFill>
                            <a:srgbClr val="000000"/>
                          </a:solidFill>
                          <a:effectLst/>
                          <a:latin typeface="Calibri" panose="020F0502020204030204" pitchFamily="34" charset="0"/>
                        </a:rPr>
                        <a:t>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 </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4411585"/>
                  </a:ext>
                </a:extLst>
              </a:tr>
              <a:tr h="258735">
                <a:tc>
                  <a:txBody>
                    <a:bodyPr/>
                    <a:lstStyle/>
                    <a:p>
                      <a:pPr algn="r" fontAlgn="ctr">
                        <a:buNone/>
                      </a:pPr>
                      <a:r>
                        <a:rPr lang="en-US" sz="1000" b="0" i="0" u="none" strike="noStrike" dirty="0">
                          <a:solidFill>
                            <a:srgbClr val="000000"/>
                          </a:solidFill>
                          <a:effectLst/>
                          <a:latin typeface="Calibri" panose="020F0502020204030204" pitchFamily="34" charset="0"/>
                        </a:rPr>
                        <a:t>1100248996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SS10 1Y-WELLHEAD STROKE&amp;LEAK TEST WI PM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Sumpal</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IDWI</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21-May-26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Production &amp; Safety</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20-Jun-26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dirty="0">
                          <a:solidFill>
                            <a:srgbClr val="000000"/>
                          </a:solidFill>
                          <a:effectLst/>
                          <a:latin typeface="Calibri" panose="020F0502020204030204" pitchFamily="34" charset="0"/>
                        </a:rPr>
                        <a:t>7</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 </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6444381"/>
                  </a:ext>
                </a:extLst>
              </a:tr>
              <a:tr h="258735">
                <a:tc>
                  <a:txBody>
                    <a:bodyPr/>
                    <a:lstStyle/>
                    <a:p>
                      <a:pPr algn="r" fontAlgn="ctr">
                        <a:buNone/>
                      </a:pPr>
                      <a:r>
                        <a:rPr lang="en-US" sz="1000" b="0" i="0" u="none" strike="noStrike" dirty="0">
                          <a:solidFill>
                            <a:srgbClr val="000000"/>
                          </a:solidFill>
                          <a:effectLst/>
                          <a:latin typeface="Calibri" panose="020F0502020204030204" pitchFamily="34" charset="0"/>
                        </a:rPr>
                        <a:t>1100274455</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1M-GC ANALYZER 42AT2052 PM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Grissik</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IDINS</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Non 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6-Jun-26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Maintenance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21-Jun-26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8</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 </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968669"/>
                  </a:ext>
                </a:extLst>
              </a:tr>
              <a:tr h="258735">
                <a:tc>
                  <a:txBody>
                    <a:bodyPr/>
                    <a:lstStyle/>
                    <a:p>
                      <a:pPr algn="r" fontAlgn="ctr">
                        <a:buNone/>
                      </a:pPr>
                      <a:r>
                        <a:rPr lang="en-US" sz="1000" b="0" i="0" u="none" strike="noStrike" dirty="0">
                          <a:solidFill>
                            <a:srgbClr val="000000"/>
                          </a:solidFill>
                          <a:effectLst/>
                          <a:latin typeface="Calibri" panose="020F0502020204030204" pitchFamily="34" charset="0"/>
                        </a:rPr>
                        <a:t>1100274461</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1M-ESCAPE AND PERSONAL SAFETY HSE PM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Ramba</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IDHSE_SY</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Non 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6-Jun-26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Production &amp; Safety</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21-Jun-26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dirty="0">
                          <a:solidFill>
                            <a:srgbClr val="000000"/>
                          </a:solidFill>
                          <a:effectLst/>
                          <a:latin typeface="Calibri" panose="020F0502020204030204" pitchFamily="34" charset="0"/>
                        </a:rPr>
                        <a:t>8</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 </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1251225"/>
                  </a:ext>
                </a:extLst>
              </a:tr>
              <a:tr h="258735">
                <a:tc>
                  <a:txBody>
                    <a:bodyPr/>
                    <a:lstStyle/>
                    <a:p>
                      <a:pPr algn="r" fontAlgn="ctr">
                        <a:buNone/>
                      </a:pPr>
                      <a:r>
                        <a:rPr lang="en-US" sz="1000" b="0" i="0" u="none" strike="noStrike" dirty="0">
                          <a:solidFill>
                            <a:srgbClr val="000000"/>
                          </a:solidFill>
                          <a:effectLst/>
                          <a:latin typeface="Calibri" panose="020F0502020204030204" pitchFamily="34" charset="0"/>
                        </a:rPr>
                        <a:t>1100280882</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1M-83A201C MEC PM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Rawa</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IDRENT</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Non 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6-Jun-26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Production &amp; Safety</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21-Jun-26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dirty="0">
                          <a:solidFill>
                            <a:srgbClr val="000000"/>
                          </a:solidFill>
                          <a:effectLst/>
                          <a:latin typeface="Calibri" panose="020F0502020204030204" pitchFamily="34" charset="0"/>
                        </a:rPr>
                        <a:t>8</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 </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70528781"/>
                  </a:ext>
                </a:extLst>
              </a:tr>
              <a:tr h="258735">
                <a:tc>
                  <a:txBody>
                    <a:bodyPr/>
                    <a:lstStyle/>
                    <a:p>
                      <a:pPr algn="r" fontAlgn="ctr">
                        <a:buNone/>
                      </a:pPr>
                      <a:r>
                        <a:rPr lang="en-US" sz="1000" b="0" i="0" u="none" strike="noStrike" dirty="0">
                          <a:solidFill>
                            <a:srgbClr val="000000"/>
                          </a:solidFill>
                          <a:effectLst/>
                          <a:latin typeface="Calibri" panose="020F0502020204030204" pitchFamily="34" charset="0"/>
                        </a:rPr>
                        <a:t>1100274540</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1M-FAN MOTOR VIBRATION MONITORING CMO PM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Grissik</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IDCMO</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Non 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7-Jun-26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Production &amp; Safety</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22-Jun-26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9</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 </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6160002"/>
                  </a:ext>
                </a:extLst>
              </a:tr>
              <a:tr h="258735">
                <a:tc>
                  <a:txBody>
                    <a:bodyPr/>
                    <a:lstStyle/>
                    <a:p>
                      <a:pPr algn="r" fontAlgn="ctr">
                        <a:buNone/>
                      </a:pPr>
                      <a:r>
                        <a:rPr lang="en-US" sz="1000" b="0" i="0" u="none" strike="noStrike" dirty="0">
                          <a:solidFill>
                            <a:srgbClr val="000000"/>
                          </a:solidFill>
                          <a:effectLst/>
                          <a:latin typeface="Calibri" panose="020F0502020204030204" pitchFamily="34" charset="0"/>
                        </a:rPr>
                        <a:t>1100274541</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1M-GLYCOL&amp;MOTOR CIRC.PUMP VIBR. MONITOR</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Grissik</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IDCMO</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Non 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7-Jun-26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Production &amp; Safety</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22-Jun-26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9</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 </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8064022"/>
                  </a:ext>
                </a:extLst>
              </a:tr>
              <a:tr h="258735">
                <a:tc>
                  <a:txBody>
                    <a:bodyPr/>
                    <a:lstStyle/>
                    <a:p>
                      <a:pPr algn="r" fontAlgn="ctr">
                        <a:buNone/>
                      </a:pPr>
                      <a:r>
                        <a:rPr lang="en-US" sz="1000" b="0" i="0" u="none" strike="noStrike" dirty="0">
                          <a:solidFill>
                            <a:srgbClr val="000000"/>
                          </a:solidFill>
                          <a:effectLst/>
                          <a:latin typeface="Calibri" panose="020F0502020204030204" pitchFamily="34" charset="0"/>
                        </a:rPr>
                        <a:t>1100274543</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1M-CONDENSATE &amp; FLARE VIB.MONITORING CMO</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Grissik</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IDCMO</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Non 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7-Jun-26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Production &amp; Safety</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22-Jun-26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9</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dirty="0">
                          <a:solidFill>
                            <a:srgbClr val="000000"/>
                          </a:solidFill>
                          <a:effectLst/>
                          <a:latin typeface="Calibri" panose="020F0502020204030204" pitchFamily="34" charset="0"/>
                        </a:rPr>
                        <a:t> </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5920664"/>
                  </a:ext>
                </a:extLst>
              </a:tr>
              <a:tr h="258735">
                <a:tc>
                  <a:txBody>
                    <a:bodyPr/>
                    <a:lstStyle/>
                    <a:p>
                      <a:pPr algn="r" fontAlgn="ctr">
                        <a:buNone/>
                      </a:pPr>
                      <a:r>
                        <a:rPr lang="en-US" sz="1000" b="0" i="0" u="none" strike="noStrike" dirty="0">
                          <a:solidFill>
                            <a:srgbClr val="000000"/>
                          </a:solidFill>
                          <a:effectLst/>
                          <a:latin typeface="Calibri" panose="020F0502020204030204" pitchFamily="34" charset="0"/>
                        </a:rPr>
                        <a:t>1100274544</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1M-VIBRATION MONITORING CMO PM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Grissik</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IDCMO</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Non 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7-Jun-26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Production &amp; Safety</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22-Jun-26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9</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dirty="0">
                          <a:solidFill>
                            <a:srgbClr val="000000"/>
                          </a:solidFill>
                          <a:effectLst/>
                          <a:latin typeface="Calibri" panose="020F0502020204030204" pitchFamily="34" charset="0"/>
                        </a:rPr>
                        <a:t> </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9582260"/>
                  </a:ext>
                </a:extLst>
              </a:tr>
              <a:tr h="258735">
                <a:tc>
                  <a:txBody>
                    <a:bodyPr/>
                    <a:lstStyle/>
                    <a:p>
                      <a:pPr algn="r" fontAlgn="ctr">
                        <a:buNone/>
                      </a:pPr>
                      <a:r>
                        <a:rPr lang="en-US" sz="1000" b="0" i="0" u="none" strike="noStrike" dirty="0">
                          <a:solidFill>
                            <a:srgbClr val="000000"/>
                          </a:solidFill>
                          <a:effectLst/>
                          <a:latin typeface="Calibri" panose="020F0502020204030204" pitchFamily="34" charset="0"/>
                        </a:rPr>
                        <a:t>1100274546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1M-FAN MOTOR VIBRATION MONITORING CMO PM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Grissik</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IDCMO</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Non 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7-Jun-26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Production &amp; Safety</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22-Jun-26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9</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dirty="0">
                          <a:solidFill>
                            <a:srgbClr val="000000"/>
                          </a:solidFill>
                          <a:effectLst/>
                          <a:latin typeface="Calibri" panose="020F0502020204030204" pitchFamily="34" charset="0"/>
                        </a:rPr>
                        <a:t> </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9719944"/>
                  </a:ext>
                </a:extLst>
              </a:tr>
              <a:tr h="258735">
                <a:tc>
                  <a:txBody>
                    <a:bodyPr/>
                    <a:lstStyle/>
                    <a:p>
                      <a:pPr algn="r" fontAlgn="ctr">
                        <a:buNone/>
                      </a:pPr>
                      <a:r>
                        <a:rPr lang="en-US" sz="1000" b="0" i="0" u="none" strike="noStrike" dirty="0">
                          <a:solidFill>
                            <a:srgbClr val="000000"/>
                          </a:solidFill>
                          <a:effectLst/>
                          <a:latin typeface="Calibri" panose="020F0502020204030204" pitchFamily="34" charset="0"/>
                        </a:rPr>
                        <a:t>1100274547</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1M-REGEN GAS VIBR.MONITORING CMO PM</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Grissik</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IDCMO</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Non SCE</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7-Jun-26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Grace Period</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Production &amp; Safety</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Calibri" panose="020F0502020204030204" pitchFamily="34" charset="0"/>
                        </a:rPr>
                        <a:t>22-Jun-26</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9</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dirty="0">
                          <a:solidFill>
                            <a:srgbClr val="000000"/>
                          </a:solidFill>
                          <a:effectLst/>
                          <a:latin typeface="Calibri" panose="020F0502020204030204" pitchFamily="34" charset="0"/>
                        </a:rPr>
                        <a:t> </a:t>
                      </a:r>
                    </a:p>
                  </a:txBody>
                  <a:tcPr marL="9411" marR="9411" marT="94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2417733"/>
                  </a:ext>
                </a:extLst>
              </a:tr>
            </a:tbl>
          </a:graphicData>
        </a:graphic>
      </p:graphicFrame>
    </p:spTree>
    <p:extLst>
      <p:ext uri="{BB962C8B-B14F-4D97-AF65-F5344CB8AC3E}">
        <p14:creationId xmlns:p14="http://schemas.microsoft.com/office/powerpoint/2010/main" val="3215317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383C8-4EC5-2162-8423-6B6A7694498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432FDAA-8734-3FC9-4C01-99D02A232576}"/>
              </a:ext>
            </a:extLst>
          </p:cNvPr>
          <p:cNvSpPr txBox="1"/>
          <p:nvPr/>
        </p:nvSpPr>
        <p:spPr>
          <a:xfrm>
            <a:off x="216421" y="171390"/>
            <a:ext cx="10569187" cy="523220"/>
          </a:xfrm>
          <a:prstGeom prst="rect">
            <a:avLst/>
          </a:prstGeom>
          <a:noFill/>
        </p:spPr>
        <p:txBody>
          <a:bodyPr wrap="square" rtlCol="0">
            <a:noAutofit/>
          </a:bodyPr>
          <a:lstStyle/>
          <a:p>
            <a:r>
              <a:rPr lang="sv-SE" sz="2800" b="1" dirty="0">
                <a:solidFill>
                  <a:srgbClr val="004C8F"/>
                </a:solidFill>
                <a:latin typeface="Univers 67 Condensed" pitchFamily="2" charset="0"/>
                <a:cs typeface="Calibri"/>
              </a:rPr>
              <a:t>Need Offsite Support</a:t>
            </a:r>
          </a:p>
        </p:txBody>
      </p:sp>
      <p:graphicFrame>
        <p:nvGraphicFramePr>
          <p:cNvPr id="9" name="Table 8">
            <a:extLst>
              <a:ext uri="{FF2B5EF4-FFF2-40B4-BE49-F238E27FC236}">
                <a16:creationId xmlns:a16="http://schemas.microsoft.com/office/drawing/2014/main" id="{2A189834-9615-FFAF-5C37-0FF484B139A6}"/>
              </a:ext>
            </a:extLst>
          </p:cNvPr>
          <p:cNvGraphicFramePr>
            <a:graphicFrameLocks noGrp="1"/>
          </p:cNvGraphicFramePr>
          <p:nvPr>
            <p:extLst>
              <p:ext uri="{D42A27DB-BD31-4B8C-83A1-F6EECF244321}">
                <p14:modId xmlns:p14="http://schemas.microsoft.com/office/powerpoint/2010/main" val="2224489962"/>
              </p:ext>
            </p:extLst>
          </p:nvPr>
        </p:nvGraphicFramePr>
        <p:xfrm>
          <a:off x="388152" y="1209607"/>
          <a:ext cx="9352747" cy="1053149"/>
        </p:xfrm>
        <a:graphic>
          <a:graphicData uri="http://schemas.openxmlformats.org/drawingml/2006/table">
            <a:tbl>
              <a:tblPr/>
              <a:tblGrid>
                <a:gridCol w="738586">
                  <a:extLst>
                    <a:ext uri="{9D8B030D-6E8A-4147-A177-3AD203B41FA5}">
                      <a16:colId xmlns:a16="http://schemas.microsoft.com/office/drawing/2014/main" val="237336915"/>
                    </a:ext>
                  </a:extLst>
                </a:gridCol>
                <a:gridCol w="845913">
                  <a:extLst>
                    <a:ext uri="{9D8B030D-6E8A-4147-A177-3AD203B41FA5}">
                      <a16:colId xmlns:a16="http://schemas.microsoft.com/office/drawing/2014/main" val="2796419844"/>
                    </a:ext>
                  </a:extLst>
                </a:gridCol>
                <a:gridCol w="841326">
                  <a:extLst>
                    <a:ext uri="{9D8B030D-6E8A-4147-A177-3AD203B41FA5}">
                      <a16:colId xmlns:a16="http://schemas.microsoft.com/office/drawing/2014/main" val="3884946517"/>
                    </a:ext>
                  </a:extLst>
                </a:gridCol>
                <a:gridCol w="4711428">
                  <a:extLst>
                    <a:ext uri="{9D8B030D-6E8A-4147-A177-3AD203B41FA5}">
                      <a16:colId xmlns:a16="http://schemas.microsoft.com/office/drawing/2014/main" val="2644962023"/>
                    </a:ext>
                  </a:extLst>
                </a:gridCol>
                <a:gridCol w="1107747">
                  <a:extLst>
                    <a:ext uri="{9D8B030D-6E8A-4147-A177-3AD203B41FA5}">
                      <a16:colId xmlns:a16="http://schemas.microsoft.com/office/drawing/2014/main" val="4178687049"/>
                    </a:ext>
                  </a:extLst>
                </a:gridCol>
                <a:gridCol w="1107747">
                  <a:extLst>
                    <a:ext uri="{9D8B030D-6E8A-4147-A177-3AD203B41FA5}">
                      <a16:colId xmlns:a16="http://schemas.microsoft.com/office/drawing/2014/main" val="4271864222"/>
                    </a:ext>
                  </a:extLst>
                </a:gridCol>
              </a:tblGrid>
              <a:tr h="348107">
                <a:tc>
                  <a:txBody>
                    <a:bodyPr/>
                    <a:lstStyle/>
                    <a:p>
                      <a:pPr algn="ctr" fontAlgn="ctr"/>
                      <a:r>
                        <a:rPr lang="en-US" sz="1000" b="1" i="0" u="none" strike="noStrike" dirty="0">
                          <a:solidFill>
                            <a:srgbClr val="000000"/>
                          </a:solidFill>
                          <a:effectLst/>
                          <a:latin typeface="Aptos Narrow" panose="020B0004020202020204" pitchFamily="34" charset="0"/>
                        </a:rPr>
                        <a:t>Requestor</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a:noFill/>
                    </a:lnT>
                    <a:lnB w="6350" cap="flat" cmpd="sng" algn="ctr">
                      <a:solidFill>
                        <a:srgbClr val="000000"/>
                      </a:solidFill>
                      <a:prstDash val="dash"/>
                      <a:round/>
                      <a:headEnd type="none" w="med" len="med"/>
                      <a:tailEnd type="none" w="med" len="med"/>
                    </a:lnB>
                    <a:solidFill>
                      <a:srgbClr val="92D050"/>
                    </a:solidFill>
                  </a:tcPr>
                </a:tc>
                <a:tc>
                  <a:txBody>
                    <a:bodyPr/>
                    <a:lstStyle/>
                    <a:p>
                      <a:pPr algn="ctr" fontAlgn="ctr"/>
                      <a:r>
                        <a:rPr lang="en-US" sz="1000" b="1" i="0" u="none" strike="noStrike" dirty="0">
                          <a:solidFill>
                            <a:srgbClr val="000000"/>
                          </a:solidFill>
                          <a:effectLst/>
                          <a:latin typeface="Aptos Narrow" panose="020B0004020202020204" pitchFamily="34" charset="0"/>
                        </a:rPr>
                        <a:t>Area</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ctr" fontAlgn="ctr"/>
                      <a:r>
                        <a:rPr lang="en-US" sz="1000" b="1" i="0" u="none" strike="noStrike" dirty="0">
                          <a:solidFill>
                            <a:srgbClr val="000000"/>
                          </a:solidFill>
                          <a:effectLst/>
                          <a:latin typeface="Aptos Narrow" panose="020B0004020202020204" pitchFamily="34" charset="0"/>
                        </a:rPr>
                        <a:t>PMO SAP</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ctr" fontAlgn="ctr"/>
                      <a:r>
                        <a:rPr lang="en-US" sz="1000" b="1" i="0" u="none" strike="noStrike" dirty="0">
                          <a:solidFill>
                            <a:srgbClr val="000000"/>
                          </a:solidFill>
                          <a:effectLst/>
                          <a:latin typeface="Aptos Narrow" panose="020B0004020202020204" pitchFamily="34" charset="0"/>
                        </a:rPr>
                        <a:t>Order Description/Level 1 (90 Days Activity)</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ctr" fontAlgn="ctr"/>
                      <a:r>
                        <a:rPr lang="en-US" sz="1000" b="1" i="0" u="none" strike="noStrike" dirty="0">
                          <a:solidFill>
                            <a:srgbClr val="000000"/>
                          </a:solidFill>
                          <a:effectLst/>
                          <a:latin typeface="Aptos Narrow" panose="020B0004020202020204" pitchFamily="34" charset="0"/>
                        </a:rPr>
                        <a:t>Main Work Center</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ctr" fontAlgn="ctr"/>
                      <a:endParaRPr lang="en-US" sz="1000" b="1"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extLst>
                  <a:ext uri="{0D108BD9-81ED-4DB2-BD59-A6C34878D82A}">
                    <a16:rowId xmlns:a16="http://schemas.microsoft.com/office/drawing/2014/main" val="2867372396"/>
                  </a:ext>
                </a:extLst>
              </a:tr>
              <a:tr h="174054">
                <a:tc>
                  <a:txBody>
                    <a:bodyPr/>
                    <a:lstStyle/>
                    <a:p>
                      <a:pPr algn="ctr" fontAlgn="ctr"/>
                      <a:r>
                        <a:rPr lang="en-US" sz="1000" b="0" i="0" u="none" strike="noStrike" dirty="0">
                          <a:solidFill>
                            <a:srgbClr val="000000"/>
                          </a:solidFill>
                          <a:effectLst/>
                          <a:latin typeface="Aptos Narrow" panose="020B0004020202020204" pitchFamily="34" charset="0"/>
                        </a:rPr>
                        <a:t>I/E</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Rawa</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marL="0" marR="0">
                        <a:buNone/>
                      </a:pP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b">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4063188665"/>
                  </a:ext>
                </a:extLst>
              </a:tr>
              <a:tr h="174054">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l"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850560577"/>
                  </a:ext>
                </a:extLst>
              </a:tr>
              <a:tr h="174054">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l"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868188000"/>
                  </a:ext>
                </a:extLst>
              </a:tr>
              <a:tr h="174054">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l"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ctr"/>
                      <a:endParaRPr lang="en-US" sz="10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3396020576"/>
                  </a:ext>
                </a:extLst>
              </a:tr>
            </a:tbl>
          </a:graphicData>
        </a:graphic>
      </p:graphicFrame>
      <p:graphicFrame>
        <p:nvGraphicFramePr>
          <p:cNvPr id="2" name="Table 1">
            <a:extLst>
              <a:ext uri="{FF2B5EF4-FFF2-40B4-BE49-F238E27FC236}">
                <a16:creationId xmlns:a16="http://schemas.microsoft.com/office/drawing/2014/main" id="{77E0FC1A-2FAA-5B9E-5D25-E8BE3EF7D6C3}"/>
              </a:ext>
            </a:extLst>
          </p:cNvPr>
          <p:cNvGraphicFramePr>
            <a:graphicFrameLocks noGrp="1"/>
          </p:cNvGraphicFramePr>
          <p:nvPr>
            <p:extLst>
              <p:ext uri="{D42A27DB-BD31-4B8C-83A1-F6EECF244321}">
                <p14:modId xmlns:p14="http://schemas.microsoft.com/office/powerpoint/2010/main" val="3908640851"/>
              </p:ext>
            </p:extLst>
          </p:nvPr>
        </p:nvGraphicFramePr>
        <p:xfrm>
          <a:off x="406537" y="3131670"/>
          <a:ext cx="9334362" cy="993349"/>
        </p:xfrm>
        <a:graphic>
          <a:graphicData uri="http://schemas.openxmlformats.org/drawingml/2006/table">
            <a:tbl>
              <a:tblPr/>
              <a:tblGrid>
                <a:gridCol w="918658">
                  <a:extLst>
                    <a:ext uri="{9D8B030D-6E8A-4147-A177-3AD203B41FA5}">
                      <a16:colId xmlns:a16="http://schemas.microsoft.com/office/drawing/2014/main" val="237336915"/>
                    </a:ext>
                  </a:extLst>
                </a:gridCol>
                <a:gridCol w="5724040">
                  <a:extLst>
                    <a:ext uri="{9D8B030D-6E8A-4147-A177-3AD203B41FA5}">
                      <a16:colId xmlns:a16="http://schemas.microsoft.com/office/drawing/2014/main" val="2644962023"/>
                    </a:ext>
                  </a:extLst>
                </a:gridCol>
                <a:gridCol w="1345832">
                  <a:extLst>
                    <a:ext uri="{9D8B030D-6E8A-4147-A177-3AD203B41FA5}">
                      <a16:colId xmlns:a16="http://schemas.microsoft.com/office/drawing/2014/main" val="4178687049"/>
                    </a:ext>
                  </a:extLst>
                </a:gridCol>
                <a:gridCol w="1345832">
                  <a:extLst>
                    <a:ext uri="{9D8B030D-6E8A-4147-A177-3AD203B41FA5}">
                      <a16:colId xmlns:a16="http://schemas.microsoft.com/office/drawing/2014/main" val="3038644446"/>
                    </a:ext>
                  </a:extLst>
                </a:gridCol>
              </a:tblGrid>
              <a:tr h="314989">
                <a:tc>
                  <a:txBody>
                    <a:bodyPr/>
                    <a:lstStyle/>
                    <a:p>
                      <a:pPr algn="ctr" fontAlgn="ctr"/>
                      <a:r>
                        <a:rPr lang="en-US" sz="1000" b="1" i="0" u="none" strike="noStrike" dirty="0">
                          <a:solidFill>
                            <a:srgbClr val="000000"/>
                          </a:solidFill>
                          <a:effectLst/>
                          <a:latin typeface="Aptos Narrow" panose="020B0004020202020204" pitchFamily="34" charset="0"/>
                        </a:rPr>
                        <a:t>Field</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a:noFill/>
                    </a:lnT>
                    <a:lnB w="6350" cap="flat" cmpd="sng" algn="ctr">
                      <a:solidFill>
                        <a:srgbClr val="000000"/>
                      </a:solidFill>
                      <a:prstDash val="dash"/>
                      <a:round/>
                      <a:headEnd type="none" w="med" len="med"/>
                      <a:tailEnd type="none" w="med" len="med"/>
                    </a:lnB>
                    <a:solidFill>
                      <a:srgbClr val="92D050"/>
                    </a:solidFill>
                  </a:tcPr>
                </a:tc>
                <a:tc>
                  <a:txBody>
                    <a:bodyPr/>
                    <a:lstStyle/>
                    <a:p>
                      <a:pPr algn="ctr" fontAlgn="ctr"/>
                      <a:r>
                        <a:rPr lang="en-US" sz="1000" b="1" i="0" u="none" strike="noStrike" dirty="0">
                          <a:solidFill>
                            <a:srgbClr val="000000"/>
                          </a:solidFill>
                          <a:effectLst/>
                          <a:latin typeface="Aptos Narrow" panose="020B0004020202020204" pitchFamily="34" charset="0"/>
                        </a:rPr>
                        <a:t>Visitation</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ctr" fontAlgn="ctr"/>
                      <a:r>
                        <a:rPr lang="en-US" sz="1000" b="1" i="0" u="none" strike="noStrike" dirty="0">
                          <a:solidFill>
                            <a:srgbClr val="000000"/>
                          </a:solidFill>
                          <a:effectLst/>
                          <a:latin typeface="Aptos Narrow" panose="020B0004020202020204" pitchFamily="34" charset="0"/>
                        </a:rPr>
                        <a:t>Date</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ctr" fontAlgn="ctr"/>
                      <a:r>
                        <a:rPr lang="en-US" sz="1000" b="1" i="0" u="none" strike="noStrike" dirty="0">
                          <a:solidFill>
                            <a:srgbClr val="000000"/>
                          </a:solidFill>
                          <a:effectLst/>
                          <a:latin typeface="Aptos Narrow" panose="020B0004020202020204" pitchFamily="34" charset="0"/>
                        </a:rPr>
                        <a:t>Participant</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extLst>
                  <a:ext uri="{0D108BD9-81ED-4DB2-BD59-A6C34878D82A}">
                    <a16:rowId xmlns:a16="http://schemas.microsoft.com/office/drawing/2014/main" val="2867372396"/>
                  </a:ext>
                </a:extLst>
              </a:tr>
              <a:tr h="226120">
                <a:tc>
                  <a:txBody>
                    <a:bodyPr/>
                    <a:lstStyle/>
                    <a:p>
                      <a:pPr algn="ctr" fontAlgn="ctr"/>
                      <a:r>
                        <a:rPr lang="en-US" sz="1000" b="0" i="0" u="none" strike="noStrike" dirty="0">
                          <a:solidFill>
                            <a:srgbClr val="000000"/>
                          </a:solidFill>
                          <a:effectLst/>
                          <a:latin typeface="Aptos Narrow" panose="020B0004020202020204" pitchFamily="34" charset="0"/>
                        </a:rPr>
                        <a:t>GGSDR</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marL="0" algn="ctr" defTabSz="914400" rtl="0" eaLnBrk="1" fontAlgn="b" latinLnBrk="0" hangingPunct="1">
                        <a:buNone/>
                      </a:pPr>
                      <a:r>
                        <a:rPr lang="en-US" sz="1100" b="0" i="0" u="none" strike="noStrike" kern="1200" dirty="0" err="1">
                          <a:solidFill>
                            <a:srgbClr val="000000"/>
                          </a:solidFill>
                          <a:effectLst/>
                          <a:latin typeface="Aptos Narrow" panose="020B0004020202020204" pitchFamily="34" charset="0"/>
                          <a:ea typeface="+mn-ea"/>
                          <a:cs typeface="+mn-cs"/>
                        </a:rPr>
                        <a:t>pemeriksaan</a:t>
                      </a:r>
                      <a:r>
                        <a:rPr lang="en-US" sz="1100" b="0" i="0" u="none" strike="noStrike" kern="1200" dirty="0">
                          <a:solidFill>
                            <a:srgbClr val="000000"/>
                          </a:solidFill>
                          <a:effectLst/>
                          <a:latin typeface="Aptos Narrow" panose="020B0004020202020204" pitchFamily="34" charset="0"/>
                          <a:ea typeface="+mn-ea"/>
                          <a:cs typeface="+mn-cs"/>
                        </a:rPr>
                        <a:t> </a:t>
                      </a:r>
                      <a:r>
                        <a:rPr lang="en-US" sz="1100" b="0" i="0" u="none" strike="noStrike" kern="1200" dirty="0" err="1">
                          <a:solidFill>
                            <a:srgbClr val="000000"/>
                          </a:solidFill>
                          <a:effectLst/>
                          <a:latin typeface="Aptos Narrow" panose="020B0004020202020204" pitchFamily="34" charset="0"/>
                          <a:ea typeface="+mn-ea"/>
                          <a:cs typeface="+mn-cs"/>
                        </a:rPr>
                        <a:t>fisik</a:t>
                      </a:r>
                      <a:r>
                        <a:rPr lang="en-US" sz="1100" b="0" i="0" u="none" strike="noStrike" kern="1200" dirty="0">
                          <a:solidFill>
                            <a:srgbClr val="000000"/>
                          </a:solidFill>
                          <a:effectLst/>
                          <a:latin typeface="Aptos Narrow" panose="020B0004020202020204" pitchFamily="34" charset="0"/>
                          <a:ea typeface="+mn-ea"/>
                          <a:cs typeface="+mn-cs"/>
                        </a:rPr>
                        <a:t> HBM di Grissik </a:t>
                      </a:r>
                      <a:r>
                        <a:rPr lang="en-US" sz="1100" b="0" i="0" u="none" strike="noStrike" kern="1200" dirty="0" err="1">
                          <a:solidFill>
                            <a:srgbClr val="000000"/>
                          </a:solidFill>
                          <a:effectLst/>
                          <a:latin typeface="Aptos Narrow" panose="020B0004020202020204" pitchFamily="34" charset="0"/>
                          <a:ea typeface="+mn-ea"/>
                          <a:cs typeface="+mn-cs"/>
                        </a:rPr>
                        <a:t>untuk</a:t>
                      </a:r>
                      <a:r>
                        <a:rPr lang="en-US" sz="1100" b="0" i="0" u="none" strike="noStrike" kern="1200" dirty="0">
                          <a:solidFill>
                            <a:srgbClr val="000000"/>
                          </a:solidFill>
                          <a:effectLst/>
                          <a:latin typeface="Aptos Narrow" panose="020B0004020202020204" pitchFamily="34" charset="0"/>
                          <a:ea typeface="+mn-ea"/>
                          <a:cs typeface="+mn-cs"/>
                        </a:rPr>
                        <a:t> </a:t>
                      </a:r>
                      <a:r>
                        <a:rPr lang="en-US" sz="1100" b="0" i="0" u="none" strike="noStrike" kern="1200" dirty="0" err="1">
                          <a:solidFill>
                            <a:srgbClr val="000000"/>
                          </a:solidFill>
                          <a:effectLst/>
                          <a:latin typeface="Aptos Narrow" panose="020B0004020202020204" pitchFamily="34" charset="0"/>
                          <a:ea typeface="+mn-ea"/>
                          <a:cs typeface="+mn-cs"/>
                        </a:rPr>
                        <a:t>keperluan</a:t>
                      </a:r>
                      <a:r>
                        <a:rPr lang="en-US" sz="1100" b="0" i="0" u="none" strike="noStrike" kern="1200" dirty="0">
                          <a:solidFill>
                            <a:srgbClr val="000000"/>
                          </a:solidFill>
                          <a:effectLst/>
                          <a:latin typeface="Aptos Narrow" panose="020B0004020202020204" pitchFamily="34" charset="0"/>
                          <a:ea typeface="+mn-ea"/>
                          <a:cs typeface="+mn-cs"/>
                        </a:rPr>
                        <a:t> </a:t>
                      </a:r>
                      <a:r>
                        <a:rPr lang="en-US" sz="1100" b="0" i="0" u="none" strike="noStrike" kern="1200" dirty="0" err="1">
                          <a:solidFill>
                            <a:srgbClr val="000000"/>
                          </a:solidFill>
                          <a:effectLst/>
                          <a:latin typeface="Aptos Narrow" panose="020B0004020202020204" pitchFamily="34" charset="0"/>
                          <a:ea typeface="+mn-ea"/>
                          <a:cs typeface="+mn-cs"/>
                        </a:rPr>
                        <a:t>penghapusan</a:t>
                      </a:r>
                      <a:r>
                        <a:rPr lang="en-US" sz="1100" b="0" i="0" u="none" strike="noStrike" kern="1200" dirty="0">
                          <a:solidFill>
                            <a:srgbClr val="000000"/>
                          </a:solidFill>
                          <a:effectLst/>
                          <a:latin typeface="Aptos Narrow" panose="020B0004020202020204" pitchFamily="34" charset="0"/>
                          <a:ea typeface="+mn-ea"/>
                          <a:cs typeface="+mn-cs"/>
                        </a:rPr>
                        <a:t> asset </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r>
                        <a:rPr lang="en-US" sz="1100" b="0" i="0" u="none" strike="noStrike" dirty="0">
                          <a:solidFill>
                            <a:srgbClr val="000000"/>
                          </a:solidFill>
                          <a:effectLst/>
                          <a:latin typeface="Aptos Narrow" panose="020B0004020202020204" pitchFamily="34" charset="0"/>
                        </a:rPr>
                        <a:t>22-26 Jun</a:t>
                      </a:r>
                    </a:p>
                  </a:txBody>
                  <a:tcPr marL="7620" marR="7620" marT="762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940698410"/>
                  </a:ext>
                </a:extLst>
              </a:tr>
              <a:tr h="226120">
                <a:tc>
                  <a:txBody>
                    <a:bodyPr/>
                    <a:lstStyle/>
                    <a:p>
                      <a:pPr algn="ctr" fontAlgn="ctr"/>
                      <a:r>
                        <a:rPr lang="en-US" sz="1000" b="0" i="0" u="none" strike="noStrike" dirty="0">
                          <a:solidFill>
                            <a:srgbClr val="000000"/>
                          </a:solidFill>
                          <a:effectLst/>
                          <a:latin typeface="Aptos Narrow" panose="020B0004020202020204" pitchFamily="34" charset="0"/>
                        </a:rPr>
                        <a:t>Grissik</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r>
                        <a:rPr lang="en-US" sz="1100" b="0" i="0" u="none" strike="noStrike" dirty="0">
                          <a:solidFill>
                            <a:srgbClr val="000000"/>
                          </a:solidFill>
                          <a:effectLst/>
                          <a:latin typeface="Aptos Narrow" panose="020B0004020202020204" pitchFamily="34" charset="0"/>
                        </a:rPr>
                        <a:t>Socialization SLA &amp; Logbook Contract Issue (Maintenance &amp; Field Operations Contract)</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r>
                        <a:rPr lang="en-US" sz="1100" b="0" i="0" u="none" strike="noStrike" dirty="0">
                          <a:solidFill>
                            <a:srgbClr val="000000"/>
                          </a:solidFill>
                          <a:effectLst/>
                          <a:latin typeface="Aptos Narrow" panose="020B0004020202020204" pitchFamily="34" charset="0"/>
                        </a:rPr>
                        <a:t>24-Jun</a:t>
                      </a:r>
                    </a:p>
                  </a:txBody>
                  <a:tcPr marL="7620" marR="7620" marT="762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623419829"/>
                  </a:ext>
                </a:extLst>
              </a:tr>
              <a:tr h="226120">
                <a:tc>
                  <a:txBody>
                    <a:bodyPr/>
                    <a:lstStyle/>
                    <a:p>
                      <a:pPr algn="ctr" fontAlgn="ctr"/>
                      <a:r>
                        <a:rPr lang="en-US" sz="1000" b="0" i="0" u="none" strike="noStrike" dirty="0">
                          <a:solidFill>
                            <a:srgbClr val="000000"/>
                          </a:solidFill>
                          <a:effectLst/>
                          <a:latin typeface="Aptos Narrow" panose="020B0004020202020204" pitchFamily="34" charset="0"/>
                        </a:rPr>
                        <a:t>Grissik</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r>
                        <a:rPr lang="en-US" sz="1100" b="0" i="0" u="none" strike="noStrike" dirty="0">
                          <a:solidFill>
                            <a:srgbClr val="000000"/>
                          </a:solidFill>
                          <a:effectLst/>
                          <a:latin typeface="Aptos Narrow" panose="020B0004020202020204" pitchFamily="34" charset="0"/>
                        </a:rPr>
                        <a:t>NC Forum</a:t>
                      </a:r>
                    </a:p>
                  </a:txBody>
                  <a:tcPr marL="0" marR="0" marT="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r>
                        <a:rPr lang="en-US" sz="1100" b="0" i="0" u="none" strike="noStrike" dirty="0">
                          <a:solidFill>
                            <a:srgbClr val="000000"/>
                          </a:solidFill>
                          <a:effectLst/>
                          <a:latin typeface="Aptos Narrow" panose="020B0004020202020204" pitchFamily="34" charset="0"/>
                        </a:rPr>
                        <a:t>24-26 Jun</a:t>
                      </a:r>
                    </a:p>
                  </a:txBody>
                  <a:tcPr marL="7620" marR="7620" marT="762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2127094267"/>
                  </a:ext>
                </a:extLst>
              </a:tr>
            </a:tbl>
          </a:graphicData>
        </a:graphic>
      </p:graphicFrame>
      <p:sp>
        <p:nvSpPr>
          <p:cNvPr id="3" name="TextBox 2">
            <a:extLst>
              <a:ext uri="{FF2B5EF4-FFF2-40B4-BE49-F238E27FC236}">
                <a16:creationId xmlns:a16="http://schemas.microsoft.com/office/drawing/2014/main" id="{9A943737-AD2C-B8DB-8AE1-A96431E36D9E}"/>
              </a:ext>
            </a:extLst>
          </p:cNvPr>
          <p:cNvSpPr txBox="1"/>
          <p:nvPr/>
        </p:nvSpPr>
        <p:spPr>
          <a:xfrm>
            <a:off x="388152" y="2747057"/>
            <a:ext cx="2928845" cy="396013"/>
          </a:xfrm>
          <a:prstGeom prst="rect">
            <a:avLst/>
          </a:prstGeom>
          <a:noFill/>
        </p:spPr>
        <p:txBody>
          <a:bodyPr wrap="square" rtlCol="0">
            <a:noAutofit/>
          </a:bodyPr>
          <a:lstStyle/>
          <a:p>
            <a:r>
              <a:rPr lang="da-DK" sz="2000" b="1" dirty="0">
                <a:solidFill>
                  <a:srgbClr val="004C8F"/>
                </a:solidFill>
                <a:latin typeface="Univers 67 Condensed" pitchFamily="2" charset="0"/>
                <a:cs typeface="Calibri"/>
              </a:rPr>
              <a:t>Next week visitation</a:t>
            </a:r>
          </a:p>
        </p:txBody>
      </p:sp>
    </p:spTree>
    <p:extLst>
      <p:ext uri="{BB962C8B-B14F-4D97-AF65-F5344CB8AC3E}">
        <p14:creationId xmlns:p14="http://schemas.microsoft.com/office/powerpoint/2010/main" val="1361909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E639B-B8F8-DF4A-4D2B-3D789C7D97E7}"/>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0076E486-49E0-420E-7606-DC8B5E6E5411}"/>
              </a:ext>
            </a:extLst>
          </p:cNvPr>
          <p:cNvSpPr txBox="1"/>
          <p:nvPr/>
        </p:nvSpPr>
        <p:spPr>
          <a:xfrm>
            <a:off x="231528" y="196152"/>
            <a:ext cx="10569187" cy="523220"/>
          </a:xfrm>
          <a:prstGeom prst="rect">
            <a:avLst/>
          </a:prstGeom>
          <a:noFill/>
        </p:spPr>
        <p:txBody>
          <a:bodyPr wrap="square" rtlCol="0">
            <a:noAutofit/>
          </a:bodyPr>
          <a:lstStyle/>
          <a:p>
            <a:r>
              <a:rPr lang="sv-SE" sz="2800" b="1" dirty="0">
                <a:solidFill>
                  <a:srgbClr val="004C8F"/>
                </a:solidFill>
                <a:latin typeface="Univers 67 Condensed" pitchFamily="2" charset="0"/>
                <a:cs typeface="Calibri"/>
              </a:rPr>
              <a:t>Operation Maintenance Est Budget Monitoring (20 Jun)</a:t>
            </a:r>
          </a:p>
        </p:txBody>
      </p:sp>
      <p:pic>
        <p:nvPicPr>
          <p:cNvPr id="3" name="Picture 2" descr="A logo with people in a circle&#10;&#10;Description automatically generated">
            <a:extLst>
              <a:ext uri="{FF2B5EF4-FFF2-40B4-BE49-F238E27FC236}">
                <a16:creationId xmlns:a16="http://schemas.microsoft.com/office/drawing/2014/main" id="{B865094B-5B06-F64D-0F6B-63006CE565C1}"/>
              </a:ext>
            </a:extLst>
          </p:cNvPr>
          <p:cNvPicPr>
            <a:picLocks noChangeAspect="1"/>
          </p:cNvPicPr>
          <p:nvPr/>
        </p:nvPicPr>
        <p:blipFill>
          <a:blip r:embed="rId3"/>
          <a:stretch>
            <a:fillRect/>
          </a:stretch>
        </p:blipFill>
        <p:spPr>
          <a:xfrm>
            <a:off x="11587759" y="98422"/>
            <a:ext cx="456689" cy="523220"/>
          </a:xfrm>
          <a:prstGeom prst="rect">
            <a:avLst/>
          </a:prstGeom>
        </p:spPr>
      </p:pic>
      <p:pic>
        <p:nvPicPr>
          <p:cNvPr id="5" name="Picture 4">
            <a:extLst>
              <a:ext uri="{FF2B5EF4-FFF2-40B4-BE49-F238E27FC236}">
                <a16:creationId xmlns:a16="http://schemas.microsoft.com/office/drawing/2014/main" id="{B1177F82-887C-0443-533B-DE30D51AAAF9}"/>
              </a:ext>
            </a:extLst>
          </p:cNvPr>
          <p:cNvPicPr>
            <a:picLocks noChangeAspect="1"/>
          </p:cNvPicPr>
          <p:nvPr/>
        </p:nvPicPr>
        <p:blipFill>
          <a:blip r:embed="rId4"/>
          <a:stretch>
            <a:fillRect/>
          </a:stretch>
        </p:blipFill>
        <p:spPr>
          <a:xfrm>
            <a:off x="421215" y="976842"/>
            <a:ext cx="6774413" cy="5423958"/>
          </a:xfrm>
          <a:prstGeom prst="rect">
            <a:avLst/>
          </a:prstGeom>
        </p:spPr>
      </p:pic>
    </p:spTree>
    <p:extLst>
      <p:ext uri="{BB962C8B-B14F-4D97-AF65-F5344CB8AC3E}">
        <p14:creationId xmlns:p14="http://schemas.microsoft.com/office/powerpoint/2010/main" val="1335233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9735F-2002-27B0-39AF-F3897F61BBCB}"/>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735EAAC8-216E-C81B-3094-AB296B64C77E}"/>
              </a:ext>
            </a:extLst>
          </p:cNvPr>
          <p:cNvSpPr txBox="1"/>
          <p:nvPr/>
        </p:nvSpPr>
        <p:spPr>
          <a:xfrm>
            <a:off x="231528" y="196152"/>
            <a:ext cx="10569187" cy="523220"/>
          </a:xfrm>
          <a:prstGeom prst="rect">
            <a:avLst/>
          </a:prstGeom>
          <a:noFill/>
        </p:spPr>
        <p:txBody>
          <a:bodyPr wrap="square" rtlCol="0">
            <a:noAutofit/>
          </a:bodyPr>
          <a:lstStyle/>
          <a:p>
            <a:r>
              <a:rPr lang="sv-SE" sz="2800" b="1" dirty="0">
                <a:solidFill>
                  <a:srgbClr val="004C8F"/>
                </a:solidFill>
                <a:latin typeface="Univers 67 Condensed" pitchFamily="2" charset="0"/>
                <a:cs typeface="Calibri"/>
              </a:rPr>
              <a:t>Operation Maintenance Est Budget Monitoring (20 Jun)</a:t>
            </a:r>
          </a:p>
        </p:txBody>
      </p:sp>
      <p:pic>
        <p:nvPicPr>
          <p:cNvPr id="3" name="Picture 2" descr="A logo with people in a circle&#10;&#10;Description automatically generated">
            <a:extLst>
              <a:ext uri="{FF2B5EF4-FFF2-40B4-BE49-F238E27FC236}">
                <a16:creationId xmlns:a16="http://schemas.microsoft.com/office/drawing/2014/main" id="{27193EE8-8E9A-2DFF-503F-1623A887BFFD}"/>
              </a:ext>
            </a:extLst>
          </p:cNvPr>
          <p:cNvPicPr>
            <a:picLocks noChangeAspect="1"/>
          </p:cNvPicPr>
          <p:nvPr/>
        </p:nvPicPr>
        <p:blipFill>
          <a:blip r:embed="rId3"/>
          <a:stretch>
            <a:fillRect/>
          </a:stretch>
        </p:blipFill>
        <p:spPr>
          <a:xfrm>
            <a:off x="11587759" y="98422"/>
            <a:ext cx="456689" cy="523220"/>
          </a:xfrm>
          <a:prstGeom prst="rect">
            <a:avLst/>
          </a:prstGeom>
        </p:spPr>
      </p:pic>
      <p:pic>
        <p:nvPicPr>
          <p:cNvPr id="5" name="Picture 4">
            <a:extLst>
              <a:ext uri="{FF2B5EF4-FFF2-40B4-BE49-F238E27FC236}">
                <a16:creationId xmlns:a16="http://schemas.microsoft.com/office/drawing/2014/main" id="{426540C6-E69F-5CB1-B8AF-E0277B9C5528}"/>
              </a:ext>
            </a:extLst>
          </p:cNvPr>
          <p:cNvPicPr>
            <a:picLocks noChangeAspect="1"/>
          </p:cNvPicPr>
          <p:nvPr/>
        </p:nvPicPr>
        <p:blipFill>
          <a:blip r:embed="rId4"/>
          <a:stretch>
            <a:fillRect/>
          </a:stretch>
        </p:blipFill>
        <p:spPr>
          <a:xfrm>
            <a:off x="328084" y="942975"/>
            <a:ext cx="6834716" cy="5472240"/>
          </a:xfrm>
          <a:prstGeom prst="rect">
            <a:avLst/>
          </a:prstGeom>
        </p:spPr>
      </p:pic>
    </p:spTree>
    <p:extLst>
      <p:ext uri="{BB962C8B-B14F-4D97-AF65-F5344CB8AC3E}">
        <p14:creationId xmlns:p14="http://schemas.microsoft.com/office/powerpoint/2010/main" val="1086896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88473-8FDB-33A8-662E-E461DCF4523F}"/>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9363EA89-D953-9F72-52F8-080F12599B69}"/>
              </a:ext>
            </a:extLst>
          </p:cNvPr>
          <p:cNvSpPr txBox="1"/>
          <p:nvPr/>
        </p:nvSpPr>
        <p:spPr>
          <a:xfrm>
            <a:off x="231528" y="196152"/>
            <a:ext cx="10569187" cy="523220"/>
          </a:xfrm>
          <a:prstGeom prst="rect">
            <a:avLst/>
          </a:prstGeom>
          <a:noFill/>
        </p:spPr>
        <p:txBody>
          <a:bodyPr wrap="square" rtlCol="0">
            <a:noAutofit/>
          </a:bodyPr>
          <a:lstStyle/>
          <a:p>
            <a:r>
              <a:rPr lang="sv-SE" sz="2800" b="1" dirty="0">
                <a:solidFill>
                  <a:srgbClr val="004C8F"/>
                </a:solidFill>
                <a:latin typeface="Univers 67 Condensed" pitchFamily="2" charset="0"/>
                <a:cs typeface="Calibri"/>
              </a:rPr>
              <a:t>Operation Maintenance Est Budget Monitoring (20 Jun)</a:t>
            </a:r>
          </a:p>
        </p:txBody>
      </p:sp>
      <p:pic>
        <p:nvPicPr>
          <p:cNvPr id="3" name="Picture 2" descr="A logo with people in a circle&#10;&#10;Description automatically generated">
            <a:extLst>
              <a:ext uri="{FF2B5EF4-FFF2-40B4-BE49-F238E27FC236}">
                <a16:creationId xmlns:a16="http://schemas.microsoft.com/office/drawing/2014/main" id="{25574CA3-149E-6F30-DAE0-D7398F831D17}"/>
              </a:ext>
            </a:extLst>
          </p:cNvPr>
          <p:cNvPicPr>
            <a:picLocks noChangeAspect="1"/>
          </p:cNvPicPr>
          <p:nvPr/>
        </p:nvPicPr>
        <p:blipFill>
          <a:blip r:embed="rId3"/>
          <a:stretch>
            <a:fillRect/>
          </a:stretch>
        </p:blipFill>
        <p:spPr>
          <a:xfrm>
            <a:off x="11587759" y="98422"/>
            <a:ext cx="456689" cy="523220"/>
          </a:xfrm>
          <a:prstGeom prst="rect">
            <a:avLst/>
          </a:prstGeom>
        </p:spPr>
      </p:pic>
      <p:pic>
        <p:nvPicPr>
          <p:cNvPr id="4" name="Picture 3">
            <a:extLst>
              <a:ext uri="{FF2B5EF4-FFF2-40B4-BE49-F238E27FC236}">
                <a16:creationId xmlns:a16="http://schemas.microsoft.com/office/drawing/2014/main" id="{CF2BF557-F2E1-72FA-37F9-91CD35541886}"/>
              </a:ext>
            </a:extLst>
          </p:cNvPr>
          <p:cNvPicPr>
            <a:picLocks noChangeAspect="1"/>
          </p:cNvPicPr>
          <p:nvPr/>
        </p:nvPicPr>
        <p:blipFill>
          <a:blip r:embed="rId4"/>
          <a:stretch>
            <a:fillRect/>
          </a:stretch>
        </p:blipFill>
        <p:spPr>
          <a:xfrm>
            <a:off x="370417" y="1019175"/>
            <a:ext cx="9052984" cy="4013687"/>
          </a:xfrm>
          <a:prstGeom prst="rect">
            <a:avLst/>
          </a:prstGeom>
        </p:spPr>
      </p:pic>
    </p:spTree>
    <p:extLst>
      <p:ext uri="{BB962C8B-B14F-4D97-AF65-F5344CB8AC3E}">
        <p14:creationId xmlns:p14="http://schemas.microsoft.com/office/powerpoint/2010/main" val="3352653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71DDD-0BEF-B855-30C2-9C91664FE7AF}"/>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66287DBD-DCB4-F9CC-C2F4-567AE7DB4785}"/>
              </a:ext>
            </a:extLst>
          </p:cNvPr>
          <p:cNvSpPr txBox="1"/>
          <p:nvPr/>
        </p:nvSpPr>
        <p:spPr>
          <a:xfrm>
            <a:off x="231528" y="196152"/>
            <a:ext cx="10569187" cy="523220"/>
          </a:xfrm>
          <a:prstGeom prst="rect">
            <a:avLst/>
          </a:prstGeom>
          <a:noFill/>
        </p:spPr>
        <p:txBody>
          <a:bodyPr wrap="square" rtlCol="0">
            <a:noAutofit/>
          </a:bodyPr>
          <a:lstStyle/>
          <a:p>
            <a:r>
              <a:rPr lang="sv-SE" sz="2800" b="1" dirty="0">
                <a:solidFill>
                  <a:srgbClr val="004C8F"/>
                </a:solidFill>
                <a:latin typeface="Univers 67 Condensed" pitchFamily="2" charset="0"/>
                <a:cs typeface="Calibri"/>
              </a:rPr>
              <a:t>List GGSDR PMO Deferral and Potential Deferral</a:t>
            </a:r>
          </a:p>
        </p:txBody>
      </p:sp>
      <p:pic>
        <p:nvPicPr>
          <p:cNvPr id="6" name="Picture 5">
            <a:extLst>
              <a:ext uri="{FF2B5EF4-FFF2-40B4-BE49-F238E27FC236}">
                <a16:creationId xmlns:a16="http://schemas.microsoft.com/office/drawing/2014/main" id="{5E8283CF-EBE7-1621-F503-E5BEA203347D}"/>
              </a:ext>
            </a:extLst>
          </p:cNvPr>
          <p:cNvPicPr>
            <a:picLocks noChangeAspect="1"/>
          </p:cNvPicPr>
          <p:nvPr/>
        </p:nvPicPr>
        <p:blipFill>
          <a:blip r:embed="rId3"/>
          <a:stretch>
            <a:fillRect/>
          </a:stretch>
        </p:blipFill>
        <p:spPr>
          <a:xfrm>
            <a:off x="231528" y="3260196"/>
            <a:ext cx="9329880" cy="1563158"/>
          </a:xfrm>
          <a:prstGeom prst="rect">
            <a:avLst/>
          </a:prstGeom>
        </p:spPr>
      </p:pic>
      <p:graphicFrame>
        <p:nvGraphicFramePr>
          <p:cNvPr id="8" name="Table 7">
            <a:extLst>
              <a:ext uri="{FF2B5EF4-FFF2-40B4-BE49-F238E27FC236}">
                <a16:creationId xmlns:a16="http://schemas.microsoft.com/office/drawing/2014/main" id="{4609362B-0EB7-847B-BF97-AC4EB639FA91}"/>
              </a:ext>
            </a:extLst>
          </p:cNvPr>
          <p:cNvGraphicFramePr>
            <a:graphicFrameLocks noGrp="1"/>
          </p:cNvGraphicFramePr>
          <p:nvPr>
            <p:extLst>
              <p:ext uri="{D42A27DB-BD31-4B8C-83A1-F6EECF244321}">
                <p14:modId xmlns:p14="http://schemas.microsoft.com/office/powerpoint/2010/main" val="384324020"/>
              </p:ext>
            </p:extLst>
          </p:nvPr>
        </p:nvGraphicFramePr>
        <p:xfrm>
          <a:off x="231528" y="1474078"/>
          <a:ext cx="10515595" cy="732192"/>
        </p:xfrm>
        <a:graphic>
          <a:graphicData uri="http://schemas.openxmlformats.org/drawingml/2006/table">
            <a:tbl>
              <a:tblPr firstRow="1" firstCol="1" bandRow="1"/>
              <a:tblGrid>
                <a:gridCol w="586076">
                  <a:extLst>
                    <a:ext uri="{9D8B030D-6E8A-4147-A177-3AD203B41FA5}">
                      <a16:colId xmlns:a16="http://schemas.microsoft.com/office/drawing/2014/main" val="1936094632"/>
                    </a:ext>
                  </a:extLst>
                </a:gridCol>
                <a:gridCol w="1095863">
                  <a:extLst>
                    <a:ext uri="{9D8B030D-6E8A-4147-A177-3AD203B41FA5}">
                      <a16:colId xmlns:a16="http://schemas.microsoft.com/office/drawing/2014/main" val="2719907561"/>
                    </a:ext>
                  </a:extLst>
                </a:gridCol>
                <a:gridCol w="414866">
                  <a:extLst>
                    <a:ext uri="{9D8B030D-6E8A-4147-A177-3AD203B41FA5}">
                      <a16:colId xmlns:a16="http://schemas.microsoft.com/office/drawing/2014/main" val="1327987455"/>
                    </a:ext>
                  </a:extLst>
                </a:gridCol>
                <a:gridCol w="448734">
                  <a:extLst>
                    <a:ext uri="{9D8B030D-6E8A-4147-A177-3AD203B41FA5}">
                      <a16:colId xmlns:a16="http://schemas.microsoft.com/office/drawing/2014/main" val="3023042788"/>
                    </a:ext>
                  </a:extLst>
                </a:gridCol>
                <a:gridCol w="384841">
                  <a:extLst>
                    <a:ext uri="{9D8B030D-6E8A-4147-A177-3AD203B41FA5}">
                      <a16:colId xmlns:a16="http://schemas.microsoft.com/office/drawing/2014/main" val="1269916179"/>
                    </a:ext>
                  </a:extLst>
                </a:gridCol>
                <a:gridCol w="586076">
                  <a:extLst>
                    <a:ext uri="{9D8B030D-6E8A-4147-A177-3AD203B41FA5}">
                      <a16:colId xmlns:a16="http://schemas.microsoft.com/office/drawing/2014/main" val="3820456922"/>
                    </a:ext>
                  </a:extLst>
                </a:gridCol>
                <a:gridCol w="586076">
                  <a:extLst>
                    <a:ext uri="{9D8B030D-6E8A-4147-A177-3AD203B41FA5}">
                      <a16:colId xmlns:a16="http://schemas.microsoft.com/office/drawing/2014/main" val="2441389449"/>
                    </a:ext>
                  </a:extLst>
                </a:gridCol>
                <a:gridCol w="586076">
                  <a:extLst>
                    <a:ext uri="{9D8B030D-6E8A-4147-A177-3AD203B41FA5}">
                      <a16:colId xmlns:a16="http://schemas.microsoft.com/office/drawing/2014/main" val="4234075461"/>
                    </a:ext>
                  </a:extLst>
                </a:gridCol>
                <a:gridCol w="586076">
                  <a:extLst>
                    <a:ext uri="{9D8B030D-6E8A-4147-A177-3AD203B41FA5}">
                      <a16:colId xmlns:a16="http://schemas.microsoft.com/office/drawing/2014/main" val="3881361692"/>
                    </a:ext>
                  </a:extLst>
                </a:gridCol>
                <a:gridCol w="586076">
                  <a:extLst>
                    <a:ext uri="{9D8B030D-6E8A-4147-A177-3AD203B41FA5}">
                      <a16:colId xmlns:a16="http://schemas.microsoft.com/office/drawing/2014/main" val="1088307502"/>
                    </a:ext>
                  </a:extLst>
                </a:gridCol>
                <a:gridCol w="630245">
                  <a:extLst>
                    <a:ext uri="{9D8B030D-6E8A-4147-A177-3AD203B41FA5}">
                      <a16:colId xmlns:a16="http://schemas.microsoft.com/office/drawing/2014/main" val="1656700075"/>
                    </a:ext>
                  </a:extLst>
                </a:gridCol>
                <a:gridCol w="718789">
                  <a:extLst>
                    <a:ext uri="{9D8B030D-6E8A-4147-A177-3AD203B41FA5}">
                      <a16:colId xmlns:a16="http://schemas.microsoft.com/office/drawing/2014/main" val="422484892"/>
                    </a:ext>
                  </a:extLst>
                </a:gridCol>
                <a:gridCol w="558122">
                  <a:extLst>
                    <a:ext uri="{9D8B030D-6E8A-4147-A177-3AD203B41FA5}">
                      <a16:colId xmlns:a16="http://schemas.microsoft.com/office/drawing/2014/main" val="382898073"/>
                    </a:ext>
                  </a:extLst>
                </a:gridCol>
                <a:gridCol w="558122">
                  <a:extLst>
                    <a:ext uri="{9D8B030D-6E8A-4147-A177-3AD203B41FA5}">
                      <a16:colId xmlns:a16="http://schemas.microsoft.com/office/drawing/2014/main" val="671997778"/>
                    </a:ext>
                  </a:extLst>
                </a:gridCol>
                <a:gridCol w="558122">
                  <a:extLst>
                    <a:ext uri="{9D8B030D-6E8A-4147-A177-3AD203B41FA5}">
                      <a16:colId xmlns:a16="http://schemas.microsoft.com/office/drawing/2014/main" val="2259701636"/>
                    </a:ext>
                  </a:extLst>
                </a:gridCol>
                <a:gridCol w="772785">
                  <a:extLst>
                    <a:ext uri="{9D8B030D-6E8A-4147-A177-3AD203B41FA5}">
                      <a16:colId xmlns:a16="http://schemas.microsoft.com/office/drawing/2014/main" val="100873300"/>
                    </a:ext>
                  </a:extLst>
                </a:gridCol>
                <a:gridCol w="858650">
                  <a:extLst>
                    <a:ext uri="{9D8B030D-6E8A-4147-A177-3AD203B41FA5}">
                      <a16:colId xmlns:a16="http://schemas.microsoft.com/office/drawing/2014/main" val="460046945"/>
                    </a:ext>
                  </a:extLst>
                </a:gridCol>
              </a:tblGrid>
              <a:tr h="309114">
                <a:tc>
                  <a:txBody>
                    <a:bodyPr/>
                    <a:lstStyle/>
                    <a:p>
                      <a:pPr marL="0" marR="0" algn="ctr">
                        <a:buNone/>
                      </a:pPr>
                      <a:r>
                        <a:rPr lang="en-US" sz="700" b="1">
                          <a:solidFill>
                            <a:srgbClr val="000000"/>
                          </a:solidFill>
                          <a:effectLst/>
                          <a:latin typeface="Calibri" panose="020F0502020204030204" pitchFamily="34" charset="0"/>
                          <a:ea typeface="Aptos" panose="020B0004020202020204" pitchFamily="34" charset="0"/>
                        </a:rPr>
                        <a:t>Order</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buNone/>
                      </a:pPr>
                      <a:r>
                        <a:rPr lang="en-US" sz="700" b="1" dirty="0">
                          <a:solidFill>
                            <a:srgbClr val="000000"/>
                          </a:solidFill>
                          <a:effectLst/>
                          <a:latin typeface="Calibri" panose="020F0502020204030204" pitchFamily="34" charset="0"/>
                          <a:ea typeface="Aptos" panose="020B0004020202020204" pitchFamily="34" charset="0"/>
                        </a:rPr>
                        <a:t>Description</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buNone/>
                      </a:pPr>
                      <a:r>
                        <a:rPr lang="en-US" sz="700" b="1">
                          <a:solidFill>
                            <a:srgbClr val="000000"/>
                          </a:solidFill>
                          <a:effectLst/>
                          <a:latin typeface="Calibri" panose="020F0502020204030204" pitchFamily="34" charset="0"/>
                          <a:ea typeface="Aptos" panose="020B0004020202020204" pitchFamily="34" charset="0"/>
                        </a:rPr>
                        <a:t>Area</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buNone/>
                      </a:pPr>
                      <a:r>
                        <a:rPr lang="en-US" sz="700" b="1">
                          <a:solidFill>
                            <a:srgbClr val="000000"/>
                          </a:solidFill>
                          <a:effectLst/>
                          <a:latin typeface="Calibri" panose="020F0502020204030204" pitchFamily="34" charset="0"/>
                          <a:ea typeface="Aptos" panose="020B0004020202020204" pitchFamily="34" charset="0"/>
                        </a:rPr>
                        <a:t>Main WC</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buNone/>
                      </a:pPr>
                      <a:r>
                        <a:rPr lang="en-US" sz="700" b="1">
                          <a:solidFill>
                            <a:srgbClr val="000000"/>
                          </a:solidFill>
                          <a:effectLst/>
                          <a:latin typeface="Calibri" panose="020F0502020204030204" pitchFamily="34" charset="0"/>
                          <a:ea typeface="Aptos" panose="020B0004020202020204" pitchFamily="34" charset="0"/>
                        </a:rPr>
                        <a:t>Type</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buNone/>
                      </a:pPr>
                      <a:r>
                        <a:rPr lang="en-US" sz="700" b="1">
                          <a:solidFill>
                            <a:srgbClr val="000000"/>
                          </a:solidFill>
                          <a:effectLst/>
                          <a:latin typeface="Calibri" panose="020F0502020204030204" pitchFamily="34" charset="0"/>
                          <a:ea typeface="Aptos" panose="020B0004020202020204" pitchFamily="34" charset="0"/>
                        </a:rPr>
                        <a:t>Risk Assess.</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buNone/>
                      </a:pPr>
                      <a:r>
                        <a:rPr lang="en-US" sz="700" b="1" dirty="0">
                          <a:solidFill>
                            <a:srgbClr val="000000"/>
                          </a:solidFill>
                          <a:effectLst/>
                          <a:latin typeface="Calibri" panose="020F0502020204030204" pitchFamily="34" charset="0"/>
                          <a:ea typeface="Aptos" panose="020B0004020202020204" pitchFamily="34" charset="0"/>
                        </a:rPr>
                        <a:t>Planned Date</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buNone/>
                      </a:pPr>
                      <a:r>
                        <a:rPr lang="en-US" sz="700" b="1">
                          <a:solidFill>
                            <a:srgbClr val="000000"/>
                          </a:solidFill>
                          <a:effectLst/>
                          <a:latin typeface="Calibri" panose="020F0502020204030204" pitchFamily="34" charset="0"/>
                          <a:ea typeface="Aptos" panose="020B0004020202020204" pitchFamily="34" charset="0"/>
                        </a:rPr>
                        <a:t>Deferral PID</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buNone/>
                      </a:pPr>
                      <a:r>
                        <a:rPr lang="en-US" sz="700" b="1">
                          <a:solidFill>
                            <a:srgbClr val="000000"/>
                          </a:solidFill>
                          <a:effectLst/>
                          <a:latin typeface="Calibri" panose="020F0502020204030204" pitchFamily="34" charset="0"/>
                          <a:ea typeface="Aptos" panose="020B0004020202020204" pitchFamily="34" charset="0"/>
                        </a:rPr>
                        <a:t>Approval Date</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buNone/>
                      </a:pPr>
                      <a:r>
                        <a:rPr lang="en-US" sz="700" b="1">
                          <a:solidFill>
                            <a:srgbClr val="000000"/>
                          </a:solidFill>
                          <a:effectLst/>
                          <a:latin typeface="Calibri" panose="020F0502020204030204" pitchFamily="34" charset="0"/>
                          <a:ea typeface="Aptos" panose="020B0004020202020204" pitchFamily="34" charset="0"/>
                        </a:rPr>
                        <a:t>Current Stage</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buNone/>
                      </a:pPr>
                      <a:r>
                        <a:rPr lang="en-US" sz="700" b="1">
                          <a:solidFill>
                            <a:srgbClr val="000000"/>
                          </a:solidFill>
                          <a:effectLst/>
                          <a:latin typeface="Calibri" panose="020F0502020204030204" pitchFamily="34" charset="0"/>
                          <a:ea typeface="Aptos" panose="020B0004020202020204" pitchFamily="34" charset="0"/>
                        </a:rPr>
                        <a:t>Deferral Compliance</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buNone/>
                      </a:pPr>
                      <a:r>
                        <a:rPr lang="en-US" sz="700" b="1" dirty="0">
                          <a:solidFill>
                            <a:srgbClr val="000000"/>
                          </a:solidFill>
                          <a:effectLst/>
                          <a:latin typeface="Calibri" panose="020F0502020204030204" pitchFamily="34" charset="0"/>
                          <a:ea typeface="Aptos" panose="020B0004020202020204" pitchFamily="34" charset="0"/>
                        </a:rPr>
                        <a:t>Dept.</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buNone/>
                      </a:pPr>
                      <a:r>
                        <a:rPr lang="en-US" sz="700" b="1">
                          <a:solidFill>
                            <a:srgbClr val="FF0000"/>
                          </a:solidFill>
                          <a:effectLst/>
                          <a:latin typeface="Calibri" panose="020F0502020204030204" pitchFamily="34" charset="0"/>
                          <a:ea typeface="Aptos" panose="020B0004020202020204" pitchFamily="34" charset="0"/>
                        </a:rPr>
                        <a:t>1st Deferral Due</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buNone/>
                      </a:pPr>
                      <a:r>
                        <a:rPr lang="en-US" sz="700" b="1">
                          <a:solidFill>
                            <a:srgbClr val="FF0000"/>
                          </a:solidFill>
                          <a:effectLst/>
                          <a:latin typeface="Calibri" panose="020F0502020204030204" pitchFamily="34" charset="0"/>
                          <a:ea typeface="Aptos" panose="020B0004020202020204" pitchFamily="34" charset="0"/>
                        </a:rPr>
                        <a:t>2nd Deferral Due</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buNone/>
                      </a:pPr>
                      <a:r>
                        <a:rPr lang="en-US" sz="700" b="1">
                          <a:solidFill>
                            <a:srgbClr val="FF0000"/>
                          </a:solidFill>
                          <a:effectLst/>
                          <a:latin typeface="Calibri" panose="020F0502020204030204" pitchFamily="34" charset="0"/>
                          <a:ea typeface="Aptos" panose="020B0004020202020204" pitchFamily="34" charset="0"/>
                        </a:rPr>
                        <a:t>3rd Deferral Due</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buNone/>
                      </a:pPr>
                      <a:r>
                        <a:rPr lang="en-US" sz="700" b="1">
                          <a:solidFill>
                            <a:srgbClr val="FF0000"/>
                          </a:solidFill>
                          <a:effectLst/>
                          <a:latin typeface="Calibri" panose="020F0502020204030204" pitchFamily="34" charset="0"/>
                          <a:ea typeface="Aptos" panose="020B0004020202020204" pitchFamily="34" charset="0"/>
                        </a:rPr>
                        <a:t>Beyond 3rd Deferral/Deferral Aging Due</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buNone/>
                      </a:pPr>
                      <a:r>
                        <a:rPr lang="en-US" sz="700" b="1">
                          <a:solidFill>
                            <a:srgbClr val="FF0000"/>
                          </a:solidFill>
                          <a:effectLst/>
                          <a:latin typeface="Calibri" panose="020F0502020204030204" pitchFamily="34" charset="0"/>
                          <a:ea typeface="Aptos" panose="020B0004020202020204" pitchFamily="34" charset="0"/>
                        </a:rPr>
                        <a:t>Remarks</a:t>
                      </a:r>
                      <a:endParaRPr lang="en-US" sz="800">
                        <a:effectLst/>
                        <a:latin typeface="Calibri" panose="020F0502020204030204" pitchFamily="34" charset="0"/>
                        <a:ea typeface="Aptos" panose="020B000402020202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671390063"/>
                  </a:ext>
                </a:extLst>
              </a:tr>
              <a:tr h="412152">
                <a:tc>
                  <a:txBody>
                    <a:bodyPr/>
                    <a:lstStyle/>
                    <a:p>
                      <a:pPr marL="0" marR="0" algn="ctr">
                        <a:buNone/>
                      </a:pPr>
                      <a:r>
                        <a:rPr lang="en-US" sz="700" dirty="0">
                          <a:solidFill>
                            <a:srgbClr val="FF0000"/>
                          </a:solidFill>
                          <a:effectLst/>
                          <a:latin typeface="Calibri" panose="020F0502020204030204" pitchFamily="34" charset="0"/>
                          <a:ea typeface="Aptos" panose="020B0004020202020204" pitchFamily="34" charset="0"/>
                        </a:rPr>
                        <a:t>1100238552</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dirty="0">
                          <a:solidFill>
                            <a:srgbClr val="FF0000"/>
                          </a:solidFill>
                          <a:effectLst/>
                          <a:latin typeface="Calibri" panose="020F0502020204030204" pitchFamily="34" charset="0"/>
                          <a:ea typeface="Aptos" panose="020B0004020202020204" pitchFamily="34" charset="0"/>
                        </a:rPr>
                        <a:t>SS10 1Y-WELLHEAD STROKE&amp;LEAK TEST WI PM</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a:solidFill>
                            <a:srgbClr val="FF0000"/>
                          </a:solidFill>
                          <a:effectLst/>
                          <a:latin typeface="Calibri" panose="020F0502020204030204" pitchFamily="34" charset="0"/>
                          <a:ea typeface="Aptos" panose="020B0004020202020204" pitchFamily="34" charset="0"/>
                        </a:rPr>
                        <a:t>Dayung</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dirty="0">
                          <a:solidFill>
                            <a:srgbClr val="FF0000"/>
                          </a:solidFill>
                          <a:effectLst/>
                          <a:latin typeface="Calibri" panose="020F0502020204030204" pitchFamily="34" charset="0"/>
                          <a:ea typeface="Aptos" panose="020B0004020202020204" pitchFamily="34" charset="0"/>
                        </a:rPr>
                        <a:t>IDWI</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dirty="0">
                          <a:solidFill>
                            <a:srgbClr val="FF0000"/>
                          </a:solidFill>
                          <a:effectLst/>
                          <a:latin typeface="Calibri" panose="020F0502020204030204" pitchFamily="34" charset="0"/>
                          <a:ea typeface="Aptos" panose="020B0004020202020204" pitchFamily="34" charset="0"/>
                        </a:rPr>
                        <a:t>SCE</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a:solidFill>
                            <a:srgbClr val="FF0000"/>
                          </a:solidFill>
                          <a:effectLst/>
                          <a:latin typeface="Calibri" panose="020F0502020204030204" pitchFamily="34" charset="0"/>
                          <a:ea typeface="Aptos" panose="020B0004020202020204" pitchFamily="34" charset="0"/>
                        </a:rPr>
                        <a:t>M1</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dirty="0">
                          <a:solidFill>
                            <a:srgbClr val="FF0000"/>
                          </a:solidFill>
                          <a:effectLst/>
                          <a:latin typeface="Calibri" panose="020F0502020204030204" pitchFamily="34" charset="0"/>
                          <a:ea typeface="Aptos" panose="020B0004020202020204" pitchFamily="34" charset="0"/>
                        </a:rPr>
                        <a:t>14-Feb-26</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dirty="0">
                          <a:solidFill>
                            <a:srgbClr val="FF0000"/>
                          </a:solidFill>
                          <a:effectLst/>
                          <a:latin typeface="Calibri" panose="020F0502020204030204" pitchFamily="34" charset="0"/>
                          <a:ea typeface="Aptos" panose="020B0004020202020204" pitchFamily="34" charset="0"/>
                        </a:rPr>
                        <a:t>10688534</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dirty="0">
                          <a:solidFill>
                            <a:srgbClr val="FF0000"/>
                          </a:solidFill>
                          <a:effectLst/>
                          <a:latin typeface="Calibri" panose="020F0502020204030204" pitchFamily="34" charset="0"/>
                          <a:ea typeface="Aptos" panose="020B0004020202020204" pitchFamily="34" charset="0"/>
                        </a:rPr>
                        <a:t> </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a:solidFill>
                            <a:srgbClr val="FF0000"/>
                          </a:solidFill>
                          <a:effectLst/>
                          <a:latin typeface="Calibri" panose="020F0502020204030204" pitchFamily="34" charset="0"/>
                          <a:ea typeface="Aptos" panose="020B0004020202020204" pitchFamily="34" charset="0"/>
                        </a:rPr>
                        <a:t>DEF1</a:t>
                      </a:r>
                      <a:endParaRPr lang="en-US" sz="80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dirty="0">
                          <a:solidFill>
                            <a:srgbClr val="FF0000"/>
                          </a:solidFill>
                          <a:effectLst/>
                          <a:latin typeface="Calibri" panose="020F0502020204030204" pitchFamily="34" charset="0"/>
                          <a:ea typeface="Aptos" panose="020B0004020202020204" pitchFamily="34" charset="0"/>
                        </a:rPr>
                        <a:t>No</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dirty="0">
                          <a:solidFill>
                            <a:srgbClr val="FF0000"/>
                          </a:solidFill>
                          <a:effectLst/>
                          <a:latin typeface="Calibri" panose="020F0502020204030204" pitchFamily="34" charset="0"/>
                          <a:ea typeface="Aptos" panose="020B0004020202020204" pitchFamily="34" charset="0"/>
                        </a:rPr>
                        <a:t>Production &amp; Safety</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dirty="0">
                          <a:solidFill>
                            <a:srgbClr val="FF0000"/>
                          </a:solidFill>
                          <a:effectLst/>
                          <a:latin typeface="Calibri" panose="020F0502020204030204" pitchFamily="34" charset="0"/>
                          <a:ea typeface="Aptos" panose="020B0004020202020204" pitchFamily="34" charset="0"/>
                        </a:rPr>
                        <a:t>16-Mar-26</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dirty="0">
                          <a:solidFill>
                            <a:srgbClr val="FF0000"/>
                          </a:solidFill>
                          <a:effectLst/>
                          <a:latin typeface="Calibri" panose="020F0502020204030204" pitchFamily="34" charset="0"/>
                          <a:ea typeface="Aptos" panose="020B0004020202020204" pitchFamily="34" charset="0"/>
                        </a:rPr>
                        <a:t>14-Jun-26</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dirty="0">
                          <a:solidFill>
                            <a:srgbClr val="FF0000"/>
                          </a:solidFill>
                          <a:effectLst/>
                          <a:latin typeface="Calibri" panose="020F0502020204030204" pitchFamily="34" charset="0"/>
                          <a:ea typeface="Aptos" panose="020B0004020202020204" pitchFamily="34" charset="0"/>
                        </a:rPr>
                        <a:t>14-Jul-26</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dirty="0">
                          <a:solidFill>
                            <a:srgbClr val="FF0000"/>
                          </a:solidFill>
                          <a:effectLst/>
                          <a:latin typeface="Calibri" panose="020F0502020204030204" pitchFamily="34" charset="0"/>
                          <a:ea typeface="Aptos" panose="020B0004020202020204" pitchFamily="34" charset="0"/>
                        </a:rPr>
                        <a:t>13-Aug-26</a:t>
                      </a:r>
                      <a:endParaRPr lang="en-US" sz="800" dirty="0">
                        <a:effectLst/>
                        <a:latin typeface="Calibri" panose="020F0502020204030204" pitchFamily="34" charset="0"/>
                        <a:ea typeface="Aptos" panose="020B0004020202020204" pitchFamily="34" charset="0"/>
                      </a:endParaRPr>
                    </a:p>
                  </a:txBody>
                  <a:tcPr marL="51519" marR="515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700" dirty="0">
                          <a:solidFill>
                            <a:srgbClr val="FF0000"/>
                          </a:solidFill>
                          <a:effectLst/>
                          <a:latin typeface="Calibri" panose="020F0502020204030204" pitchFamily="34" charset="0"/>
                          <a:ea typeface="Aptos" panose="020B0004020202020204" pitchFamily="34" charset="0"/>
                        </a:rPr>
                        <a:t>Waiting SCEARA Review</a:t>
                      </a:r>
                      <a:endParaRPr lang="en-US" sz="800" dirty="0">
                        <a:effectLst/>
                        <a:latin typeface="Calibri" panose="020F0502020204030204" pitchFamily="34" charset="0"/>
                        <a:ea typeface="Aptos" panose="020B000402020202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2058980"/>
                  </a:ext>
                </a:extLst>
              </a:tr>
            </a:tbl>
          </a:graphicData>
        </a:graphic>
      </p:graphicFrame>
      <p:sp>
        <p:nvSpPr>
          <p:cNvPr id="10" name="TextBox 9">
            <a:extLst>
              <a:ext uri="{FF2B5EF4-FFF2-40B4-BE49-F238E27FC236}">
                <a16:creationId xmlns:a16="http://schemas.microsoft.com/office/drawing/2014/main" id="{783AE82C-F0E5-9E6B-034B-CA4AAED48D7E}"/>
              </a:ext>
            </a:extLst>
          </p:cNvPr>
          <p:cNvSpPr txBox="1"/>
          <p:nvPr/>
        </p:nvSpPr>
        <p:spPr>
          <a:xfrm>
            <a:off x="171450" y="1009134"/>
            <a:ext cx="6100232" cy="369332"/>
          </a:xfrm>
          <a:prstGeom prst="rect">
            <a:avLst/>
          </a:prstGeom>
          <a:noFill/>
        </p:spPr>
        <p:txBody>
          <a:bodyPr wrap="square">
            <a:spAutoFit/>
          </a:bodyPr>
          <a:lstStyle/>
          <a:p>
            <a:pPr marL="0" marR="0">
              <a:buNone/>
            </a:pPr>
            <a:r>
              <a:rPr lang="en-US" sz="1800" b="1" u="sng" dirty="0">
                <a:effectLst/>
                <a:latin typeface="Trebuchet MS" panose="020B0603020202020204" pitchFamily="34" charset="0"/>
                <a:ea typeface="Aptos" panose="020B0004020202020204" pitchFamily="34" charset="0"/>
              </a:rPr>
              <a:t>PM Deferral</a:t>
            </a:r>
            <a:endParaRPr lang="en-US" sz="1600" dirty="0">
              <a:effectLst/>
              <a:latin typeface="Calibri" panose="020F0502020204030204" pitchFamily="34" charset="0"/>
              <a:ea typeface="Aptos" panose="020B0004020202020204" pitchFamily="34" charset="0"/>
            </a:endParaRPr>
          </a:p>
        </p:txBody>
      </p:sp>
      <p:sp>
        <p:nvSpPr>
          <p:cNvPr id="12" name="TextBox 11">
            <a:extLst>
              <a:ext uri="{FF2B5EF4-FFF2-40B4-BE49-F238E27FC236}">
                <a16:creationId xmlns:a16="http://schemas.microsoft.com/office/drawing/2014/main" id="{09561908-0F4B-5DCE-B8BE-3EAD49AF46D5}"/>
              </a:ext>
            </a:extLst>
          </p:cNvPr>
          <p:cNvSpPr txBox="1"/>
          <p:nvPr/>
        </p:nvSpPr>
        <p:spPr>
          <a:xfrm>
            <a:off x="171450" y="2890864"/>
            <a:ext cx="6100232" cy="369332"/>
          </a:xfrm>
          <a:prstGeom prst="rect">
            <a:avLst/>
          </a:prstGeom>
          <a:noFill/>
        </p:spPr>
        <p:txBody>
          <a:bodyPr wrap="square">
            <a:spAutoFit/>
          </a:bodyPr>
          <a:lstStyle/>
          <a:p>
            <a:r>
              <a:rPr lang="sv-SE" sz="1800" b="1" dirty="0">
                <a:latin typeface="Trebuchet MS" panose="020B0603020202020204" pitchFamily="34" charset="0"/>
                <a:cs typeface="Calibri"/>
              </a:rPr>
              <a:t>Potential Deferral</a:t>
            </a:r>
            <a:endParaRPr lang="en-US" dirty="0">
              <a:latin typeface="Trebuchet MS" panose="020B0603020202020204" pitchFamily="34" charset="0"/>
            </a:endParaRPr>
          </a:p>
        </p:txBody>
      </p:sp>
    </p:spTree>
    <p:extLst>
      <p:ext uri="{BB962C8B-B14F-4D97-AF65-F5344CB8AC3E}">
        <p14:creationId xmlns:p14="http://schemas.microsoft.com/office/powerpoint/2010/main" val="2897793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806423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 name="THINKCELLUNDODONOTDELETE" val="0"/>
  <p:tag name="THINKCELLPRESENTATIONDONOTDELETE" val="&lt;?xml version=&quot;1.0&quot; encoding=&quot;UTF-16&quot; standalone=&quot;yes&quot;?&gt;&lt;root reqver=&quot;28224&quot;&gt;&lt;version val=&quot;3570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4&quot;&gt;&lt;elem m_fUsage=&quot;1.07919463995351017083E+00&quot;&gt;&lt;m_msothmcolidx val=&quot;0&quot;/&gt;&lt;m_rgb r=&quot;FD&quot; g=&quot;B7&quot; b=&quot;64&quot;/&gt;&lt;/elem&gt;&lt;elem m_fUsage=&quot;1.00000000000000000000E+00&quot;&gt;&lt;m_msothmcolidx val=&quot;0&quot;/&gt;&lt;m_rgb r=&quot;C0&quot; g=&quot;00&quot; b=&quot;00&quot;/&gt;&lt;/elem&gt;&lt;elem m_fUsage=&quot;9.00000000000000022204E-01&quot;&gt;&lt;m_msothmcolidx val=&quot;0&quot;/&gt;&lt;m_rgb r=&quot;94&quot; g=&quot;AF&quot; b=&quot;DC&quot;/&gt;&lt;/elem&gt;&lt;elem m_fUsage=&quot;8.10000000000000053291E-01&quot;&gt;&lt;m_msothmcolidx val=&quot;0&quot;/&gt;&lt;m_rgb r=&quot;BF&quot; g=&quot;90&quot; b=&quot;01&quot;/&gt;&lt;/elem&gt;&lt;elem m_fUsage=&quot;7.39871591079833468285E-01&quot;&gt;&lt;m_msothmcolidx val=&quot;0&quot;/&gt;&lt;m_rgb r=&quot;D8&quot; g=&quot;9D&quot; b=&quot;57&quot;/&gt;&lt;/elem&gt;&lt;elem m_fUsage=&quot;7.29000000000000092371E-01&quot;&gt;&lt;m_msothmcolidx val=&quot;0&quot;/&gt;&lt;m_rgb r=&quot;D3&quot; g=&quot;9F&quot; b=&quot;01&quot;/&gt;&lt;/elem&gt;&lt;elem m_fUsage=&quot;6.69681584108301364289E-01&quot;&gt;&lt;m_msothmcolidx val=&quot;0&quot;/&gt;&lt;m_rgb r=&quot;D2&quot; g=&quot;32&quot; b=&quot;00&quot;/&gt;&lt;/elem&gt;&lt;elem m_fUsage=&quot;5.90490000000000181402E-01&quot;&gt;&lt;m_msothmcolidx val=&quot;0&quot;/&gt;&lt;m_rgb r=&quot;00&quot; g=&quot;98&quot; b=&quot;CF&quot;/&gt;&lt;/elem&gt;&lt;elem m_fUsage=&quot;5.31441000000000163261E-01&quot;&gt;&lt;m_msothmcolidx val=&quot;0&quot;/&gt;&lt;m_rgb r=&quot;06&quot; g=&quot;4A&quot; b=&quot;45&quot;/&gt;&lt;/elem&gt;&lt;elem m_fUsage=&quot;4.78296900000000135833E-01&quot;&gt;&lt;m_msothmcolidx val=&quot;0&quot;/&gt;&lt;m_rgb r=&quot;90&quot; g=&quot;BA&quot; b=&quot;BF&quot;/&gt;&lt;/elem&gt;&lt;elem m_fUsage=&quot;4.30467210000000155556E-01&quot;&gt;&lt;m_msothmcolidx val=&quot;0&quot;/&gt;&lt;m_rgb r=&quot;1B&quot; g=&quot;B9&quot; b=&quot;19&quot;/&gt;&lt;/elem&gt;&lt;elem m_fUsage=&quot;3.87420489000000145552E-01&quot;&gt;&lt;m_msothmcolidx val=&quot;0&quot;/&gt;&lt;m_rgb r=&quot;46&quot; g=&quot;33&quot; b=&quot;7E&quot;/&gt;&lt;/elem&gt;&lt;elem m_fUsage=&quot;3.53756199617388744638E-01&quot;&gt;&lt;m_msothmcolidx val=&quot;0&quot;/&gt;&lt;m_rgb r=&quot;7F&quot; g=&quot;7F&quot; b=&quot;7F&quot;/&gt;&lt;/elem&gt;&lt;elem m_fUsage=&quot;3.38662713260944048255E-01&quot;&gt;&lt;m_msothmcolidx val=&quot;0&quot;/&gt;&lt;m_rgb r=&quot;D9&quot; g=&quot;D9&quot; b=&quot;D9&quot;/&gt;&lt;/elem&gt;&lt;elem m_fUsage=&quot;3.16866452293664890849E-01&quot;&gt;&lt;m_msothmcolidx val=&quot;0&quot;/&gt;&lt;m_rgb r=&quot;00&quot; g=&quot;8B&quot; b=&quot;BF&quot;/&gt;&lt;/elem&gt;&lt;elem m_fUsage=&quot;1.70034834017914138204E-01&quot;&gt;&lt;m_msothmcolidx val=&quot;0&quot;/&gt;&lt;m_rgb r=&quot;5C&quot; g=&quot;D3&quot; b=&quot;25&quot;/&gt;&lt;/elem&gt;&lt;elem m_fUsage=&quot;1.24823643953355892244E-01&quot;&gt;&lt;m_msothmcolidx val=&quot;0&quot;/&gt;&lt;m_rgb r=&quot;00&quot; g=&quot;70&quot; b=&quot;C0&quot;/&gt;&lt;/elem&gt;&lt;elem m_fUsage=&quot;8.94924452476786869148E-02&quot;&gt;&lt;m_msothmcolidx val=&quot;0&quot;/&gt;&lt;m_rgb r=&quot;79&quot; g=&quot;AE&quot; b=&quot;A4&quot;/&gt;&lt;/elem&gt;&lt;elem m_fUsage=&quot;3.09031543826326429714E-02&quot;&gt;&lt;m_msothmcolidx val=&quot;0&quot;/&gt;&lt;m_rgb r=&quot;C1&quot; g=&quot;C1&quot; b=&quot;C1&quot;/&gt;&lt;/elem&gt;&lt;elem m_fUsage=&quot;2.78128389443693807559E-02&quot;&gt;&lt;m_msothmcolidx val=&quot;0&quot;/&gt;&lt;m_rgb r=&quot;E0&quot; g=&quot;E0&quot; b=&quot;E0&quot;/&gt;&lt;/elem&gt;&lt;elem m_fUsage=&quot;2.67234953347629672349E-02&quot;&gt;&lt;m_msothmcolidx val=&quot;0&quot;/&gt;&lt;m_rgb r=&quot;FF&quot; g=&quot;58&quot; b=&quot;58&quot;/&gt;&lt;/elem&gt;&lt;elem m_fUsage=&quot;2.50315550499324440681E-02&quot;&gt;&lt;m_msothmcolidx val=&quot;0&quot;/&gt;&lt;m_rgb r=&quot;91&quot; g=&quot;BB&quot; b=&quot;EA&quot;/&gt;&lt;/elem&gt;&lt;elem m_fUsage=&quot;2.25283995449391989674E-02&quot;&gt;&lt;m_msothmcolidx val=&quot;0&quot;/&gt;&lt;m_rgb r=&quot;86&quot; g=&quot;F7&quot; b=&quot;58&quot;/&gt;&lt;/elem&gt;&lt;elem m_fUsage=&quot;2.02755595904452780298E-02&quot;&gt;&lt;m_msothmcolidx val=&quot;0&quot;/&gt;&lt;m_rgb r=&quot;FF&quot; g=&quot;91&quot; b=&quot;8F&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u2DJDofHRdy5NFx4QVl4fg"/>
</p:tagLst>
</file>

<file path=ppt/theme/theme1.xml><?xml version="1.0" encoding="utf-8"?>
<a:theme xmlns:a="http://schemas.openxmlformats.org/drawingml/2006/main" name="7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dlc_DocId xmlns="cb10a935-3301-4b2a-99cc-0b1a7fa55bf5">U3DCDA66VTYV-1495932550-1391</_dlc_DocId>
    <_dlc_DocIdUrl xmlns="cb10a935-3301-4b2a-99cc-0b1a7fa55bf5">
      <Url>https://intranet.medcoenergi.com/Sites/Relation/_layouts/15/DocIdRedir.aspx?ID=U3DCDA66VTYV-1495932550-1391</Url>
      <Description>U3DCDA66VTYV-1495932550-1391</Description>
    </_dlc_DocIdUrl>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CB5F8E1C31625C43A3D392D1D1226E7A" ma:contentTypeVersion="1" ma:contentTypeDescription="Create a new document." ma:contentTypeScope="" ma:versionID="633555392896866d1004c24ccd6a5406">
  <xsd:schema xmlns:xsd="http://www.w3.org/2001/XMLSchema" xmlns:xs="http://www.w3.org/2001/XMLSchema" xmlns:p="http://schemas.microsoft.com/office/2006/metadata/properties" xmlns:ns2="cb10a935-3301-4b2a-99cc-0b1a7fa55bf5" targetNamespace="http://schemas.microsoft.com/office/2006/metadata/properties" ma:root="true" ma:fieldsID="f3c12ab9c490247c7650d588b4639935" ns2:_="">
    <xsd:import namespace="cb10a935-3301-4b2a-99cc-0b1a7fa55bf5"/>
    <xsd:element name="properties">
      <xsd:complexType>
        <xsd:sequence>
          <xsd:element name="documentManagement">
            <xsd:complexType>
              <xsd:all>
                <xsd:element ref="ns2:_dlc_DocId" minOccurs="0"/>
                <xsd:element ref="ns2:_dlc_DocIdUrl" minOccurs="0"/>
                <xsd:element ref="ns2:_dlc_DocIdPersistId" minOccurs="0"/>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10a935-3301-4b2a-99cc-0b1a7fa55bf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FB1E34-A7B2-4E50-BD7E-E132414E0F5E}">
  <ds:schemaRefs>
    <ds:schemaRef ds:uri="http://schemas.microsoft.com/sharepoint/events"/>
  </ds:schemaRefs>
</ds:datastoreItem>
</file>

<file path=customXml/itemProps2.xml><?xml version="1.0" encoding="utf-8"?>
<ds:datastoreItem xmlns:ds="http://schemas.openxmlformats.org/officeDocument/2006/customXml" ds:itemID="{057FCD94-C7E4-4224-9D86-FB858C50C451}">
  <ds:schemaRefs>
    <ds:schemaRef ds:uri="http://schemas.microsoft.com/sharepoint/v3/contenttype/forms"/>
  </ds:schemaRefs>
</ds:datastoreItem>
</file>

<file path=customXml/itemProps3.xml><?xml version="1.0" encoding="utf-8"?>
<ds:datastoreItem xmlns:ds="http://schemas.openxmlformats.org/officeDocument/2006/customXml" ds:itemID="{35C4753E-20BE-4CD8-82BE-DC6F7DB204DD}">
  <ds:schemaRefs>
    <ds:schemaRef ds:uri="http://purl.org/dc/terms/"/>
    <ds:schemaRef ds:uri="http://schemas.microsoft.com/office/2006/documentManagement/types"/>
    <ds:schemaRef ds:uri="http://purl.org/dc/elements/1.1/"/>
    <ds:schemaRef ds:uri="e9ea3592-df2b-4a86-8084-5086d87c00b5"/>
    <ds:schemaRef ds:uri="4b1e0850-c322-4716-b7c9-93957c2fa821"/>
    <ds:schemaRef ds:uri="http://schemas.microsoft.com/office/infopath/2007/PartnerControls"/>
    <ds:schemaRef ds:uri="http://schemas.openxmlformats.org/package/2006/metadata/core-properties"/>
    <ds:schemaRef ds:uri="http://www.w3.org/XML/1998/namespace"/>
    <ds:schemaRef ds:uri="http://schemas.microsoft.com/office/2006/metadata/properties"/>
    <ds:schemaRef ds:uri="http://purl.org/dc/dcmitype/"/>
    <ds:schemaRef ds:uri="cb10a935-3301-4b2a-99cc-0b1a7fa55bf5"/>
  </ds:schemaRefs>
</ds:datastoreItem>
</file>

<file path=customXml/itemProps4.xml><?xml version="1.0" encoding="utf-8"?>
<ds:datastoreItem xmlns:ds="http://schemas.openxmlformats.org/officeDocument/2006/customXml" ds:itemID="{4712CFC2-3DDF-4D08-B144-FB13D91926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b10a935-3301-4b2a-99cc-0b1a7fa55b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2fb5f0b8-f795-441b-bd2b-c27248706cb4}" enabled="0" method="" siteId="{2fb5f0b8-f795-441b-bd2b-c27248706cb4}" removed="1"/>
</clbl:labelList>
</file>

<file path=docProps/app.xml><?xml version="1.0" encoding="utf-8"?>
<Properties xmlns="http://schemas.openxmlformats.org/officeDocument/2006/extended-properties" xmlns:vt="http://schemas.openxmlformats.org/officeDocument/2006/docPropsVTypes">
  <TotalTime>190795</TotalTime>
  <Words>1595</Words>
  <Application>Microsoft Office PowerPoint</Application>
  <PresentationFormat>Widescreen</PresentationFormat>
  <Paragraphs>592</Paragraphs>
  <Slides>17</Slides>
  <Notes>12</Notes>
  <HiddenSlides>0</HiddenSlides>
  <MMClips>0</MMClips>
  <ScaleCrop>false</ScaleCrop>
  <HeadingPairs>
    <vt:vector size="8" baseType="variant">
      <vt:variant>
        <vt:lpstr>Fonts Used</vt:lpstr>
      </vt:variant>
      <vt:variant>
        <vt:i4>9</vt:i4>
      </vt:variant>
      <vt:variant>
        <vt:lpstr>Theme</vt:lpstr>
      </vt:variant>
      <vt:variant>
        <vt:i4>5</vt:i4>
      </vt:variant>
      <vt:variant>
        <vt:lpstr>Embedded OLE Servers</vt:lpstr>
      </vt:variant>
      <vt:variant>
        <vt:i4>1</vt:i4>
      </vt:variant>
      <vt:variant>
        <vt:lpstr>Slide Titles</vt:lpstr>
      </vt:variant>
      <vt:variant>
        <vt:i4>17</vt:i4>
      </vt:variant>
    </vt:vector>
  </HeadingPairs>
  <TitlesOfParts>
    <vt:vector size="32" baseType="lpstr">
      <vt:lpstr>Aptos</vt:lpstr>
      <vt:lpstr>Aptos Narrow</vt:lpstr>
      <vt:lpstr>Arial</vt:lpstr>
      <vt:lpstr>Calibri</vt:lpstr>
      <vt:lpstr>Trebuchet MS</vt:lpstr>
      <vt:lpstr>Univers 57 Condensed</vt:lpstr>
      <vt:lpstr>Univers 67 Condensed</vt:lpstr>
      <vt:lpstr>Univers LT Std 57 Cn</vt:lpstr>
      <vt:lpstr>Wingdings</vt:lpstr>
      <vt:lpstr>7_Office Theme</vt:lpstr>
      <vt:lpstr>5_Office Theme</vt:lpstr>
      <vt:lpstr>12_Office Theme</vt:lpstr>
      <vt:lpstr>11_Office Theme</vt:lpstr>
      <vt:lpstr>15_Office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R. Satyaji Yunanto</cp:lastModifiedBy>
  <cp:revision>5017</cp:revision>
  <cp:lastPrinted>2025-03-19T12:59:11Z</cp:lastPrinted>
  <dcterms:created xsi:type="dcterms:W3CDTF">2021-01-05T03:52:21Z</dcterms:created>
  <dcterms:modified xsi:type="dcterms:W3CDTF">2026-07-01T04:40:47Z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0x010100CB5F8E1C31625C43A3D392D1D1226E7A</vt:lpwstr>
  </property>
  <property fmtid="{D5CDD505-2E9C-101B-9397-08002B2CF9AE}" pid="3" name="_dlc_DocIdItemGuid">
    <vt:lpwstr>84a8d787-313c-4ab0-953c-3d87b7ead1f5</vt:lpwstr>
  </property>
  <property fmtid="{D5CDD505-2E9C-101B-9397-08002B2CF9AE}" pid="4" name="MediaServiceImageTags">
    <vt:lpwstr/>
  </property>
</Properties>
</file>