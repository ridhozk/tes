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2.xml" ContentType="application/vnd.openxmlformats-officedocument.presentationml.tags+xml"/>
  <Override PartName="/ppt/slideLayouts/slideLayout2.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slideLayouts/slideLayout3.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4.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7.xml" ContentType="application/vnd.openxmlformats-officedocument.presentationml.slideLayout+xml"/>
  <Override PartName="/ppt/theme/theme5.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5"/>
    <p:sldMasterId id="2147483690" r:id="rId6"/>
    <p:sldMasterId id="2147483704" r:id="rId7"/>
    <p:sldMasterId id="2147483716" r:id="rId8"/>
    <p:sldMasterId id="2147483725" r:id="rId9"/>
  </p:sldMasterIdLst>
  <p:notesMasterIdLst>
    <p:notesMasterId r:id="rId19"/>
  </p:notesMasterIdLst>
  <p:handoutMasterIdLst>
    <p:handoutMasterId r:id="rId20"/>
  </p:handoutMasterIdLst>
  <p:sldIdLst>
    <p:sldId id="2146849060" r:id="rId10"/>
    <p:sldId id="2146849162" r:id="rId11"/>
    <p:sldId id="2146849232" r:id="rId12"/>
    <p:sldId id="2146849229" r:id="rId13"/>
    <p:sldId id="2146849234" r:id="rId14"/>
    <p:sldId id="2146849235" r:id="rId15"/>
    <p:sldId id="2146849237" r:id="rId16"/>
    <p:sldId id="2146849236" r:id="rId17"/>
    <p:sldId id="2146849173" r:id="rId18"/>
  </p:sldIdLst>
  <p:sldSz cx="12192000" cy="6858000"/>
  <p:notesSz cx="6797675" cy="9928225"/>
  <p:custDataLst>
    <p:tags r:id="rId2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E3C6726-52D3-4D5F-9322-9F0F34EF0586}">
          <p14:sldIdLst>
            <p14:sldId id="2146849060"/>
            <p14:sldId id="2146849162"/>
            <p14:sldId id="2146849232"/>
            <p14:sldId id="2146849229"/>
            <p14:sldId id="2146849234"/>
            <p14:sldId id="2146849235"/>
            <p14:sldId id="2146849237"/>
            <p14:sldId id="2146849236"/>
            <p14:sldId id="2146849173"/>
          </p14:sldIdLst>
        </p14:section>
        <p14:section name="BACKUP" id="{651E1B9B-A9EB-40DC-8307-9132964E227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72D5B43-BCDD-A34F-4D30-1C1DE5535581}" name="M. Aulia Rahman Nur Hakim" initials="AH" userId="S::Aulia.Hakim@medcoenergi.com::3bd8c12b-6b6f-4049-98c6-92a335cdf390" providerId="AD"/>
  <p188:author id="{69E46BD6-65E5-73F0-1916-0D888A0EE824}" name="Anthony Robert Mathias" initials="AR" userId="S::Tony.mathias@medcoenergi.com::30f4f504-1a9a-46f8-98ae-509bcaa239b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gustina Parwitosari" initials="AP" lastIdx="11" clrIdx="1">
    <p:extLst>
      <p:ext uri="{19B8F6BF-5375-455C-9EA6-DF929625EA0E}">
        <p15:presenceInfo xmlns:p15="http://schemas.microsoft.com/office/powerpoint/2012/main" userId="S-1-5-21-909237869-2597997010-3946677010-18565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6"/>
    <a:srgbClr val="994987"/>
    <a:srgbClr val="F5F9FD"/>
    <a:srgbClr val="FFBDBD"/>
    <a:srgbClr val="F2F2F2"/>
    <a:srgbClr val="C00000"/>
    <a:srgbClr val="BDD7EE"/>
    <a:srgbClr val="0070C0"/>
    <a:srgbClr val="E2E9F6"/>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443345-85BD-42AF-8C4C-7210BDE8FF47}" v="29" dt="2026-07-23T01:21:34.6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59" autoAdjust="0"/>
    <p:restoredTop sz="91373" autoAdjust="0"/>
  </p:normalViewPr>
  <p:slideViewPr>
    <p:cSldViewPr snapToGrid="0">
      <p:cViewPr varScale="1">
        <p:scale>
          <a:sx n="99" d="100"/>
          <a:sy n="99" d="100"/>
        </p:scale>
        <p:origin x="1046" y="72"/>
      </p:cViewPr>
      <p:guideLst/>
    </p:cSldViewPr>
  </p:slideViewPr>
  <p:notesTextViewPr>
    <p:cViewPr>
      <p:scale>
        <a:sx n="1" d="1"/>
        <a:sy n="1" d="1"/>
      </p:scale>
      <p:origin x="0" y="0"/>
    </p:cViewPr>
  </p:notesTextViewPr>
  <p:sorterViewPr>
    <p:cViewPr>
      <p:scale>
        <a:sx n="200" d="100"/>
        <a:sy n="200" d="100"/>
      </p:scale>
      <p:origin x="0" y="-408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4.xml"/><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tags" Target="tags/tag1.xml"/><Relationship Id="rId7" Type="http://schemas.openxmlformats.org/officeDocument/2006/relationships/slideMaster" Target="slideMasters/slideMaster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2.xml"/><Relationship Id="rId24" Type="http://schemas.openxmlformats.org/officeDocument/2006/relationships/viewProps" Target="viewProps.xml"/><Relationship Id="rId5" Type="http://schemas.openxmlformats.org/officeDocument/2006/relationships/slideMaster" Target="slideMasters/slideMaster1.xml"/><Relationship Id="rId15" Type="http://schemas.openxmlformats.org/officeDocument/2006/relationships/slide" Target="slides/slide6.xml"/><Relationship Id="rId23" Type="http://schemas.openxmlformats.org/officeDocument/2006/relationships/presProps" Target="presProps.xml"/><Relationship Id="rId28" Type="http://schemas.microsoft.com/office/2018/10/relationships/authors" Target="authors.xml"/><Relationship Id="rId10" Type="http://schemas.openxmlformats.org/officeDocument/2006/relationships/slide" Target="slides/slide1.xml"/><Relationship Id="rId19"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slideMaster" Target="slideMasters/slideMaster5.xml"/><Relationship Id="rId14" Type="http://schemas.openxmlformats.org/officeDocument/2006/relationships/slide" Target="slides/slide5.xml"/><Relationship Id="rId22" Type="http://schemas.openxmlformats.org/officeDocument/2006/relationships/commentAuthors" Target="commentAuthors.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4"/>
            <a:ext cx="2946400" cy="4984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49688" y="4"/>
            <a:ext cx="2946400" cy="498475"/>
          </a:xfrm>
          <a:prstGeom prst="rect">
            <a:avLst/>
          </a:prstGeom>
        </p:spPr>
        <p:txBody>
          <a:bodyPr vert="horz" lIns="91440" tIns="45720" rIns="91440" bIns="45720" rtlCol="0"/>
          <a:lstStyle>
            <a:lvl1pPr algn="r">
              <a:defRPr sz="1200"/>
            </a:lvl1pPr>
          </a:lstStyle>
          <a:p>
            <a:fld id="{8A645BEC-B2DC-42F7-B9AA-57CAD630001D}" type="datetime1">
              <a:rPr lang="en-US" smtClean="0"/>
              <a:t>7/23/2026</a:t>
            </a:fld>
            <a:endParaRPr lang="en-US"/>
          </a:p>
        </p:txBody>
      </p:sp>
      <p:sp>
        <p:nvSpPr>
          <p:cNvPr id="4" name="Footer Placeholder 3"/>
          <p:cNvSpPr>
            <a:spLocks noGrp="1"/>
          </p:cNvSpPr>
          <p:nvPr>
            <p:ph type="ftr" sz="quarter" idx="2"/>
          </p:nvPr>
        </p:nvSpPr>
        <p:spPr>
          <a:xfrm>
            <a:off x="0" y="9429752"/>
            <a:ext cx="2946400" cy="4984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49688" y="9429752"/>
            <a:ext cx="2946400" cy="498475"/>
          </a:xfrm>
          <a:prstGeom prst="rect">
            <a:avLst/>
          </a:prstGeom>
        </p:spPr>
        <p:txBody>
          <a:bodyPr vert="horz" lIns="91440" tIns="45720" rIns="91440" bIns="45720" rtlCol="0" anchor="b"/>
          <a:lstStyle>
            <a:lvl1pPr algn="r">
              <a:defRPr sz="1200"/>
            </a:lvl1pPr>
          </a:lstStyle>
          <a:p>
            <a:fld id="{609B3E7A-DB90-455C-86C6-DE342758DFD3}" type="slidenum">
              <a:rPr lang="en-US" smtClean="0"/>
              <a:t>‹#›</a:t>
            </a:fld>
            <a:endParaRPr lang="en-US"/>
          </a:p>
        </p:txBody>
      </p:sp>
    </p:spTree>
    <p:extLst>
      <p:ext uri="{BB962C8B-B14F-4D97-AF65-F5344CB8AC3E}">
        <p14:creationId xmlns:p14="http://schemas.microsoft.com/office/powerpoint/2010/main" val="573487978"/>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2945659" cy="498135"/>
          </a:xfrm>
          <a:prstGeom prst="rect">
            <a:avLst/>
          </a:prstGeom>
        </p:spPr>
        <p:txBody>
          <a:bodyPr vert="horz" lIns="88203" tIns="44102" rIns="88203" bIns="44102" rtlCol="0"/>
          <a:lstStyle>
            <a:lvl1pPr algn="l">
              <a:defRPr sz="1200"/>
            </a:lvl1pPr>
          </a:lstStyle>
          <a:p>
            <a:endParaRPr lang="en-US"/>
          </a:p>
        </p:txBody>
      </p:sp>
      <p:sp>
        <p:nvSpPr>
          <p:cNvPr id="3" name="Date Placeholder 2"/>
          <p:cNvSpPr>
            <a:spLocks noGrp="1"/>
          </p:cNvSpPr>
          <p:nvPr>
            <p:ph type="dt" idx="1"/>
          </p:nvPr>
        </p:nvSpPr>
        <p:spPr>
          <a:xfrm>
            <a:off x="3850446" y="0"/>
            <a:ext cx="2945659" cy="498135"/>
          </a:xfrm>
          <a:prstGeom prst="rect">
            <a:avLst/>
          </a:prstGeom>
        </p:spPr>
        <p:txBody>
          <a:bodyPr vert="horz" lIns="88203" tIns="44102" rIns="88203" bIns="44102" rtlCol="0"/>
          <a:lstStyle>
            <a:lvl1pPr algn="r">
              <a:defRPr sz="1200"/>
            </a:lvl1pPr>
          </a:lstStyle>
          <a:p>
            <a:fld id="{CF486AEB-E1DB-4716-B841-7FF581A82117}" type="datetime1">
              <a:rPr lang="en-US" smtClean="0"/>
              <a:t>7/23/2026</a:t>
            </a:fld>
            <a:endParaRPr lang="en-US"/>
          </a:p>
        </p:txBody>
      </p:sp>
      <p:sp>
        <p:nvSpPr>
          <p:cNvPr id="4" name="Slide Image Placeholder 3"/>
          <p:cNvSpPr>
            <a:spLocks noGrp="1" noRot="1" noChangeAspect="1"/>
          </p:cNvSpPr>
          <p:nvPr>
            <p:ph type="sldImg" idx="2"/>
          </p:nvPr>
        </p:nvSpPr>
        <p:spPr>
          <a:xfrm>
            <a:off x="419100" y="1239838"/>
            <a:ext cx="5959475" cy="3352800"/>
          </a:xfrm>
          <a:prstGeom prst="rect">
            <a:avLst/>
          </a:prstGeom>
          <a:noFill/>
          <a:ln w="12700">
            <a:solidFill>
              <a:prstClr val="black"/>
            </a:solidFill>
          </a:ln>
        </p:spPr>
        <p:txBody>
          <a:bodyPr vert="horz" lIns="88203" tIns="44102" rIns="88203" bIns="44102" rtlCol="0" anchor="ctr"/>
          <a:lstStyle/>
          <a:p>
            <a:endParaRPr lang="en-US"/>
          </a:p>
        </p:txBody>
      </p:sp>
      <p:sp>
        <p:nvSpPr>
          <p:cNvPr id="5" name="Notes Placeholder 4"/>
          <p:cNvSpPr>
            <a:spLocks noGrp="1"/>
          </p:cNvSpPr>
          <p:nvPr>
            <p:ph type="body" sz="quarter" idx="3"/>
          </p:nvPr>
        </p:nvSpPr>
        <p:spPr>
          <a:xfrm>
            <a:off x="679768" y="4777963"/>
            <a:ext cx="5438140" cy="3909239"/>
          </a:xfrm>
          <a:prstGeom prst="rect">
            <a:avLst/>
          </a:prstGeom>
        </p:spPr>
        <p:txBody>
          <a:bodyPr vert="horz" lIns="88203" tIns="44102" rIns="88203" bIns="44102"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2" y="9430093"/>
            <a:ext cx="2945659" cy="498134"/>
          </a:xfrm>
          <a:prstGeom prst="rect">
            <a:avLst/>
          </a:prstGeom>
        </p:spPr>
        <p:txBody>
          <a:bodyPr vert="horz" lIns="88203" tIns="44102" rIns="88203" bIns="44102" rtlCol="0" anchor="b"/>
          <a:lstStyle>
            <a:lvl1pPr algn="l">
              <a:defRPr sz="1200"/>
            </a:lvl1pPr>
          </a:lstStyle>
          <a:p>
            <a:endParaRPr lang="en-US"/>
          </a:p>
        </p:txBody>
      </p:sp>
      <p:sp>
        <p:nvSpPr>
          <p:cNvPr id="7" name="Slide Number Placeholder 6"/>
          <p:cNvSpPr>
            <a:spLocks noGrp="1"/>
          </p:cNvSpPr>
          <p:nvPr>
            <p:ph type="sldNum" sz="quarter" idx="5"/>
          </p:nvPr>
        </p:nvSpPr>
        <p:spPr>
          <a:xfrm>
            <a:off x="3850446" y="9430093"/>
            <a:ext cx="2945659" cy="498134"/>
          </a:xfrm>
          <a:prstGeom prst="rect">
            <a:avLst/>
          </a:prstGeom>
        </p:spPr>
        <p:txBody>
          <a:bodyPr vert="horz" lIns="88203" tIns="44102" rIns="88203" bIns="44102" rtlCol="0" anchor="b"/>
          <a:lstStyle>
            <a:lvl1pPr algn="r">
              <a:defRPr sz="1200"/>
            </a:lvl1pPr>
          </a:lstStyle>
          <a:p>
            <a:fld id="{5294394D-4A84-4EBD-A2A1-5FC4F4432B16}" type="slidenum">
              <a:rPr lang="en-US" smtClean="0"/>
              <a:t>‹#›</a:t>
            </a:fld>
            <a:endParaRPr lang="en-US"/>
          </a:p>
        </p:txBody>
      </p:sp>
    </p:spTree>
    <p:extLst>
      <p:ext uri="{BB962C8B-B14F-4D97-AF65-F5344CB8AC3E}">
        <p14:creationId xmlns:p14="http://schemas.microsoft.com/office/powerpoint/2010/main" val="3414151739"/>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94394D-4A84-4EBD-A2A1-5FC4F4432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p:cNvSpPr>
            <a:spLocks noGrp="1"/>
          </p:cNvSpPr>
          <p:nvPr>
            <p:ph type="dt"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355E3B-070E-4ABD-B020-030E706E5398}" type="datetime1">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7/23/2026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9361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CB6F7-5DD7-E532-4AAA-8C0A7C22F1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7A07AE-0CAB-9955-35C2-D2C95A93C2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266765-F926-F170-2E65-5171807A4492}"/>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764CD1AF-376F-923B-C663-35F72D7FE411}"/>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486AEB-E1DB-4716-B841-7FF581A82117}" type="datetime1">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7/23/2026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0AEC753D-5B77-D038-237E-9FCBCC70333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94394D-4A84-4EBD-A2A1-5FC4F4432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981396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C183D-ACE0-60D9-AA35-35CA4464B7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070512-4295-64C7-BC20-D90D539008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C245BE-D7D0-22DC-3F00-6AC1B5F375C0}"/>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8516859D-C722-80D5-DC71-E89CBFC5090B}"/>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486AEB-E1DB-4716-B841-7FF581A82117}" type="datetime1">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7/23/2026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E29497E8-A557-18C9-63D3-F8323CABB77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94394D-4A84-4EBD-A2A1-5FC4F4432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76888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A8B4C-2C20-19E6-1F3B-4C75D856F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72A386-1505-D159-7B21-175285EA8A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92AD9D-BC52-955E-579E-290618059368}"/>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FA4EB714-6BF3-43C5-5A9F-E3FFA17452D5}"/>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486AEB-E1DB-4716-B841-7FF581A82117}" type="datetime1">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7/23/2026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AA2B3766-3676-C74B-C11E-ADEEEEC36F3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94394D-4A84-4EBD-A2A1-5FC4F4432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578657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088EB-CDA8-919D-8179-ABFAAD1140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D99E8E-2533-AAAB-9547-254804723D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88DC0B-0733-159A-F87C-3F33CFB9CD10}"/>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4217C0BE-6422-4CCF-5279-83109EFD2E39}"/>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486AEB-E1DB-4716-B841-7FF581A82117}" type="datetime1">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7/23/2026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47FD0312-6A90-B2A5-DB40-65FC9ED80E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94394D-4A84-4EBD-A2A1-5FC4F4432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40652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1EA27-2545-F61D-EDC6-AED7FB28C0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B4E541-7D76-936D-1C3B-121691F6CA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5C94A0-4C8E-9360-F1D0-26018F36F523}"/>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D150578C-5534-3216-CB44-CDF97FDE7754}"/>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486AEB-E1DB-4716-B841-7FF581A82117}" type="datetime1">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7/23/2026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2AB769F1-BE16-F767-B51A-0BFE8AB08FA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94394D-4A84-4EBD-A2A1-5FC4F4432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16757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1937A-68AE-D036-A5F8-97A3C8225D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AB6077-80FA-C01D-88EB-E3C4CEECDC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7ABA09-04DE-B8EB-16D8-35301293F050}"/>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B7D7E177-E891-BB2A-47EB-629038BA2AF1}"/>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486AEB-E1DB-4716-B841-7FF581A82117}" type="datetime1">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7/23/2026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F4B7805B-D244-CFC1-727B-A7512726F13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94394D-4A84-4EBD-A2A1-5FC4F4432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323766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A1311-2514-ADB4-C49E-832173127D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F9C1C2-495F-C166-655C-5A2CCBA127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789A94-D0A2-4C47-B4A7-410B6E109B5C}"/>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D58B3A13-475E-2B1D-9117-A1ADDF3AD3B3}"/>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486AEB-E1DB-4716-B841-7FF581A82117}" type="datetime1">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7/23/2026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72272C21-D5DC-5E5F-659D-5DD8F0E2B38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94394D-4A84-4EBD-A2A1-5FC4F4432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024146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D9165-29CB-2611-E425-4BCBB4DC90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D63E82-C13F-9723-33D4-AA1F91DBA6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BB939D-59A9-3DA7-2957-B1BA0B160F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7638E94-A47F-45F1-B305-637D6A9AA5B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94394D-4A84-4EBD-A2A1-5FC4F4432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57E17708-1715-8F92-8A88-7C5B2905F92A}"/>
              </a:ext>
            </a:extLst>
          </p:cNvPr>
          <p:cNvSpPr>
            <a:spLocks noGrp="1"/>
          </p:cNvSpPr>
          <p:nvPr>
            <p:ph type="dt"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2D1B63C-6035-4E0B-9022-75042F80A4DF}" type="datetime1">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7/23/2026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12409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6.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8.emf"/><Relationship Id="rId4" Type="http://schemas.openxmlformats.org/officeDocument/2006/relationships/oleObject" Target="../embeddings/oleObject4.bin"/></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8.emf"/><Relationship Id="rId5" Type="http://schemas.openxmlformats.org/officeDocument/2006/relationships/oleObject" Target="../embeddings/oleObject5.bin"/><Relationship Id="rId4"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2446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83756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196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Do not remove" hidden="1"/>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082396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Object 2" hidden="1"/>
          <p:cNvGraphicFramePr>
            <a:graphicFrameLocks noChangeAspect="1"/>
          </p:cNvGraphicFramePr>
          <p:nvPr userDrawn="1">
            <p:custDataLst>
              <p:tags r:id="rId2"/>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11" name="Title 1"/>
          <p:cNvSpPr>
            <a:spLocks noGrp="1"/>
          </p:cNvSpPr>
          <p:nvPr>
            <p:ph type="title"/>
          </p:nvPr>
        </p:nvSpPr>
        <p:spPr>
          <a:xfrm>
            <a:off x="375139" y="152400"/>
            <a:ext cx="9321801" cy="533400"/>
          </a:xfrm>
          <a:prstGeom prst="rect">
            <a:avLst/>
          </a:prstGeom>
        </p:spPr>
        <p:txBody>
          <a:bodyPr vert="horz"/>
          <a:lstStyle>
            <a:lvl1pPr algn="l">
              <a:defRPr sz="2800" b="1" i="0">
                <a:solidFill>
                  <a:srgbClr val="004C8F"/>
                </a:solidFill>
                <a:latin typeface="Calibri"/>
                <a:cs typeface="Calibri"/>
              </a:defRPr>
            </a:lvl1pPr>
          </a:lstStyle>
          <a:p>
            <a:r>
              <a:rPr lang="en-US"/>
              <a:t>Click to edit Master title style</a:t>
            </a:r>
          </a:p>
        </p:txBody>
      </p:sp>
    </p:spTree>
    <p:extLst>
      <p:ext uri="{BB962C8B-B14F-4D97-AF65-F5344CB8AC3E}">
        <p14:creationId xmlns:p14="http://schemas.microsoft.com/office/powerpoint/2010/main" val="2725917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Do not remove" hidden="1"/>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Object 1" hidden="1"/>
          <p:cNvGraphicFramePr>
            <a:graphicFrameLocks noChangeAspect="1"/>
          </p:cNvGraphicFramePr>
          <p:nvPr userDrawn="1">
            <p:custDataLst>
              <p:tags r:id="rId2"/>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 name="Object 1" hidden="1"/>
                      <p:cNvPicPr/>
                      <p:nvPr/>
                    </p:nvPicPr>
                    <p:blipFill>
                      <a:blip r:embed="rId6"/>
                      <a:stretch>
                        <a:fillRect/>
                      </a:stretch>
                    </p:blipFill>
                    <p:spPr>
                      <a:xfrm>
                        <a:off x="1955" y="1589"/>
                        <a:ext cx="1953" cy="1587"/>
                      </a:xfrm>
                      <a:prstGeom prst="rect">
                        <a:avLst/>
                      </a:prstGeom>
                    </p:spPr>
                  </p:pic>
                </p:oleObj>
              </mc:Fallback>
            </mc:AlternateContent>
          </a:graphicData>
        </a:graphic>
      </p:graphicFrame>
      <p:sp>
        <p:nvSpPr>
          <p:cNvPr id="5" name="Rectangle 4" hidden="1"/>
          <p:cNvSpPr/>
          <p:nvPr userDrawn="1">
            <p:custDataLst>
              <p:tags r:id="rId3"/>
            </p:custDataLst>
          </p:nvPr>
        </p:nvSpPr>
        <p:spPr>
          <a:xfrm>
            <a:off x="0" y="0"/>
            <a:ext cx="195385"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1800" b="1" i="0" baseline="0">
              <a:latin typeface="Calibri" panose="020F0502020204030204" pitchFamily="34" charset="0"/>
              <a:ea typeface="+mj-ea"/>
              <a:cs typeface="+mj-cs"/>
              <a:sym typeface="Calibri" panose="020F0502020204030204" pitchFamily="34" charset="0"/>
            </a:endParaRPr>
          </a:p>
        </p:txBody>
      </p:sp>
      <p:sp>
        <p:nvSpPr>
          <p:cNvPr id="3" name="Title 1"/>
          <p:cNvSpPr>
            <a:spLocks noGrp="1"/>
          </p:cNvSpPr>
          <p:nvPr>
            <p:ph type="title"/>
          </p:nvPr>
        </p:nvSpPr>
        <p:spPr>
          <a:xfrm>
            <a:off x="234461" y="137160"/>
            <a:ext cx="9425354" cy="411162"/>
          </a:xfrm>
          <a:prstGeom prst="rect">
            <a:avLst/>
          </a:prstGeom>
        </p:spPr>
        <p:txBody>
          <a:bodyPr vert="horz" tIns="91440" bIns="91440" anchor="ctr"/>
          <a:lstStyle>
            <a:lvl1pPr algn="l">
              <a:defRPr sz="1800" b="1">
                <a:latin typeface="+mn-lt"/>
              </a:defRPr>
            </a:lvl1pPr>
          </a:lstStyle>
          <a:p>
            <a:r>
              <a:rPr lang="en-US"/>
              <a:t>Click to edit Master title style</a:t>
            </a:r>
          </a:p>
        </p:txBody>
      </p:sp>
      <p:cxnSp>
        <p:nvCxnSpPr>
          <p:cNvPr id="8" name="Straight Connector 7">
            <a:extLst>
              <a:ext uri="{FF2B5EF4-FFF2-40B4-BE49-F238E27FC236}">
                <a16:creationId xmlns:a16="http://schemas.microsoft.com/office/drawing/2014/main" id="{1039E83F-7A0D-A64C-BDC2-2D54756BBACB}"/>
              </a:ext>
            </a:extLst>
          </p:cNvPr>
          <p:cNvCxnSpPr>
            <a:cxnSpLocks/>
          </p:cNvCxnSpPr>
          <p:nvPr userDrawn="1"/>
        </p:nvCxnSpPr>
        <p:spPr>
          <a:xfrm>
            <a:off x="1402873" y="651062"/>
            <a:ext cx="10524895" cy="0"/>
          </a:xfrm>
          <a:prstGeom prst="line">
            <a:avLst/>
          </a:prstGeom>
          <a:noFill/>
          <a:ln w="6350" cap="flat" cmpd="sng" algn="ctr">
            <a:solidFill>
              <a:sysClr val="windowText" lastClr="000000">
                <a:lumMod val="50000"/>
                <a:lumOff val="50000"/>
              </a:sysClr>
            </a:solidFill>
            <a:prstDash val="solid"/>
          </a:ln>
          <a:effectLst/>
        </p:spPr>
      </p:cxnSp>
    </p:spTree>
    <p:extLst>
      <p:ext uri="{BB962C8B-B14F-4D97-AF65-F5344CB8AC3E}">
        <p14:creationId xmlns:p14="http://schemas.microsoft.com/office/powerpoint/2010/main" val="2844743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Do not remove" hidden="1"/>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38307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3.xml"/><Relationship Id="rId7" Type="http://schemas.openxmlformats.org/officeDocument/2006/relationships/image" Target="../media/image5.png"/><Relationship Id="rId2"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image" Target="../media/image4.emf"/><Relationship Id="rId5" Type="http://schemas.openxmlformats.org/officeDocument/2006/relationships/oleObject" Target="../embeddings/oleObject2.bin"/><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heme" Target="../theme/theme3.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4.emf"/><Relationship Id="rId4" Type="http://schemas.openxmlformats.org/officeDocument/2006/relationships/oleObject" Target="../embeddings/oleObject2.bin"/></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slideLayout" Target="../slideLayouts/slideLayout6.xml"/><Relationship Id="rId7" Type="http://schemas.openxmlformats.org/officeDocument/2006/relationships/oleObject" Target="../embeddings/oleObject3.bin"/><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tags" Target="../tags/tag7.xml"/><Relationship Id="rId4" Type="http://schemas.openxmlformats.org/officeDocument/2006/relationships/theme" Target="../theme/theme4.xml"/><Relationship Id="rId9"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image" Target="../media/image10.png"/><Relationship Id="rId2" Type="http://schemas.openxmlformats.org/officeDocument/2006/relationships/theme" Target="../theme/theme5.xml"/><Relationship Id="rId1" Type="http://schemas.openxmlformats.org/officeDocument/2006/relationships/slideLayout" Target="../slideLayouts/slideLayout7.xml"/><Relationship Id="rId6" Type="http://schemas.openxmlformats.org/officeDocument/2006/relationships/image" Target="../media/image4.emf"/><Relationship Id="rId5" Type="http://schemas.openxmlformats.org/officeDocument/2006/relationships/oleObject" Target="../embeddings/oleObject3.bin"/><Relationship Id="rId4" Type="http://schemas.openxmlformats.org/officeDocument/2006/relationships/image" Target="../media/image9.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6" imgH="416" progId="TCLayout.ActiveDocument.1">
                  <p:embed/>
                </p:oleObj>
              </mc:Choice>
              <mc:Fallback>
                <p:oleObj name="think-cell Slide" r:id="rId4" imgW="416" imgH="416" progId="TCLayout.ActiveDocument.1">
                  <p:embed/>
                  <p:pic>
                    <p:nvPicPr>
                      <p:cNvPr id="2" name="Object 1"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4" name="TextBox 33">
            <a:extLst>
              <a:ext uri="{FF2B5EF4-FFF2-40B4-BE49-F238E27FC236}">
                <a16:creationId xmlns:a16="http://schemas.microsoft.com/office/drawing/2014/main" id="{C7C6EEDF-34CC-8E41-848F-F98B45233D1E}"/>
              </a:ext>
            </a:extLst>
          </p:cNvPr>
          <p:cNvSpPr txBox="1"/>
          <p:nvPr userDrawn="1"/>
        </p:nvSpPr>
        <p:spPr>
          <a:xfrm>
            <a:off x="361949" y="5696956"/>
            <a:ext cx="3000375" cy="261610"/>
          </a:xfrm>
          <a:prstGeom prst="rect">
            <a:avLst/>
          </a:prstGeom>
          <a:noFill/>
        </p:spPr>
        <p:txBody>
          <a:bodyPr wrap="square" rtlCol="0">
            <a:spAutoFit/>
          </a:bodyPr>
          <a:lstStyle/>
          <a:p>
            <a:pPr defTabSz="457200">
              <a:defRPr/>
            </a:pPr>
            <a:r>
              <a:rPr lang="en-US" sz="1100">
                <a:solidFill>
                  <a:prstClr val="black"/>
                </a:solidFill>
                <a:latin typeface="Univers 57 Condensed" pitchFamily="2" charset="0"/>
                <a:cs typeface="Calibri"/>
              </a:rPr>
              <a:t>Website : www.medcoenergi.com</a:t>
            </a:r>
          </a:p>
        </p:txBody>
      </p:sp>
      <p:sp>
        <p:nvSpPr>
          <p:cNvPr id="35" name="Rectangle 34">
            <a:extLst>
              <a:ext uri="{FF2B5EF4-FFF2-40B4-BE49-F238E27FC236}">
                <a16:creationId xmlns:a16="http://schemas.microsoft.com/office/drawing/2014/main" id="{12A09E5A-A88E-0943-831A-76259F96A8B9}"/>
              </a:ext>
            </a:extLst>
          </p:cNvPr>
          <p:cNvSpPr/>
          <p:nvPr userDrawn="1"/>
        </p:nvSpPr>
        <p:spPr>
          <a:xfrm>
            <a:off x="1" y="3981923"/>
            <a:ext cx="152399" cy="1637355"/>
          </a:xfrm>
          <a:prstGeom prst="rect">
            <a:avLst/>
          </a:prstGeom>
          <a:solidFill>
            <a:srgbClr val="004C8F"/>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cxnSp>
        <p:nvCxnSpPr>
          <p:cNvPr id="36" name="Straight Connector 35">
            <a:extLst>
              <a:ext uri="{FF2B5EF4-FFF2-40B4-BE49-F238E27FC236}">
                <a16:creationId xmlns:a16="http://schemas.microsoft.com/office/drawing/2014/main" id="{45AF0B19-2703-FB48-80DE-48B5E8486F8D}"/>
              </a:ext>
            </a:extLst>
          </p:cNvPr>
          <p:cNvCxnSpPr/>
          <p:nvPr userDrawn="1"/>
        </p:nvCxnSpPr>
        <p:spPr>
          <a:xfrm>
            <a:off x="0" y="5612064"/>
            <a:ext cx="3819193" cy="0"/>
          </a:xfrm>
          <a:prstGeom prst="line">
            <a:avLst/>
          </a:prstGeom>
          <a:noFill/>
          <a:ln w="3175" cap="flat" cmpd="sng" algn="ctr">
            <a:solidFill>
              <a:srgbClr val="7F7F7F"/>
            </a:solidFill>
            <a:prstDash val="solid"/>
          </a:ln>
          <a:effectLst/>
        </p:spPr>
      </p:cxnSp>
      <p:cxnSp>
        <p:nvCxnSpPr>
          <p:cNvPr id="37" name="Straight Connector 36">
            <a:extLst>
              <a:ext uri="{FF2B5EF4-FFF2-40B4-BE49-F238E27FC236}">
                <a16:creationId xmlns:a16="http://schemas.microsoft.com/office/drawing/2014/main" id="{44330850-49FA-5C4B-A113-48CB747CBA72}"/>
              </a:ext>
            </a:extLst>
          </p:cNvPr>
          <p:cNvCxnSpPr/>
          <p:nvPr userDrawn="1"/>
        </p:nvCxnSpPr>
        <p:spPr>
          <a:xfrm>
            <a:off x="0" y="6069264"/>
            <a:ext cx="3819193" cy="0"/>
          </a:xfrm>
          <a:prstGeom prst="line">
            <a:avLst/>
          </a:prstGeom>
          <a:noFill/>
          <a:ln w="3175" cap="flat" cmpd="sng" algn="ctr">
            <a:solidFill>
              <a:srgbClr val="7F7F7F"/>
            </a:solidFill>
            <a:prstDash val="solid"/>
          </a:ln>
          <a:effectLst/>
        </p:spPr>
      </p:cxnSp>
      <p:pic>
        <p:nvPicPr>
          <p:cNvPr id="4" name="Picture 3">
            <a:extLst>
              <a:ext uri="{FF2B5EF4-FFF2-40B4-BE49-F238E27FC236}">
                <a16:creationId xmlns:a16="http://schemas.microsoft.com/office/drawing/2014/main" id="{911B2C79-CF24-947B-9FCA-CB709C4249C0}"/>
              </a:ext>
            </a:extLst>
          </p:cNvPr>
          <p:cNvPicPr>
            <a:picLocks noChangeAspect="1"/>
          </p:cNvPicPr>
          <p:nvPr userDrawn="1"/>
        </p:nvPicPr>
        <p:blipFill>
          <a:blip r:embed="rId6"/>
          <a:stretch>
            <a:fillRect/>
          </a:stretch>
        </p:blipFill>
        <p:spPr>
          <a:xfrm>
            <a:off x="152400" y="3112124"/>
            <a:ext cx="2680587" cy="1107996"/>
          </a:xfrm>
          <a:prstGeom prst="rect">
            <a:avLst/>
          </a:prstGeom>
        </p:spPr>
      </p:pic>
      <p:sp>
        <p:nvSpPr>
          <p:cNvPr id="3" name="TextBox 2">
            <a:extLst>
              <a:ext uri="{FF2B5EF4-FFF2-40B4-BE49-F238E27FC236}">
                <a16:creationId xmlns:a16="http://schemas.microsoft.com/office/drawing/2014/main" id="{3803E327-8014-E970-E20D-0A646B07263A}"/>
              </a:ext>
            </a:extLst>
          </p:cNvPr>
          <p:cNvSpPr txBox="1"/>
          <p:nvPr userDrawn="1"/>
        </p:nvSpPr>
        <p:spPr>
          <a:xfrm>
            <a:off x="361949" y="4218706"/>
            <a:ext cx="3276600" cy="1107996"/>
          </a:xfrm>
          <a:prstGeom prst="rect">
            <a:avLst/>
          </a:prstGeom>
          <a:noFill/>
        </p:spPr>
        <p:txBody>
          <a:bodyPr wrap="square" rtlCol="0">
            <a:spAutoFit/>
          </a:bodyPr>
          <a:lstStyle/>
          <a:p>
            <a:r>
              <a:rPr lang="en-US" sz="1100">
                <a:solidFill>
                  <a:prstClr val="black"/>
                </a:solidFill>
                <a:latin typeface="Univers 57 Condensed" pitchFamily="2" charset="0"/>
                <a:cs typeface="Calibri"/>
              </a:rPr>
              <a:t>The Energy Building 33</a:t>
            </a:r>
            <a:r>
              <a:rPr lang="en-US" sz="1100" baseline="30000">
                <a:solidFill>
                  <a:prstClr val="black"/>
                </a:solidFill>
                <a:latin typeface="Univers 57 Condensed" pitchFamily="2" charset="0"/>
                <a:cs typeface="Calibri"/>
              </a:rPr>
              <a:t>rd</a:t>
            </a:r>
            <a:r>
              <a:rPr lang="en-US" sz="1100">
                <a:solidFill>
                  <a:prstClr val="black"/>
                </a:solidFill>
                <a:latin typeface="Univers 57 Condensed" pitchFamily="2" charset="0"/>
                <a:cs typeface="Calibri"/>
              </a:rPr>
              <a:t> Floor </a:t>
            </a:r>
          </a:p>
          <a:p>
            <a:r>
              <a:rPr lang="en-US" sz="1100">
                <a:solidFill>
                  <a:prstClr val="black"/>
                </a:solidFill>
                <a:latin typeface="Univers 57 Condensed" pitchFamily="2" charset="0"/>
                <a:cs typeface="Calibri"/>
              </a:rPr>
              <a:t>SCBD Lot 11A</a:t>
            </a:r>
          </a:p>
          <a:p>
            <a:r>
              <a:rPr lang="en-US" sz="1100">
                <a:solidFill>
                  <a:prstClr val="black"/>
                </a:solidFill>
                <a:latin typeface="Univers 57 Condensed" pitchFamily="2" charset="0"/>
                <a:cs typeface="Calibri"/>
              </a:rPr>
              <a:t>Jl. </a:t>
            </a:r>
            <a:r>
              <a:rPr lang="en-US" sz="1100" err="1">
                <a:solidFill>
                  <a:prstClr val="black"/>
                </a:solidFill>
                <a:latin typeface="Univers 57 Condensed" pitchFamily="2" charset="0"/>
                <a:cs typeface="Calibri"/>
              </a:rPr>
              <a:t>Jend</a:t>
            </a:r>
            <a:r>
              <a:rPr lang="en-US" sz="1100">
                <a:solidFill>
                  <a:prstClr val="black"/>
                </a:solidFill>
                <a:latin typeface="Univers 57 Condensed" pitchFamily="2" charset="0"/>
                <a:cs typeface="Calibri"/>
              </a:rPr>
              <a:t>. </a:t>
            </a:r>
            <a:r>
              <a:rPr lang="en-US" sz="1100" err="1">
                <a:solidFill>
                  <a:prstClr val="black"/>
                </a:solidFill>
                <a:latin typeface="Univers 57 Condensed" pitchFamily="2" charset="0"/>
                <a:cs typeface="Calibri"/>
              </a:rPr>
              <a:t>Sudirman</a:t>
            </a:r>
            <a:r>
              <a:rPr lang="en-US" sz="1100">
                <a:solidFill>
                  <a:prstClr val="black"/>
                </a:solidFill>
                <a:latin typeface="Univers 57 Condensed" pitchFamily="2" charset="0"/>
                <a:cs typeface="Calibri"/>
              </a:rPr>
              <a:t>, Jakarta 12190</a:t>
            </a:r>
          </a:p>
          <a:p>
            <a:r>
              <a:rPr lang="en-US" sz="1100">
                <a:solidFill>
                  <a:prstClr val="black"/>
                </a:solidFill>
                <a:latin typeface="Univers 57 Condensed" pitchFamily="2" charset="0"/>
                <a:cs typeface="Calibri"/>
              </a:rPr>
              <a:t>Indonesia</a:t>
            </a:r>
          </a:p>
          <a:p>
            <a:r>
              <a:rPr lang="en-US" sz="1100">
                <a:solidFill>
                  <a:prstClr val="black"/>
                </a:solidFill>
                <a:latin typeface="Univers 57 Condensed" pitchFamily="2" charset="0"/>
                <a:cs typeface="Calibri"/>
              </a:rPr>
              <a:t>P. +62-21 2995 4000</a:t>
            </a:r>
          </a:p>
          <a:p>
            <a:r>
              <a:rPr lang="en-US" sz="1100">
                <a:solidFill>
                  <a:prstClr val="black"/>
                </a:solidFill>
                <a:latin typeface="Univers 57 Condensed" pitchFamily="2" charset="0"/>
                <a:cs typeface="Calibri"/>
              </a:rPr>
              <a:t>F. +62-21 2995 1301</a:t>
            </a:r>
          </a:p>
        </p:txBody>
      </p:sp>
    </p:spTree>
    <p:extLst>
      <p:ext uri="{BB962C8B-B14F-4D97-AF65-F5344CB8AC3E}">
        <p14:creationId xmlns:p14="http://schemas.microsoft.com/office/powerpoint/2010/main" val="640515158"/>
      </p:ext>
    </p:extLst>
  </p:cSld>
  <p:clrMap bg1="lt1" tx1="dk1" bg2="lt2" tx2="dk2" accent1="accent1" accent2="accent2" accent3="accent3" accent4="accent4" accent5="accent5" accent6="accent6" hlink="hlink" folHlink="folHlink"/>
  <p:sldLayoutIdLst>
    <p:sldLayoutId id="214748367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descr="A white background with circles&#10;&#10;Description automatically generated">
            <a:extLst>
              <a:ext uri="{FF2B5EF4-FFF2-40B4-BE49-F238E27FC236}">
                <a16:creationId xmlns:a16="http://schemas.microsoft.com/office/drawing/2014/main" id="{94D5AC59-4A2C-424E-89F8-56468FAF59C4}"/>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6" name="Rectangle 15">
            <a:extLst>
              <a:ext uri="{FF2B5EF4-FFF2-40B4-BE49-F238E27FC236}">
                <a16:creationId xmlns:a16="http://schemas.microsoft.com/office/drawing/2014/main" id="{A1E84AE8-EB71-4FD7-402F-B44839BDE018}"/>
              </a:ext>
            </a:extLst>
          </p:cNvPr>
          <p:cNvSpPr/>
          <p:nvPr userDrawn="1"/>
        </p:nvSpPr>
        <p:spPr>
          <a:xfrm>
            <a:off x="0" y="2067722"/>
            <a:ext cx="12192000" cy="325793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Object 1" hidden="1"/>
          <p:cNvGraphicFramePr>
            <a:graphicFrameLocks noChangeAspect="1"/>
          </p:cNvGraphicFramePr>
          <p:nvPr userDrawn="1">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23" imgH="499" progId="TCLayout.ActiveDocument.1">
                  <p:embed/>
                </p:oleObj>
              </mc:Choice>
              <mc:Fallback>
                <p:oleObj name="think-cell Slide" r:id="rId5" imgW="523" imgH="499" progId="TCLayout.ActiveDocument.1">
                  <p:embed/>
                  <p:pic>
                    <p:nvPicPr>
                      <p:cNvPr id="2" name="Object 1"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extBox 2">
            <a:extLst>
              <a:ext uri="{FF2B5EF4-FFF2-40B4-BE49-F238E27FC236}">
                <a16:creationId xmlns:a16="http://schemas.microsoft.com/office/drawing/2014/main" id="{061C650E-1E80-F09A-452A-D7F5D6E1B578}"/>
              </a:ext>
            </a:extLst>
          </p:cNvPr>
          <p:cNvSpPr txBox="1"/>
          <p:nvPr userDrawn="1"/>
        </p:nvSpPr>
        <p:spPr>
          <a:xfrm>
            <a:off x="3679369" y="2285285"/>
            <a:ext cx="6531429" cy="2851999"/>
          </a:xfrm>
          <a:prstGeom prst="rect">
            <a:avLst/>
          </a:prstGeom>
          <a:noFill/>
        </p:spPr>
        <p:txBody>
          <a:bodyPr wrap="square" rtlCol="0">
            <a:spAutoFit/>
          </a:bodyPr>
          <a:lstStyle/>
          <a:p>
            <a:pPr marL="0" marR="0" indent="0" algn="just" defTabSz="914400" rtl="0" eaLnBrk="1" fontAlgn="auto" latinLnBrk="0" hangingPunct="1">
              <a:lnSpc>
                <a:spcPts val="1800"/>
              </a:lnSpc>
              <a:spcBef>
                <a:spcPts val="0"/>
              </a:spcBef>
              <a:spcAft>
                <a:spcPts val="0"/>
              </a:spcAft>
              <a:buClrTx/>
              <a:buSzTx/>
              <a:buFontTx/>
              <a:buNone/>
              <a:tabLst/>
              <a:defRPr/>
            </a:pPr>
            <a:r>
              <a:rPr lang="en-US" sz="1400" b="0" i="0">
                <a:solidFill>
                  <a:schemeClr val="bg2">
                    <a:lumMod val="25000"/>
                  </a:schemeClr>
                </a:solidFill>
                <a:latin typeface="Univers 57 Condensed" pitchFamily="2" charset="0"/>
                <a:cs typeface="Univers LT Std 55"/>
              </a:rPr>
              <a:t>The following presentation has been prepared by Medco E&amp;P (the “Company”) and contains certain projections, plans, business strategies, policies of the Company and industry data in which the Company operates in, which could be treated as forward-looking statements within the meaning of applicable law. Such forward-looking statements, by their nature, involve risks and uncertainties that could prove to be incorrect and cause actual results to differ materially from those expressed or implied in these statements. </a:t>
            </a:r>
          </a:p>
          <a:p>
            <a:pPr marL="0" marR="0" indent="0" algn="just" defTabSz="914400" rtl="0" eaLnBrk="1" fontAlgn="auto" latinLnBrk="0" hangingPunct="1">
              <a:lnSpc>
                <a:spcPts val="1800"/>
              </a:lnSpc>
              <a:spcBef>
                <a:spcPts val="0"/>
              </a:spcBef>
              <a:spcAft>
                <a:spcPts val="0"/>
              </a:spcAft>
              <a:buClrTx/>
              <a:buSzTx/>
              <a:buFontTx/>
              <a:buNone/>
              <a:tabLst/>
              <a:defRPr/>
            </a:pPr>
            <a:endParaRPr lang="en-US" sz="1400" b="0" i="0">
              <a:solidFill>
                <a:schemeClr val="bg2">
                  <a:lumMod val="25000"/>
                </a:schemeClr>
              </a:solidFill>
              <a:latin typeface="Univers 57 Condensed" pitchFamily="2" charset="0"/>
              <a:cs typeface="Univers LT Std 55"/>
            </a:endParaRPr>
          </a:p>
          <a:p>
            <a:pPr marL="0" marR="0" indent="0" algn="just" defTabSz="914400" rtl="0" eaLnBrk="1" fontAlgn="auto" latinLnBrk="0" hangingPunct="1">
              <a:lnSpc>
                <a:spcPts val="1800"/>
              </a:lnSpc>
              <a:spcBef>
                <a:spcPts val="0"/>
              </a:spcBef>
              <a:spcAft>
                <a:spcPts val="0"/>
              </a:spcAft>
              <a:buClrTx/>
              <a:buSzTx/>
              <a:buFontTx/>
              <a:buNone/>
              <a:tabLst/>
              <a:defRPr/>
            </a:pPr>
            <a:r>
              <a:rPr lang="en-US" sz="1400" b="0" i="0">
                <a:solidFill>
                  <a:schemeClr val="bg2">
                    <a:lumMod val="25000"/>
                  </a:schemeClr>
                </a:solidFill>
                <a:latin typeface="Univers 57 Condensed" pitchFamily="2" charset="0"/>
                <a:cs typeface="Univers LT Std 55"/>
              </a:rPr>
              <a:t>The Company does not guarantee that any action, which may have been taken. The information presented today is considered Company’s confidential and proprietary, and should not be disclosed, in whole or in part, outside of the Company without appropriate prior approval of Company’s management.</a:t>
            </a:r>
          </a:p>
        </p:txBody>
      </p:sp>
      <p:cxnSp>
        <p:nvCxnSpPr>
          <p:cNvPr id="5" name="Straight Connector 4">
            <a:extLst>
              <a:ext uri="{FF2B5EF4-FFF2-40B4-BE49-F238E27FC236}">
                <a16:creationId xmlns:a16="http://schemas.microsoft.com/office/drawing/2014/main" id="{FB26D590-8891-7F88-34F1-A729227F63F5}"/>
              </a:ext>
            </a:extLst>
          </p:cNvPr>
          <p:cNvCxnSpPr>
            <a:cxnSpLocks/>
          </p:cNvCxnSpPr>
          <p:nvPr userDrawn="1"/>
        </p:nvCxnSpPr>
        <p:spPr>
          <a:xfrm flipH="1">
            <a:off x="0" y="2067722"/>
            <a:ext cx="12192000" cy="0"/>
          </a:xfrm>
          <a:prstGeom prst="line">
            <a:avLst/>
          </a:prstGeom>
          <a:ln w="19050" cmpd="sng">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pic>
        <p:nvPicPr>
          <p:cNvPr id="6" name="Picture 4" descr="warn1">
            <a:extLst>
              <a:ext uri="{FF2B5EF4-FFF2-40B4-BE49-F238E27FC236}">
                <a16:creationId xmlns:a16="http://schemas.microsoft.com/office/drawing/2014/main" id="{C308E1C0-FFAD-C9DB-6BA9-4AAB32A7369D}"/>
              </a:ext>
            </a:extLst>
          </p:cNvPr>
          <p:cNvPicPr>
            <a:picLocks noChangeAspect="1" noChangeArrowheads="1"/>
          </p:cNvPicPr>
          <p:nvPr userDrawn="1"/>
        </p:nvPicPr>
        <p:blipFill>
          <a:blip r:embed="rId7" cstate="email">
            <a:extLst>
              <a:ext uri="{28A0092B-C50C-407E-A947-70E740481C1C}">
                <a14:useLocalDpi xmlns:a14="http://schemas.microsoft.com/office/drawing/2010/main"/>
              </a:ext>
            </a:extLst>
          </a:blip>
          <a:srcRect/>
          <a:stretch>
            <a:fillRect/>
          </a:stretch>
        </p:blipFill>
        <p:spPr bwMode="auto">
          <a:xfrm>
            <a:off x="2013767" y="2431637"/>
            <a:ext cx="1314631" cy="1213510"/>
          </a:xfrm>
          <a:prstGeom prst="rect">
            <a:avLst/>
          </a:prstGeom>
          <a:noFill/>
          <a:ln w="9525">
            <a:noFill/>
            <a:miter lim="800000"/>
            <a:headEnd/>
            <a:tailEnd/>
          </a:ln>
        </p:spPr>
      </p:pic>
      <p:sp>
        <p:nvSpPr>
          <p:cNvPr id="7" name="Rectangle 6">
            <a:extLst>
              <a:ext uri="{FF2B5EF4-FFF2-40B4-BE49-F238E27FC236}">
                <a16:creationId xmlns:a16="http://schemas.microsoft.com/office/drawing/2014/main" id="{7E8BED9A-0CFD-9C9C-4F58-BAB8A3D17691}"/>
              </a:ext>
            </a:extLst>
          </p:cNvPr>
          <p:cNvSpPr/>
          <p:nvPr userDrawn="1"/>
        </p:nvSpPr>
        <p:spPr>
          <a:xfrm>
            <a:off x="0" y="5337869"/>
            <a:ext cx="12192000" cy="73710"/>
          </a:xfrm>
          <a:prstGeom prst="rect">
            <a:avLst/>
          </a:prstGeom>
          <a:solidFill>
            <a:srgbClr val="004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D8EA8338-61D3-AC6F-5C0C-33E4EF782D2B}"/>
              </a:ext>
            </a:extLst>
          </p:cNvPr>
          <p:cNvPicPr>
            <a:picLocks noChangeAspect="1"/>
          </p:cNvPicPr>
          <p:nvPr userDrawn="1"/>
        </p:nvPicPr>
        <p:blipFill>
          <a:blip r:embed="rId8"/>
          <a:stretch>
            <a:fillRect/>
          </a:stretch>
        </p:blipFill>
        <p:spPr>
          <a:xfrm>
            <a:off x="8980975" y="1099954"/>
            <a:ext cx="1206494" cy="913571"/>
          </a:xfrm>
          <a:prstGeom prst="rect">
            <a:avLst/>
          </a:prstGeom>
        </p:spPr>
      </p:pic>
    </p:spTree>
    <p:extLst>
      <p:ext uri="{BB962C8B-B14F-4D97-AF65-F5344CB8AC3E}">
        <p14:creationId xmlns:p14="http://schemas.microsoft.com/office/powerpoint/2010/main" val="3533207446"/>
      </p:ext>
    </p:extLst>
  </p:cSld>
  <p:clrMap bg1="lt1" tx1="dk1" bg2="lt2" tx2="dk2" accent1="accent1" accent2="accent2" accent3="accent3" accent4="accent4" accent5="accent5" accent6="accent6" hlink="hlink" folHlink="folHlink"/>
  <p:sldLayoutIdLst>
    <p:sldLayoutId id="214748369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23" imgH="499" progId="TCLayout.ActiveDocument.1">
                  <p:embed/>
                </p:oleObj>
              </mc:Choice>
              <mc:Fallback>
                <p:oleObj name="think-cell Slide" r:id="rId4" imgW="523" imgH="499" progId="TCLayout.ActiveDocument.1">
                  <p:embed/>
                  <p:pic>
                    <p:nvPicPr>
                      <p:cNvPr id="2" name="Object 1"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Slide Number Placeholder 8">
            <a:extLst>
              <a:ext uri="{FF2B5EF4-FFF2-40B4-BE49-F238E27FC236}">
                <a16:creationId xmlns:a16="http://schemas.microsoft.com/office/drawing/2014/main" id="{707E4153-1AA6-958D-2A00-6861539F5D6C}"/>
              </a:ext>
            </a:extLst>
          </p:cNvPr>
          <p:cNvSpPr txBox="1">
            <a:spLocks/>
          </p:cNvSpPr>
          <p:nvPr userDrawn="1"/>
        </p:nvSpPr>
        <p:spPr>
          <a:xfrm>
            <a:off x="124054" y="6473265"/>
            <a:ext cx="1237786"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54CDBFEC-D281-BE45-8B6B-3056C88C8B5C}" type="slidenum">
              <a:rPr lang="en-US" sz="1100" smtClean="0">
                <a:solidFill>
                  <a:srgbClr val="0070C0"/>
                </a:solidFill>
                <a:latin typeface="Arial" panose="020B0604020202020204" pitchFamily="34" charset="0"/>
                <a:cs typeface="Arial" panose="020B0604020202020204" pitchFamily="34" charset="0"/>
              </a:rPr>
              <a:pPr algn="l"/>
              <a:t>‹#›</a:t>
            </a:fld>
            <a:endParaRPr lang="en-US" sz="1100">
              <a:solidFill>
                <a:srgbClr val="0070C0"/>
              </a:solidFill>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7AE2307C-56E6-E931-A27C-7ADEFD33FB4E}"/>
              </a:ext>
            </a:extLst>
          </p:cNvPr>
          <p:cNvSpPr/>
          <p:nvPr userDrawn="1"/>
        </p:nvSpPr>
        <p:spPr>
          <a:xfrm>
            <a:off x="0" y="865854"/>
            <a:ext cx="12192000" cy="41607"/>
          </a:xfrm>
          <a:prstGeom prst="rect">
            <a:avLst/>
          </a:prstGeom>
          <a:solidFill>
            <a:srgbClr val="004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0143313A-0CD8-BCE9-84ED-DE119C4CB782}"/>
              </a:ext>
            </a:extLst>
          </p:cNvPr>
          <p:cNvCxnSpPr>
            <a:cxnSpLocks/>
          </p:cNvCxnSpPr>
          <p:nvPr userDrawn="1"/>
        </p:nvCxnSpPr>
        <p:spPr>
          <a:xfrm flipH="1">
            <a:off x="0" y="6441021"/>
            <a:ext cx="12192000"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027AB5A-4394-FEC5-168F-9F71ECB1A3C4}"/>
              </a:ext>
            </a:extLst>
          </p:cNvPr>
          <p:cNvSpPr txBox="1"/>
          <p:nvPr userDrawn="1"/>
        </p:nvSpPr>
        <p:spPr>
          <a:xfrm>
            <a:off x="1526568" y="6503145"/>
            <a:ext cx="10569187" cy="523220"/>
          </a:xfrm>
          <a:prstGeom prst="rect">
            <a:avLst/>
          </a:prstGeom>
          <a:noFill/>
        </p:spPr>
        <p:txBody>
          <a:bodyPr wrap="square" rtlCol="0">
            <a:noAutofit/>
          </a:bodyPr>
          <a:lstStyle/>
          <a:p>
            <a:pPr algn="r"/>
            <a:r>
              <a:rPr lang="en-GB" sz="1100">
                <a:solidFill>
                  <a:srgbClr val="0070C0"/>
                </a:solidFill>
                <a:latin typeface="Univers LT Std 57 Cn" panose="020B0506020202050204" pitchFamily="34" charset="0"/>
              </a:rPr>
              <a:t>Value. </a:t>
            </a:r>
            <a:r>
              <a:rPr lang="en-GB" sz="1100">
                <a:latin typeface="Univers LT Std 57 Cn" panose="020B0506020202050204" pitchFamily="34" charset="0"/>
              </a:rPr>
              <a:t>Focus. </a:t>
            </a:r>
            <a:r>
              <a:rPr lang="en-GB" sz="1100">
                <a:solidFill>
                  <a:schemeClr val="accent6"/>
                </a:solidFill>
                <a:latin typeface="Univers LT Std 57 Cn" panose="020B0506020202050204" pitchFamily="34" charset="0"/>
              </a:rPr>
              <a:t>Growth.</a:t>
            </a:r>
          </a:p>
        </p:txBody>
      </p:sp>
      <p:pic>
        <p:nvPicPr>
          <p:cNvPr id="7" name="Picture 6">
            <a:extLst>
              <a:ext uri="{FF2B5EF4-FFF2-40B4-BE49-F238E27FC236}">
                <a16:creationId xmlns:a16="http://schemas.microsoft.com/office/drawing/2014/main" id="{B21B3250-75DF-36C2-56D8-8EA5403D7917}"/>
              </a:ext>
            </a:extLst>
          </p:cNvPr>
          <p:cNvPicPr>
            <a:picLocks noChangeAspect="1"/>
          </p:cNvPicPr>
          <p:nvPr userDrawn="1"/>
        </p:nvPicPr>
        <p:blipFill>
          <a:blip r:embed="rId6"/>
          <a:stretch>
            <a:fillRect/>
          </a:stretch>
        </p:blipFill>
        <p:spPr>
          <a:xfrm>
            <a:off x="11087066" y="120898"/>
            <a:ext cx="965629" cy="731185"/>
          </a:xfrm>
          <a:prstGeom prst="rect">
            <a:avLst/>
          </a:prstGeom>
        </p:spPr>
      </p:pic>
    </p:spTree>
    <p:extLst>
      <p:ext uri="{BB962C8B-B14F-4D97-AF65-F5344CB8AC3E}">
        <p14:creationId xmlns:p14="http://schemas.microsoft.com/office/powerpoint/2010/main" val="9499288"/>
      </p:ext>
    </p:extLst>
  </p:cSld>
  <p:clrMap bg1="lt1" tx1="dk1" bg2="lt2" tx2="dk2" accent1="accent1" accent2="accent2" accent3="accent3" accent4="accent4" accent5="accent5" accent6="accent6" hlink="hlink" folHlink="folHlink"/>
  <p:sldLayoutIdLst>
    <p:sldLayoutId id="214748370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Picture 12" descr="A collage of different types of ships&#10;&#10;Description automatically generated">
            <a:extLst>
              <a:ext uri="{FF2B5EF4-FFF2-40B4-BE49-F238E27FC236}">
                <a16:creationId xmlns:a16="http://schemas.microsoft.com/office/drawing/2014/main" id="{0001B9A3-CB81-2F2E-98F3-766D1541A3F6}"/>
              </a:ext>
            </a:extLst>
          </p:cNvPr>
          <p:cNvPicPr>
            <a:picLocks noChangeAspect="1"/>
          </p:cNvPicPr>
          <p:nvPr userDrawn="1"/>
        </p:nvPicPr>
        <p:blipFill>
          <a:blip r:embed="rId6" cstate="print">
            <a:extLst>
              <a:ext uri="{28A0092B-C50C-407E-A947-70E740481C1C}">
                <a14:useLocalDpi xmlns:a14="http://schemas.microsoft.com/office/drawing/2010/main"/>
              </a:ext>
            </a:extLst>
          </a:blip>
          <a:srcRect l="14814" t="7922" r="1030" b="7922"/>
          <a:stretch/>
        </p:blipFill>
        <p:spPr>
          <a:xfrm>
            <a:off x="1" y="0"/>
            <a:ext cx="12191999" cy="6858000"/>
          </a:xfrm>
          <a:prstGeom prst="rect">
            <a:avLst/>
          </a:prstGeom>
        </p:spPr>
      </p:pic>
      <p:graphicFrame>
        <p:nvGraphicFramePr>
          <p:cNvPr id="2" name="Object 1" hidden="1"/>
          <p:cNvGraphicFramePr>
            <a:graphicFrameLocks noChangeAspect="1"/>
          </p:cNvGraphicFramePr>
          <p:nvPr userDrawn="1">
            <p:custDataLst>
              <p:tags r:id="rId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23" imgH="499" progId="TCLayout.ActiveDocument.1">
                  <p:embed/>
                </p:oleObj>
              </mc:Choice>
              <mc:Fallback>
                <p:oleObj name="think-cell Slide" r:id="rId7" imgW="523" imgH="499" progId="TCLayout.ActiveDocument.1">
                  <p:embed/>
                  <p:pic>
                    <p:nvPicPr>
                      <p:cNvPr id="2" name="Object 1" hidden="1"/>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E753576E-3A61-09CA-3EA5-BBC1A1488539}"/>
              </a:ext>
            </a:extLst>
          </p:cNvPr>
          <p:cNvSpPr txBox="1"/>
          <p:nvPr userDrawn="1"/>
        </p:nvSpPr>
        <p:spPr>
          <a:xfrm>
            <a:off x="586042" y="2294315"/>
            <a:ext cx="10569187" cy="523220"/>
          </a:xfrm>
          <a:prstGeom prst="rect">
            <a:avLst/>
          </a:prstGeom>
          <a:noFill/>
        </p:spPr>
        <p:txBody>
          <a:bodyPr wrap="square" rtlCol="0">
            <a:noAutofit/>
          </a:bodyPr>
          <a:lstStyle/>
          <a:p>
            <a:pPr algn="l"/>
            <a:r>
              <a:rPr lang="en-GB" sz="1600">
                <a:solidFill>
                  <a:srgbClr val="0070C0"/>
                </a:solidFill>
                <a:latin typeface="Univers LT Std 57 Cn" panose="020B0506020202050204" pitchFamily="34" charset="0"/>
              </a:rPr>
              <a:t>Value. </a:t>
            </a:r>
            <a:r>
              <a:rPr lang="en-GB" sz="1600">
                <a:latin typeface="Univers LT Std 57 Cn" panose="020B0506020202050204" pitchFamily="34" charset="0"/>
              </a:rPr>
              <a:t>Focus. </a:t>
            </a:r>
            <a:r>
              <a:rPr lang="en-GB" sz="1600">
                <a:solidFill>
                  <a:schemeClr val="accent6"/>
                </a:solidFill>
                <a:latin typeface="Univers LT Std 57 Cn" panose="020B0506020202050204" pitchFamily="34" charset="0"/>
              </a:rPr>
              <a:t>Growth.</a:t>
            </a:r>
          </a:p>
        </p:txBody>
      </p:sp>
      <p:pic>
        <p:nvPicPr>
          <p:cNvPr id="6" name="Picture 5">
            <a:extLst>
              <a:ext uri="{FF2B5EF4-FFF2-40B4-BE49-F238E27FC236}">
                <a16:creationId xmlns:a16="http://schemas.microsoft.com/office/drawing/2014/main" id="{A0694973-2B54-96F1-5F07-012351CE5D8C}"/>
              </a:ext>
            </a:extLst>
          </p:cNvPr>
          <p:cNvPicPr>
            <a:picLocks noChangeAspect="1"/>
          </p:cNvPicPr>
          <p:nvPr userDrawn="1"/>
        </p:nvPicPr>
        <p:blipFill>
          <a:blip r:embed="rId9"/>
          <a:stretch>
            <a:fillRect/>
          </a:stretch>
        </p:blipFill>
        <p:spPr>
          <a:xfrm>
            <a:off x="295564" y="894303"/>
            <a:ext cx="3445161" cy="1424027"/>
          </a:xfrm>
          <a:prstGeom prst="rect">
            <a:avLst/>
          </a:prstGeom>
        </p:spPr>
      </p:pic>
    </p:spTree>
    <p:extLst>
      <p:ext uri="{BB962C8B-B14F-4D97-AF65-F5344CB8AC3E}">
        <p14:creationId xmlns:p14="http://schemas.microsoft.com/office/powerpoint/2010/main" val="1855036557"/>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descr="A white and blue wave&#10;&#10;Description automatically generated">
            <a:extLst>
              <a:ext uri="{FF2B5EF4-FFF2-40B4-BE49-F238E27FC236}">
                <a16:creationId xmlns:a16="http://schemas.microsoft.com/office/drawing/2014/main" id="{0E6C158A-0FA3-53B9-E30A-DDEF2D575EB5}"/>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graphicFrame>
        <p:nvGraphicFramePr>
          <p:cNvPr id="2" name="Object 1" hidden="1"/>
          <p:cNvGraphicFramePr>
            <a:graphicFrameLocks noChangeAspect="1"/>
          </p:cNvGraphicFramePr>
          <p:nvPr userDrawn="1">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23" imgH="499" progId="TCLayout.ActiveDocument.1">
                  <p:embed/>
                </p:oleObj>
              </mc:Choice>
              <mc:Fallback>
                <p:oleObj name="think-cell Slide" r:id="rId5" imgW="523" imgH="499" progId="TCLayout.ActiveDocument.1">
                  <p:embed/>
                  <p:pic>
                    <p:nvPicPr>
                      <p:cNvPr id="2" name="Object 1"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E753576E-3A61-09CA-3EA5-BBC1A1488539}"/>
              </a:ext>
            </a:extLst>
          </p:cNvPr>
          <p:cNvSpPr txBox="1"/>
          <p:nvPr userDrawn="1"/>
        </p:nvSpPr>
        <p:spPr>
          <a:xfrm>
            <a:off x="586042" y="2413583"/>
            <a:ext cx="10569187" cy="523220"/>
          </a:xfrm>
          <a:prstGeom prst="rect">
            <a:avLst/>
          </a:prstGeom>
          <a:noFill/>
        </p:spPr>
        <p:txBody>
          <a:bodyPr wrap="square" rtlCol="0">
            <a:noAutofit/>
          </a:bodyPr>
          <a:lstStyle/>
          <a:p>
            <a:pPr algn="l"/>
            <a:r>
              <a:rPr lang="en-GB" sz="1600">
                <a:solidFill>
                  <a:srgbClr val="00B0F0"/>
                </a:solidFill>
                <a:latin typeface="Univers LT Std 57 Cn" panose="020B0506020202050204" pitchFamily="34" charset="0"/>
              </a:rPr>
              <a:t>Value. </a:t>
            </a:r>
            <a:r>
              <a:rPr lang="en-GB" sz="1600">
                <a:solidFill>
                  <a:srgbClr val="0070C0"/>
                </a:solidFill>
                <a:latin typeface="Univers LT Std 57 Cn" panose="020B0506020202050204" pitchFamily="34" charset="0"/>
              </a:rPr>
              <a:t>Focus.</a:t>
            </a:r>
            <a:r>
              <a:rPr lang="en-GB" sz="1600">
                <a:solidFill>
                  <a:schemeClr val="accent5">
                    <a:lumMod val="50000"/>
                  </a:schemeClr>
                </a:solidFill>
                <a:latin typeface="Univers LT Std 57 Cn" panose="020B0506020202050204" pitchFamily="34" charset="0"/>
              </a:rPr>
              <a:t> </a:t>
            </a:r>
            <a:r>
              <a:rPr lang="en-GB" sz="1600">
                <a:solidFill>
                  <a:schemeClr val="accent6"/>
                </a:solidFill>
                <a:latin typeface="Univers LT Std 57 Cn" panose="020B0506020202050204" pitchFamily="34" charset="0"/>
              </a:rPr>
              <a:t>Growth.</a:t>
            </a:r>
          </a:p>
        </p:txBody>
      </p:sp>
      <p:pic>
        <p:nvPicPr>
          <p:cNvPr id="3" name="Picture 2">
            <a:extLst>
              <a:ext uri="{FF2B5EF4-FFF2-40B4-BE49-F238E27FC236}">
                <a16:creationId xmlns:a16="http://schemas.microsoft.com/office/drawing/2014/main" id="{043FABC3-CC9C-6A7D-463C-DF6778BF1292}"/>
              </a:ext>
            </a:extLst>
          </p:cNvPr>
          <p:cNvPicPr>
            <a:picLocks noChangeAspect="1"/>
          </p:cNvPicPr>
          <p:nvPr userDrawn="1"/>
        </p:nvPicPr>
        <p:blipFill>
          <a:blip r:embed="rId7"/>
          <a:stretch>
            <a:fillRect/>
          </a:stretch>
        </p:blipFill>
        <p:spPr>
          <a:xfrm>
            <a:off x="670233" y="1539374"/>
            <a:ext cx="2596842" cy="728021"/>
          </a:xfrm>
          <a:prstGeom prst="rect">
            <a:avLst/>
          </a:prstGeom>
        </p:spPr>
      </p:pic>
    </p:spTree>
    <p:extLst>
      <p:ext uri="{BB962C8B-B14F-4D97-AF65-F5344CB8AC3E}">
        <p14:creationId xmlns:p14="http://schemas.microsoft.com/office/powerpoint/2010/main" val="2103917201"/>
      </p:ext>
    </p:extLst>
  </p:cSld>
  <p:clrMap bg1="lt1" tx1="dk1" bg2="lt2" tx2="dk2" accent1="accent1" accent2="accent2" accent3="accent3" accent4="accent4" accent5="accent5" accent6="accent6" hlink="hlink" folHlink="folHlink"/>
  <p:sldLayoutIdLst>
    <p:sldLayoutId id="214748372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38A13C-0889-6E75-0DD0-A2CD5E2225DD}"/>
              </a:ext>
            </a:extLst>
          </p:cNvPr>
          <p:cNvSpPr txBox="1"/>
          <p:nvPr/>
        </p:nvSpPr>
        <p:spPr>
          <a:xfrm>
            <a:off x="670959" y="4068109"/>
            <a:ext cx="5185060" cy="300138"/>
          </a:xfrm>
          <a:prstGeom prst="rect">
            <a:avLst/>
          </a:prstGeom>
          <a:noFill/>
          <a:effectLst/>
        </p:spPr>
        <p:txBody>
          <a:bodyPr wrap="square" lIns="0" r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sv-SE" sz="1600" b="0" i="0" u="none" strike="noStrike" kern="1200" cap="none" spc="0" normalizeH="0" baseline="0" noProof="0" dirty="0">
                <a:ln>
                  <a:noFill/>
                </a:ln>
                <a:solidFill>
                  <a:srgbClr val="E7E6E6">
                    <a:lumMod val="50000"/>
                  </a:srgbClr>
                </a:solidFill>
                <a:effectLst/>
                <a:uLnTx/>
                <a:uFillTx/>
                <a:latin typeface="Univers 57 Condensed" pitchFamily="2" charset="0"/>
                <a:ea typeface="+mn-ea"/>
                <a:cs typeface="Calibri"/>
              </a:rPr>
              <a:t>Medco E&amp;P Grissik | 6</a:t>
            </a:r>
            <a:r>
              <a:rPr lang="sv-SE" sz="1600" dirty="0">
                <a:solidFill>
                  <a:srgbClr val="E7E6E6">
                    <a:lumMod val="50000"/>
                  </a:srgbClr>
                </a:solidFill>
                <a:latin typeface="Univers 57 Condensed" pitchFamily="2" charset="0"/>
                <a:cs typeface="Calibri"/>
              </a:rPr>
              <a:t>th</a:t>
            </a:r>
            <a:r>
              <a:rPr kumimoji="0" lang="sv-SE" sz="1600" b="0" i="0" u="none" strike="noStrike" kern="1200" cap="none" spc="0" normalizeH="0" baseline="0" noProof="0" dirty="0">
                <a:ln>
                  <a:noFill/>
                </a:ln>
                <a:solidFill>
                  <a:srgbClr val="E7E6E6">
                    <a:lumMod val="50000"/>
                  </a:srgbClr>
                </a:solidFill>
                <a:effectLst/>
                <a:uLnTx/>
                <a:uFillTx/>
                <a:latin typeface="Univers 57 Condensed" pitchFamily="2" charset="0"/>
                <a:ea typeface="+mn-ea"/>
                <a:cs typeface="Calibri"/>
              </a:rPr>
              <a:t> Jun 2026</a:t>
            </a:r>
          </a:p>
        </p:txBody>
      </p:sp>
      <p:sp>
        <p:nvSpPr>
          <p:cNvPr id="3" name="TextBox 2">
            <a:extLst>
              <a:ext uri="{FF2B5EF4-FFF2-40B4-BE49-F238E27FC236}">
                <a16:creationId xmlns:a16="http://schemas.microsoft.com/office/drawing/2014/main" id="{2612D803-E5A4-ED19-EE20-6D979FB09F36}"/>
              </a:ext>
            </a:extLst>
          </p:cNvPr>
          <p:cNvSpPr txBox="1"/>
          <p:nvPr/>
        </p:nvSpPr>
        <p:spPr>
          <a:xfrm>
            <a:off x="683202" y="3030472"/>
            <a:ext cx="6872222" cy="523220"/>
          </a:xfrm>
          <a:prstGeom prst="rect">
            <a:avLst/>
          </a:prstGeom>
          <a:noFill/>
          <a:effectLst/>
        </p:spPr>
        <p:txBody>
          <a:bodyPr wrap="square" lIns="0" rIns="0" rtlCol="0">
            <a:noAutofit/>
          </a:bodyPr>
          <a:lstStyle/>
          <a:p>
            <a:pPr marL="0" marR="0" lvl="0" indent="0" algn="l" defTabSz="914400" rtl="0" eaLnBrk="1" fontAlgn="auto" latinLnBrk="0" hangingPunct="1">
              <a:lnSpc>
                <a:spcPts val="3900"/>
              </a:lnSpc>
              <a:spcBef>
                <a:spcPts val="0"/>
              </a:spcBef>
              <a:spcAft>
                <a:spcPts val="0"/>
              </a:spcAft>
              <a:buClrTx/>
              <a:buSzTx/>
              <a:buFontTx/>
              <a:buNone/>
              <a:tabLst/>
              <a:defRPr/>
            </a:pPr>
            <a:r>
              <a:rPr kumimoji="0" lang="en-US" sz="3800" b="1" i="0" u="none" strike="noStrike" kern="1200" cap="none" spc="0" normalizeH="0" baseline="0" noProof="0" dirty="0">
                <a:ln>
                  <a:noFill/>
                </a:ln>
                <a:solidFill>
                  <a:srgbClr val="0070C0"/>
                </a:solidFill>
                <a:effectLst/>
                <a:uLnTx/>
                <a:uFillTx/>
                <a:latin typeface="Univers LT Std 47 Cn Lt" panose="020B0506020202050204" pitchFamily="34" charset="0"/>
                <a:ea typeface="+mn-ea"/>
                <a:cs typeface="Arial Narrow" panose="020B0604020202020204" pitchFamily="34" charset="0"/>
              </a:rPr>
              <a:t>MEPG Integrated Planning Process </a:t>
            </a:r>
            <a:r>
              <a:rPr lang="en-US" sz="3800" b="1" dirty="0">
                <a:solidFill>
                  <a:srgbClr val="0070C0"/>
                </a:solidFill>
                <a:latin typeface="Univers LT Std 47 Cn Lt" panose="020B0506020202050204" pitchFamily="34" charset="0"/>
                <a:cs typeface="Calibri"/>
              </a:rPr>
              <a:t>Revision (4</a:t>
            </a:r>
            <a:r>
              <a:rPr lang="en-US" sz="3800" b="1" baseline="30000" dirty="0">
                <a:solidFill>
                  <a:srgbClr val="0070C0"/>
                </a:solidFill>
                <a:latin typeface="Univers LT Std 47 Cn Lt" panose="020B0506020202050204" pitchFamily="34" charset="0"/>
                <a:cs typeface="Calibri"/>
              </a:rPr>
              <a:t>th</a:t>
            </a:r>
            <a:r>
              <a:rPr lang="en-US" sz="3800" b="1" dirty="0">
                <a:solidFill>
                  <a:srgbClr val="0070C0"/>
                </a:solidFill>
                <a:latin typeface="Univers LT Std 47 Cn Lt" panose="020B0506020202050204" pitchFamily="34" charset="0"/>
                <a:cs typeface="Calibri"/>
              </a:rPr>
              <a:t> Version)</a:t>
            </a:r>
            <a:endParaRPr kumimoji="0" lang="en-US" sz="3800" b="1" i="0" u="none" strike="noStrike" kern="1200" cap="none" spc="0" normalizeH="0" baseline="0" noProof="0" dirty="0">
              <a:ln>
                <a:noFill/>
              </a:ln>
              <a:solidFill>
                <a:srgbClr val="006CB8"/>
              </a:solidFill>
              <a:effectLst/>
              <a:uLnTx/>
              <a:uFillTx/>
              <a:latin typeface="Univers 67 Condensed" pitchFamily="2" charset="0"/>
              <a:ea typeface="+mn-ea"/>
              <a:cs typeface="Calibri"/>
            </a:endParaRPr>
          </a:p>
        </p:txBody>
      </p:sp>
    </p:spTree>
    <p:extLst>
      <p:ext uri="{BB962C8B-B14F-4D97-AF65-F5344CB8AC3E}">
        <p14:creationId xmlns:p14="http://schemas.microsoft.com/office/powerpoint/2010/main" val="3764021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3E650-CD95-B65B-CFCC-D62AF585BD6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A4729D1-61B6-24A0-41F8-74BD45B44317}"/>
              </a:ext>
            </a:extLst>
          </p:cNvPr>
          <p:cNvSpPr txBox="1"/>
          <p:nvPr/>
        </p:nvSpPr>
        <p:spPr>
          <a:xfrm>
            <a:off x="233199" y="194210"/>
            <a:ext cx="10569187" cy="523220"/>
          </a:xfrm>
          <a:prstGeom prst="rect">
            <a:avLst/>
          </a:prstGeom>
          <a:noFill/>
        </p:spPr>
        <p:txBody>
          <a:bodyPr wrap="square" rtlCol="0">
            <a:noAutofit/>
          </a:bodyPr>
          <a:lstStyle/>
          <a:p>
            <a:pPr lvl="0">
              <a:defRPr/>
            </a:pPr>
            <a:r>
              <a:rPr lang="en-US" sz="2800" b="1" dirty="0">
                <a:solidFill>
                  <a:srgbClr val="004C8F"/>
                </a:solidFill>
                <a:latin typeface="Univers 67 Condensed" pitchFamily="2" charset="0"/>
                <a:cs typeface="Calibri"/>
              </a:rPr>
              <a:t>Executive Summary</a:t>
            </a:r>
            <a:endParaRPr lang="en-US" sz="2800" dirty="0">
              <a:solidFill>
                <a:srgbClr val="004C8F"/>
              </a:solidFill>
              <a:latin typeface="Univers 57 Condensed" panose="020B0606020202060204" pitchFamily="34" charset="0"/>
              <a:cs typeface="Calibri"/>
            </a:endParaRPr>
          </a:p>
        </p:txBody>
      </p:sp>
      <p:sp>
        <p:nvSpPr>
          <p:cNvPr id="11" name="Rectangle 10">
            <a:extLst>
              <a:ext uri="{FF2B5EF4-FFF2-40B4-BE49-F238E27FC236}">
                <a16:creationId xmlns:a16="http://schemas.microsoft.com/office/drawing/2014/main" id="{C26765FA-B562-24F4-2D27-1259FF6C91BB}"/>
              </a:ext>
            </a:extLst>
          </p:cNvPr>
          <p:cNvSpPr/>
          <p:nvPr/>
        </p:nvSpPr>
        <p:spPr>
          <a:xfrm>
            <a:off x="0" y="870826"/>
            <a:ext cx="12192000" cy="435460"/>
          </a:xfrm>
          <a:prstGeom prst="rect">
            <a:avLst/>
          </a:prstGeom>
          <a:solidFill>
            <a:srgbClr val="0070C0"/>
          </a:solidFill>
          <a:ln w="9525" cap="flat" cmpd="sng" algn="ctr">
            <a:noFill/>
            <a:prstDash val="solid"/>
          </a:ln>
          <a:effectLst/>
        </p:spPr>
        <p:txBody>
          <a:bodyPr rtlCol="0" anchor="ctr"/>
          <a:lstStyle/>
          <a:p>
            <a:pPr lvl="0"/>
            <a:r>
              <a:rPr lang="en-ID" sz="1400" dirty="0">
                <a:solidFill>
                  <a:prstClr val="white"/>
                </a:solidFill>
                <a:latin typeface="Univers 57 Condensed" panose="020B0606020202060204" pitchFamily="34" charset="0"/>
              </a:rPr>
              <a:t>Headline #1: Talk about what changed</a:t>
            </a:r>
            <a:endParaRPr lang="en-US" sz="1400" dirty="0">
              <a:solidFill>
                <a:prstClr val="white"/>
              </a:solidFill>
              <a:latin typeface="Univers 57 Condensed" panose="020B0606020202060204" pitchFamily="34" charset="0"/>
            </a:endParaRPr>
          </a:p>
        </p:txBody>
      </p:sp>
      <p:sp>
        <p:nvSpPr>
          <p:cNvPr id="5" name="Rectangle 4">
            <a:extLst>
              <a:ext uri="{FF2B5EF4-FFF2-40B4-BE49-F238E27FC236}">
                <a16:creationId xmlns:a16="http://schemas.microsoft.com/office/drawing/2014/main" id="{151DED80-2EFE-B7E5-D858-FEA8399F700D}"/>
              </a:ext>
            </a:extLst>
          </p:cNvPr>
          <p:cNvSpPr/>
          <p:nvPr/>
        </p:nvSpPr>
        <p:spPr>
          <a:xfrm>
            <a:off x="493363" y="1573594"/>
            <a:ext cx="10956957" cy="44919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D" b="1" dirty="0"/>
              <a:t>Before Situation/Table</a:t>
            </a:r>
            <a:br>
              <a:rPr lang="en-ID" b="1" dirty="0"/>
            </a:br>
            <a:r>
              <a:rPr lang="en-ID" b="1" dirty="0"/>
              <a:t>Col:</a:t>
            </a:r>
            <a:br>
              <a:rPr lang="en-ID" b="1" dirty="0"/>
            </a:br>
            <a:r>
              <a:rPr lang="en-ID" b="1" dirty="0"/>
              <a:t>L1: Dimension to Cover</a:t>
            </a:r>
          </a:p>
          <a:p>
            <a:r>
              <a:rPr lang="en-ID" b="1" dirty="0"/>
              <a:t>L2: Factors per Dimension</a:t>
            </a:r>
          </a:p>
          <a:p>
            <a:r>
              <a:rPr lang="en-ID" b="1" dirty="0"/>
              <a:t>L3: Before (current)</a:t>
            </a:r>
          </a:p>
          <a:p>
            <a:r>
              <a:rPr lang="en-ID" b="1" dirty="0"/>
              <a:t>L4: Added Changes (v4 version)</a:t>
            </a:r>
            <a:br>
              <a:rPr lang="en-ID" b="1" dirty="0"/>
            </a:br>
            <a:r>
              <a:rPr lang="en-ID" b="1" dirty="0"/>
              <a:t>L5: Rationale</a:t>
            </a:r>
          </a:p>
          <a:p>
            <a:endParaRPr lang="en-ID" b="1" dirty="0"/>
          </a:p>
          <a:p>
            <a:r>
              <a:rPr lang="en-ID" b="1" dirty="0"/>
              <a:t>Row: </a:t>
            </a:r>
          </a:p>
          <a:p>
            <a:pPr marL="285750" indent="-285750">
              <a:buFontTx/>
              <a:buChar char="-"/>
            </a:pPr>
            <a:r>
              <a:rPr lang="en-ID" b="1" dirty="0"/>
              <a:t>Concept/Strategy</a:t>
            </a:r>
          </a:p>
          <a:p>
            <a:pPr marL="285750" indent="-285750">
              <a:buFontTx/>
              <a:buChar char="-"/>
            </a:pPr>
            <a:r>
              <a:rPr lang="en-ID" b="1" dirty="0"/>
              <a:t>Work Process/System</a:t>
            </a:r>
          </a:p>
          <a:p>
            <a:pPr marL="285750" indent="-285750">
              <a:buFontTx/>
              <a:buChar char="-"/>
            </a:pPr>
            <a:r>
              <a:rPr lang="en-ID" b="1" dirty="0"/>
              <a:t>Management of Plans</a:t>
            </a:r>
          </a:p>
          <a:p>
            <a:pPr marL="285750" indent="-285750">
              <a:buFontTx/>
              <a:buChar char="-"/>
            </a:pPr>
            <a:r>
              <a:rPr lang="en-ID" b="1" dirty="0"/>
              <a:t>Performance Assessment</a:t>
            </a:r>
          </a:p>
          <a:p>
            <a:pPr marL="285750" indent="-285750">
              <a:buFontTx/>
              <a:buChar char="-"/>
            </a:pPr>
            <a:r>
              <a:rPr lang="en-ID" b="1" dirty="0"/>
              <a:t>Continuous Achievement</a:t>
            </a:r>
            <a:endParaRPr lang="en-US" b="1" dirty="0"/>
          </a:p>
        </p:txBody>
      </p:sp>
    </p:spTree>
    <p:extLst>
      <p:ext uri="{BB962C8B-B14F-4D97-AF65-F5344CB8AC3E}">
        <p14:creationId xmlns:p14="http://schemas.microsoft.com/office/powerpoint/2010/main" val="1459855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DB26D-99A9-685F-7B13-C6B7A43184B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3A8BD9A-00A2-3A06-AC42-7560034DD6DF}"/>
              </a:ext>
            </a:extLst>
          </p:cNvPr>
          <p:cNvSpPr txBox="1"/>
          <p:nvPr/>
        </p:nvSpPr>
        <p:spPr>
          <a:xfrm>
            <a:off x="233199" y="194210"/>
            <a:ext cx="10569187" cy="523220"/>
          </a:xfrm>
          <a:prstGeom prst="rect">
            <a:avLst/>
          </a:prstGeom>
          <a:noFill/>
        </p:spPr>
        <p:txBody>
          <a:bodyPr wrap="square" rtlCol="0">
            <a:noAutofit/>
          </a:bodyPr>
          <a:lstStyle/>
          <a:p>
            <a:pPr lvl="0">
              <a:defRPr/>
            </a:pPr>
            <a:r>
              <a:rPr lang="en-ID" sz="2800" b="1" dirty="0">
                <a:solidFill>
                  <a:srgbClr val="004C8F"/>
                </a:solidFill>
                <a:latin typeface="Univers 67 Condensed" pitchFamily="2" charset="0"/>
                <a:cs typeface="Calibri"/>
              </a:rPr>
              <a:t>Key Changes – Concept/Strategy of Integrated Planning</a:t>
            </a:r>
            <a:endParaRPr lang="en-US" sz="2800" dirty="0">
              <a:solidFill>
                <a:srgbClr val="004C8F"/>
              </a:solidFill>
              <a:latin typeface="Univers 57 Condensed" panose="020B0606020202060204" pitchFamily="34" charset="0"/>
              <a:cs typeface="Calibri"/>
            </a:endParaRPr>
          </a:p>
        </p:txBody>
      </p:sp>
      <p:sp>
        <p:nvSpPr>
          <p:cNvPr id="11" name="Rectangle 10">
            <a:extLst>
              <a:ext uri="{FF2B5EF4-FFF2-40B4-BE49-F238E27FC236}">
                <a16:creationId xmlns:a16="http://schemas.microsoft.com/office/drawing/2014/main" id="{2C5E71D9-6BFC-17B0-B209-37B2FDFC70F9}"/>
              </a:ext>
            </a:extLst>
          </p:cNvPr>
          <p:cNvSpPr/>
          <p:nvPr/>
        </p:nvSpPr>
        <p:spPr>
          <a:xfrm>
            <a:off x="0" y="870826"/>
            <a:ext cx="12192000" cy="435460"/>
          </a:xfrm>
          <a:prstGeom prst="rect">
            <a:avLst/>
          </a:prstGeom>
          <a:solidFill>
            <a:srgbClr val="0070C0"/>
          </a:solidFill>
          <a:ln w="9525" cap="flat" cmpd="sng" algn="ctr">
            <a:noFill/>
            <a:prstDash val="solid"/>
          </a:ln>
          <a:effectLst/>
        </p:spPr>
        <p:txBody>
          <a:bodyPr rtlCol="0" anchor="ctr"/>
          <a:lstStyle/>
          <a:p>
            <a:pPr lvl="0"/>
            <a:r>
              <a:rPr lang="en-ID" sz="1400" dirty="0">
                <a:solidFill>
                  <a:prstClr val="white"/>
                </a:solidFill>
                <a:latin typeface="Univers 57 Condensed" panose="020B0606020202060204" pitchFamily="34" charset="0"/>
              </a:rPr>
              <a:t>Headline #1: Talk about what changed</a:t>
            </a:r>
            <a:endParaRPr lang="en-US" sz="1400" dirty="0">
              <a:solidFill>
                <a:prstClr val="white"/>
              </a:solidFill>
              <a:latin typeface="Univers 57 Condensed" panose="020B0606020202060204" pitchFamily="34" charset="0"/>
            </a:endParaRPr>
          </a:p>
        </p:txBody>
      </p:sp>
      <p:sp>
        <p:nvSpPr>
          <p:cNvPr id="58" name="Rectangle 57">
            <a:extLst>
              <a:ext uri="{FF2B5EF4-FFF2-40B4-BE49-F238E27FC236}">
                <a16:creationId xmlns:a16="http://schemas.microsoft.com/office/drawing/2014/main" id="{845C1EE9-D28F-1F22-E40F-0A487303416D}"/>
              </a:ext>
            </a:extLst>
          </p:cNvPr>
          <p:cNvSpPr/>
          <p:nvPr/>
        </p:nvSpPr>
        <p:spPr>
          <a:xfrm>
            <a:off x="233199" y="1729740"/>
            <a:ext cx="11044401" cy="40462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D" dirty="0"/>
              <a:t>Before vs After</a:t>
            </a:r>
            <a:br>
              <a:rPr lang="en-ID" dirty="0"/>
            </a:br>
            <a:r>
              <a:rPr lang="en-ID" dirty="0"/>
              <a:t>1) Objective of Integrated Planning as a list</a:t>
            </a:r>
          </a:p>
          <a:p>
            <a:pPr algn="ctr"/>
            <a:endParaRPr lang="en-ID" dirty="0"/>
          </a:p>
          <a:p>
            <a:pPr algn="ctr"/>
            <a:endParaRPr lang="en-ID" dirty="0"/>
          </a:p>
          <a:p>
            <a:pPr algn="ctr"/>
            <a:r>
              <a:rPr lang="en-ID" dirty="0"/>
              <a:t>After:</a:t>
            </a:r>
            <a:br>
              <a:rPr lang="en-ID" dirty="0"/>
            </a:br>
            <a:r>
              <a:rPr lang="en-ID" dirty="0"/>
              <a:t>1) Simplify wording -&gt; added how to (expected to do) &amp; values to business philosophy</a:t>
            </a:r>
          </a:p>
          <a:p>
            <a:pPr algn="ctr"/>
            <a:r>
              <a:rPr lang="en-ID" dirty="0"/>
              <a:t>(show table)</a:t>
            </a:r>
            <a:endParaRPr lang="en-US" dirty="0"/>
          </a:p>
        </p:txBody>
      </p:sp>
    </p:spTree>
    <p:extLst>
      <p:ext uri="{BB962C8B-B14F-4D97-AF65-F5344CB8AC3E}">
        <p14:creationId xmlns:p14="http://schemas.microsoft.com/office/powerpoint/2010/main" val="3205352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A1A2E-30F0-7A25-987D-135CEFFD1286}"/>
            </a:ext>
          </a:extLst>
        </p:cNvPr>
        <p:cNvGrpSpPr/>
        <p:nvPr/>
      </p:nvGrpSpPr>
      <p:grpSpPr>
        <a:xfrm>
          <a:off x="0" y="0"/>
          <a:ext cx="0" cy="0"/>
          <a:chOff x="0" y="0"/>
          <a:chExt cx="0" cy="0"/>
        </a:xfrm>
      </p:grpSpPr>
      <p:pic>
        <p:nvPicPr>
          <p:cNvPr id="42" name="Picture 41">
            <a:extLst>
              <a:ext uri="{FF2B5EF4-FFF2-40B4-BE49-F238E27FC236}">
                <a16:creationId xmlns:a16="http://schemas.microsoft.com/office/drawing/2014/main" id="{CA4DD245-868A-E6E3-C080-843D93E822A1}"/>
              </a:ext>
            </a:extLst>
          </p:cNvPr>
          <p:cNvPicPr>
            <a:picLocks noChangeAspect="1"/>
          </p:cNvPicPr>
          <p:nvPr/>
        </p:nvPicPr>
        <p:blipFill>
          <a:blip r:embed="rId3"/>
          <a:srcRect l="1057" t="2884" r="1182" b="2884"/>
          <a:stretch>
            <a:fillRect/>
          </a:stretch>
        </p:blipFill>
        <p:spPr>
          <a:xfrm>
            <a:off x="6431280" y="1935480"/>
            <a:ext cx="5509260" cy="2987040"/>
          </a:xfrm>
          <a:prstGeom prst="rect">
            <a:avLst/>
          </a:prstGeom>
        </p:spPr>
      </p:pic>
      <p:sp>
        <p:nvSpPr>
          <p:cNvPr id="44" name="TextBox 43">
            <a:extLst>
              <a:ext uri="{FF2B5EF4-FFF2-40B4-BE49-F238E27FC236}">
                <a16:creationId xmlns:a16="http://schemas.microsoft.com/office/drawing/2014/main" id="{30D4B5EA-BEAF-1381-1F87-E3172838415E}"/>
              </a:ext>
            </a:extLst>
          </p:cNvPr>
          <p:cNvSpPr txBox="1"/>
          <p:nvPr/>
        </p:nvSpPr>
        <p:spPr>
          <a:xfrm>
            <a:off x="233199" y="194210"/>
            <a:ext cx="10569187" cy="523220"/>
          </a:xfrm>
          <a:prstGeom prst="rect">
            <a:avLst/>
          </a:prstGeom>
          <a:noFill/>
        </p:spPr>
        <p:txBody>
          <a:bodyPr wrap="square" rtlCol="0">
            <a:noAutofit/>
          </a:bodyPr>
          <a:lstStyle/>
          <a:p>
            <a:pPr lvl="0">
              <a:defRPr/>
            </a:pPr>
            <a:r>
              <a:rPr lang="en-ID" sz="2800" b="1" dirty="0">
                <a:solidFill>
                  <a:srgbClr val="004C8F"/>
                </a:solidFill>
                <a:latin typeface="Univers 67 Condensed" pitchFamily="2" charset="0"/>
                <a:cs typeface="Calibri"/>
              </a:rPr>
              <a:t>Key Changes – Horizon Change to Reflect MEPG’s Current Practice</a:t>
            </a:r>
            <a:endParaRPr lang="en-US" sz="2800" dirty="0">
              <a:solidFill>
                <a:srgbClr val="004C8F"/>
              </a:solidFill>
              <a:latin typeface="Univers 57 Condensed" panose="020B0606020202060204" pitchFamily="34" charset="0"/>
              <a:cs typeface="Calibri"/>
            </a:endParaRPr>
          </a:p>
        </p:txBody>
      </p:sp>
      <p:sp>
        <p:nvSpPr>
          <p:cNvPr id="45" name="Rectangle 44">
            <a:extLst>
              <a:ext uri="{FF2B5EF4-FFF2-40B4-BE49-F238E27FC236}">
                <a16:creationId xmlns:a16="http://schemas.microsoft.com/office/drawing/2014/main" id="{2E398880-40FF-9542-F639-4D29CEE9C400}"/>
              </a:ext>
            </a:extLst>
          </p:cNvPr>
          <p:cNvSpPr/>
          <p:nvPr/>
        </p:nvSpPr>
        <p:spPr>
          <a:xfrm>
            <a:off x="0" y="870826"/>
            <a:ext cx="12192000" cy="435460"/>
          </a:xfrm>
          <a:prstGeom prst="rect">
            <a:avLst/>
          </a:prstGeom>
          <a:solidFill>
            <a:srgbClr val="0070C0"/>
          </a:solidFill>
          <a:ln w="9525" cap="flat" cmpd="sng" algn="ctr">
            <a:noFill/>
            <a:prstDash val="solid"/>
          </a:ln>
          <a:effectLst/>
        </p:spPr>
        <p:txBody>
          <a:bodyPr rtlCol="0" anchor="ctr"/>
          <a:lstStyle/>
          <a:p>
            <a:pPr lvl="0"/>
            <a:r>
              <a:rPr lang="en-ID" sz="1400" dirty="0">
                <a:solidFill>
                  <a:prstClr val="white"/>
                </a:solidFill>
                <a:latin typeface="Univers 57 Condensed" panose="020B0606020202060204" pitchFamily="34" charset="0"/>
              </a:rPr>
              <a:t>Headline #1: Talk about what changed</a:t>
            </a:r>
            <a:endParaRPr lang="en-US" sz="1400" dirty="0">
              <a:solidFill>
                <a:prstClr val="white"/>
              </a:solidFill>
              <a:latin typeface="Univers 57 Condensed" panose="020B0606020202060204" pitchFamily="34" charset="0"/>
            </a:endParaRPr>
          </a:p>
        </p:txBody>
      </p:sp>
      <p:sp>
        <p:nvSpPr>
          <p:cNvPr id="46" name="TextBox 45">
            <a:extLst>
              <a:ext uri="{FF2B5EF4-FFF2-40B4-BE49-F238E27FC236}">
                <a16:creationId xmlns:a16="http://schemas.microsoft.com/office/drawing/2014/main" id="{498BDAAA-200E-8F98-9699-0EE6FBCAC4F8}"/>
              </a:ext>
            </a:extLst>
          </p:cNvPr>
          <p:cNvSpPr txBox="1"/>
          <p:nvPr/>
        </p:nvSpPr>
        <p:spPr>
          <a:xfrm>
            <a:off x="606949" y="1481659"/>
            <a:ext cx="3876734" cy="258853"/>
          </a:xfrm>
          <a:prstGeom prst="rect">
            <a:avLst/>
          </a:prstGeom>
          <a:solidFill>
            <a:schemeClr val="bg1"/>
          </a:solidFill>
        </p:spPr>
        <p:txBody>
          <a:bodyPr wrap="square" lIns="91440" rIns="45720" rtlCol="0" anchor="ctr" anchorCtr="0">
            <a:noAutofit/>
          </a:bodyPr>
          <a:lstStyle/>
          <a:p>
            <a:r>
              <a:rPr lang="en-US" sz="1600" b="1" dirty="0">
                <a:latin typeface="Univers 57 Condensed" pitchFamily="50" charset="0"/>
              </a:rPr>
              <a:t>Before – Horizon still refers to heritage</a:t>
            </a:r>
            <a:endParaRPr lang="en-US" sz="1600" b="1" i="1" dirty="0">
              <a:latin typeface="Univers 57 Condensed" pitchFamily="50" charset="0"/>
            </a:endParaRPr>
          </a:p>
        </p:txBody>
      </p:sp>
      <p:sp>
        <p:nvSpPr>
          <p:cNvPr id="47" name="Rectangle 46">
            <a:extLst>
              <a:ext uri="{FF2B5EF4-FFF2-40B4-BE49-F238E27FC236}">
                <a16:creationId xmlns:a16="http://schemas.microsoft.com/office/drawing/2014/main" id="{29A944E4-4FA9-4CB3-C181-725096B20E74}"/>
              </a:ext>
            </a:extLst>
          </p:cNvPr>
          <p:cNvSpPr/>
          <p:nvPr/>
        </p:nvSpPr>
        <p:spPr>
          <a:xfrm>
            <a:off x="163358" y="1466250"/>
            <a:ext cx="310869" cy="30737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1</a:t>
            </a:r>
          </a:p>
        </p:txBody>
      </p:sp>
      <p:cxnSp>
        <p:nvCxnSpPr>
          <p:cNvPr id="48" name="Straight Connector 47">
            <a:extLst>
              <a:ext uri="{FF2B5EF4-FFF2-40B4-BE49-F238E27FC236}">
                <a16:creationId xmlns:a16="http://schemas.microsoft.com/office/drawing/2014/main" id="{473D6E98-C322-D79C-7D5B-4665C6300F3E}"/>
              </a:ext>
            </a:extLst>
          </p:cNvPr>
          <p:cNvCxnSpPr>
            <a:cxnSpLocks/>
          </p:cNvCxnSpPr>
          <p:nvPr/>
        </p:nvCxnSpPr>
        <p:spPr>
          <a:xfrm>
            <a:off x="163358" y="1773624"/>
            <a:ext cx="5734522" cy="0"/>
          </a:xfrm>
          <a:prstGeom prst="line">
            <a:avLst/>
          </a:prstGeom>
          <a:ln w="6350">
            <a:solidFill>
              <a:srgbClr val="004C8F"/>
            </a:solidFill>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9E63E3EF-BD8D-DA18-3D93-987064196EC6}"/>
              </a:ext>
            </a:extLst>
          </p:cNvPr>
          <p:cNvSpPr txBox="1"/>
          <p:nvPr/>
        </p:nvSpPr>
        <p:spPr>
          <a:xfrm>
            <a:off x="6796254" y="1497068"/>
            <a:ext cx="5136665" cy="258853"/>
          </a:xfrm>
          <a:prstGeom prst="rect">
            <a:avLst/>
          </a:prstGeom>
          <a:solidFill>
            <a:schemeClr val="bg1"/>
          </a:solidFill>
        </p:spPr>
        <p:txBody>
          <a:bodyPr wrap="square" lIns="91440" rIns="45720" rtlCol="0" anchor="ctr" anchorCtr="0">
            <a:noAutofit/>
          </a:bodyPr>
          <a:lstStyle/>
          <a:p>
            <a:r>
              <a:rPr lang="en-US" sz="1600" b="1" dirty="0">
                <a:latin typeface="Univers 57 Condensed" pitchFamily="50" charset="0"/>
              </a:rPr>
              <a:t>After – Updated to reflect MEPG’s current practice</a:t>
            </a:r>
            <a:endParaRPr lang="en-US" sz="1600" b="1" i="1" dirty="0">
              <a:latin typeface="Univers 57 Condensed" pitchFamily="50" charset="0"/>
            </a:endParaRPr>
          </a:p>
        </p:txBody>
      </p:sp>
      <p:sp>
        <p:nvSpPr>
          <p:cNvPr id="50" name="Rectangle 49">
            <a:extLst>
              <a:ext uri="{FF2B5EF4-FFF2-40B4-BE49-F238E27FC236}">
                <a16:creationId xmlns:a16="http://schemas.microsoft.com/office/drawing/2014/main" id="{AED93041-936F-ED8D-AF7E-BFF9847AFEB4}"/>
              </a:ext>
            </a:extLst>
          </p:cNvPr>
          <p:cNvSpPr/>
          <p:nvPr/>
        </p:nvSpPr>
        <p:spPr>
          <a:xfrm>
            <a:off x="6352664" y="1481659"/>
            <a:ext cx="310869" cy="30737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2</a:t>
            </a:r>
          </a:p>
        </p:txBody>
      </p:sp>
      <p:cxnSp>
        <p:nvCxnSpPr>
          <p:cNvPr id="51" name="Straight Connector 50">
            <a:extLst>
              <a:ext uri="{FF2B5EF4-FFF2-40B4-BE49-F238E27FC236}">
                <a16:creationId xmlns:a16="http://schemas.microsoft.com/office/drawing/2014/main" id="{11DECD39-B06B-4B8D-5869-7F46B5AC3648}"/>
              </a:ext>
            </a:extLst>
          </p:cNvPr>
          <p:cNvCxnSpPr>
            <a:cxnSpLocks/>
          </p:cNvCxnSpPr>
          <p:nvPr/>
        </p:nvCxnSpPr>
        <p:spPr>
          <a:xfrm>
            <a:off x="6352664" y="1789033"/>
            <a:ext cx="5860546" cy="0"/>
          </a:xfrm>
          <a:prstGeom prst="line">
            <a:avLst/>
          </a:prstGeom>
          <a:ln w="6350">
            <a:solidFill>
              <a:srgbClr val="004C8F"/>
            </a:solidFill>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5F300C55-18ED-1918-774B-5F27BE383B8D}"/>
              </a:ext>
            </a:extLst>
          </p:cNvPr>
          <p:cNvSpPr txBox="1"/>
          <p:nvPr/>
        </p:nvSpPr>
        <p:spPr>
          <a:xfrm>
            <a:off x="434461" y="4922520"/>
            <a:ext cx="5516759" cy="1386699"/>
          </a:xfrm>
          <a:prstGeom prst="rect">
            <a:avLst/>
          </a:prstGeom>
          <a:solidFill>
            <a:schemeClr val="bg1">
              <a:lumMod val="95000"/>
            </a:schemeClr>
          </a:solidFill>
          <a:ln>
            <a:noFill/>
          </a:ln>
        </p:spPr>
        <p:txBody>
          <a:bodyPr wrap="square" lIns="91440" rIns="45720" rtlCol="0" anchor="ctr" anchorCtr="0">
            <a:noAutofit/>
          </a:bodyPr>
          <a:lstStyle/>
          <a:p>
            <a:r>
              <a:rPr lang="en-US" sz="1200" b="1" u="sng" dirty="0">
                <a:latin typeface="Univers 57 Condensed" panose="020B0606020202060204" pitchFamily="34" charset="0"/>
              </a:rPr>
              <a:t>Key Highlights:</a:t>
            </a:r>
          </a:p>
          <a:p>
            <a:pPr marL="342900" indent="-342900">
              <a:buFont typeface="+mj-lt"/>
              <a:buAutoNum type="arabicPeriod"/>
            </a:pPr>
            <a:r>
              <a:rPr lang="en-US" sz="1200" dirty="0">
                <a:latin typeface="Univers 57 Condensed" panose="020B0606020202060204" pitchFamily="34" charset="0"/>
              </a:rPr>
              <a:t>Recurring OPEX is concentrated in 6  main cost buckets.</a:t>
            </a:r>
            <a:endParaRPr lang="en-US" sz="1200" i="1" dirty="0">
              <a:latin typeface="Univers 57 Condensed" panose="020B0606020202060204" pitchFamily="34" charset="0"/>
            </a:endParaRPr>
          </a:p>
          <a:p>
            <a:pPr marL="342900" indent="-342900">
              <a:buFont typeface="+mj-lt"/>
              <a:buAutoNum type="arabicPeriod"/>
            </a:pPr>
            <a:r>
              <a:rPr lang="en-US" sz="1200" dirty="0">
                <a:latin typeface="Univers 57 Condensed" panose="020B0606020202060204" pitchFamily="34" charset="0"/>
              </a:rPr>
              <a:t>Largest cost drivers are maintenance, consumables, &amp; external support</a:t>
            </a:r>
          </a:p>
          <a:p>
            <a:pPr marL="342900" indent="-342900">
              <a:buFont typeface="+mj-lt"/>
              <a:buAutoNum type="arabicPeriod"/>
            </a:pPr>
            <a:r>
              <a:rPr lang="en-US" sz="1200" dirty="0">
                <a:latin typeface="Univers 57 Condensed" panose="020B0606020202060204" pitchFamily="34" charset="0"/>
              </a:rPr>
              <a:t>If not properly addressed, these cost may keep increasing over the years.</a:t>
            </a:r>
          </a:p>
          <a:p>
            <a:pPr marL="342900" indent="-342900">
              <a:buFont typeface="+mj-lt"/>
              <a:buAutoNum type="arabicPeriod"/>
            </a:pPr>
            <a:r>
              <a:rPr lang="en-US" sz="1200" dirty="0">
                <a:latin typeface="Univers 57 Condensed" panose="020B0606020202060204" pitchFamily="34" charset="0"/>
              </a:rPr>
              <a:t>Hence, review in </a:t>
            </a:r>
            <a:r>
              <a:rPr lang="en-US" sz="1200" b="1" i="1" dirty="0">
                <a:latin typeface="Univers 57 Condensed" panose="020B0606020202060204" pitchFamily="34" charset="0"/>
              </a:rPr>
              <a:t>utilization, criticality, and operating mode </a:t>
            </a:r>
            <a:r>
              <a:rPr lang="en-US" sz="1200" dirty="0">
                <a:latin typeface="Univers 57 Condensed" panose="020B0606020202060204" pitchFamily="34" charset="0"/>
              </a:rPr>
              <a:t>need to be review.</a:t>
            </a:r>
          </a:p>
        </p:txBody>
      </p:sp>
      <p:sp>
        <p:nvSpPr>
          <p:cNvPr id="53" name="TextBox 52">
            <a:extLst>
              <a:ext uri="{FF2B5EF4-FFF2-40B4-BE49-F238E27FC236}">
                <a16:creationId xmlns:a16="http://schemas.microsoft.com/office/drawing/2014/main" id="{4C00B927-5322-0D7F-2038-8E7ECBE82069}"/>
              </a:ext>
            </a:extLst>
          </p:cNvPr>
          <p:cNvSpPr txBox="1"/>
          <p:nvPr/>
        </p:nvSpPr>
        <p:spPr>
          <a:xfrm>
            <a:off x="6532177" y="4922519"/>
            <a:ext cx="5516759" cy="1386699"/>
          </a:xfrm>
          <a:prstGeom prst="rect">
            <a:avLst/>
          </a:prstGeom>
          <a:solidFill>
            <a:schemeClr val="bg1">
              <a:lumMod val="95000"/>
            </a:schemeClr>
          </a:solidFill>
          <a:ln>
            <a:noFill/>
          </a:ln>
        </p:spPr>
        <p:txBody>
          <a:bodyPr wrap="square" lIns="91440" rIns="45720" rtlCol="0" anchor="ctr" anchorCtr="0">
            <a:noAutofit/>
          </a:bodyPr>
          <a:lstStyle/>
          <a:p>
            <a:r>
              <a:rPr lang="en-US" sz="1200" b="1" u="sng" dirty="0">
                <a:latin typeface="Univers 57 Condensed" panose="020B0606020202060204" pitchFamily="34" charset="0"/>
              </a:rPr>
              <a:t>Key Highlights:</a:t>
            </a:r>
          </a:p>
          <a:p>
            <a:pPr marL="342900" indent="-342900">
              <a:buFont typeface="+mj-lt"/>
              <a:buAutoNum type="arabicPeriod"/>
            </a:pPr>
            <a:r>
              <a:rPr lang="en-US" sz="1200" dirty="0">
                <a:latin typeface="Univers 57 Condensed" panose="020B0606020202060204" pitchFamily="34" charset="0"/>
              </a:rPr>
              <a:t>Recurring OPEX is concentrated in 6  main cost buckets.</a:t>
            </a:r>
            <a:endParaRPr lang="en-US" sz="1200" i="1" dirty="0">
              <a:latin typeface="Univers 57 Condensed" panose="020B0606020202060204" pitchFamily="34" charset="0"/>
            </a:endParaRPr>
          </a:p>
          <a:p>
            <a:pPr marL="342900" indent="-342900">
              <a:buFont typeface="+mj-lt"/>
              <a:buAutoNum type="arabicPeriod"/>
            </a:pPr>
            <a:r>
              <a:rPr lang="en-US" sz="1200" dirty="0">
                <a:latin typeface="Univers 57 Condensed" panose="020B0606020202060204" pitchFamily="34" charset="0"/>
              </a:rPr>
              <a:t>Largest cost drivers are maintenance, consumables, &amp; external support</a:t>
            </a:r>
          </a:p>
          <a:p>
            <a:pPr marL="342900" indent="-342900">
              <a:buFont typeface="+mj-lt"/>
              <a:buAutoNum type="arabicPeriod"/>
            </a:pPr>
            <a:r>
              <a:rPr lang="en-US" sz="1200" dirty="0">
                <a:latin typeface="Univers 57 Condensed" panose="020B0606020202060204" pitchFamily="34" charset="0"/>
              </a:rPr>
              <a:t>If not properly addressed, these cost may keep increasing over the years.</a:t>
            </a:r>
          </a:p>
          <a:p>
            <a:pPr marL="342900" indent="-342900">
              <a:buFont typeface="+mj-lt"/>
              <a:buAutoNum type="arabicPeriod"/>
            </a:pPr>
            <a:r>
              <a:rPr lang="en-US" sz="1200" dirty="0">
                <a:latin typeface="Univers 57 Condensed" panose="020B0606020202060204" pitchFamily="34" charset="0"/>
              </a:rPr>
              <a:t>Hence, review in </a:t>
            </a:r>
            <a:r>
              <a:rPr lang="en-US" sz="1200" b="1" i="1" dirty="0">
                <a:latin typeface="Univers 57 Condensed" panose="020B0606020202060204" pitchFamily="34" charset="0"/>
              </a:rPr>
              <a:t>utilization, criticality, and operating mode </a:t>
            </a:r>
            <a:r>
              <a:rPr lang="en-US" sz="1200" dirty="0">
                <a:latin typeface="Univers 57 Condensed" panose="020B0606020202060204" pitchFamily="34" charset="0"/>
              </a:rPr>
              <a:t>need to be review.</a:t>
            </a:r>
          </a:p>
        </p:txBody>
      </p:sp>
      <p:pic>
        <p:nvPicPr>
          <p:cNvPr id="55" name="Picture 54">
            <a:extLst>
              <a:ext uri="{FF2B5EF4-FFF2-40B4-BE49-F238E27FC236}">
                <a16:creationId xmlns:a16="http://schemas.microsoft.com/office/drawing/2014/main" id="{EBC46AA5-9568-5ADA-0978-62635B6AF3A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4227" y="1845127"/>
            <a:ext cx="5180124" cy="2939664"/>
          </a:xfrm>
          <a:prstGeom prst="rect">
            <a:avLst/>
          </a:prstGeom>
          <a:noFill/>
          <a:ln>
            <a:noFill/>
          </a:ln>
        </p:spPr>
      </p:pic>
      <p:sp>
        <p:nvSpPr>
          <p:cNvPr id="56" name="Rectangle 55">
            <a:extLst>
              <a:ext uri="{FF2B5EF4-FFF2-40B4-BE49-F238E27FC236}">
                <a16:creationId xmlns:a16="http://schemas.microsoft.com/office/drawing/2014/main" id="{D2B2C9CD-0A11-3AAC-5E27-E313AD655CEE}"/>
              </a:ext>
            </a:extLst>
          </p:cNvPr>
          <p:cNvSpPr/>
          <p:nvPr/>
        </p:nvSpPr>
        <p:spPr>
          <a:xfrm>
            <a:off x="2286000" y="2256371"/>
            <a:ext cx="6035040" cy="24460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ctr">
              <a:buAutoNum type="arabicParenR"/>
            </a:pPr>
            <a:r>
              <a:rPr lang="en-ID" dirty="0"/>
              <a:t>Added details</a:t>
            </a:r>
          </a:p>
          <a:p>
            <a:pPr marL="342900" indent="-342900" algn="ctr">
              <a:buAutoNum type="arabicParenR"/>
            </a:pPr>
            <a:r>
              <a:rPr lang="en-ID" dirty="0"/>
              <a:t>Structure out the after to have: </a:t>
            </a:r>
            <a:br>
              <a:rPr lang="en-ID" dirty="0"/>
            </a:br>
            <a:r>
              <a:rPr lang="en-ID" dirty="0"/>
              <a:t>a) Simple Explanation</a:t>
            </a:r>
            <a:r>
              <a:rPr lang="en-US" dirty="0"/>
              <a:t>, b) What is reviewed, c) Ownership, d) Approval by Who, e) Cadence Meeting (when); f) Level of Details; g) Timeframe</a:t>
            </a:r>
            <a:endParaRPr lang="en-ID" dirty="0"/>
          </a:p>
        </p:txBody>
      </p:sp>
    </p:spTree>
    <p:extLst>
      <p:ext uri="{BB962C8B-B14F-4D97-AF65-F5344CB8AC3E}">
        <p14:creationId xmlns:p14="http://schemas.microsoft.com/office/powerpoint/2010/main" val="1865291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38DAB-46AE-CA77-4288-CD2BE7C3D46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322B3B4-A265-ACC8-A208-BB18BCDF5298}"/>
              </a:ext>
            </a:extLst>
          </p:cNvPr>
          <p:cNvSpPr txBox="1"/>
          <p:nvPr/>
        </p:nvSpPr>
        <p:spPr>
          <a:xfrm>
            <a:off x="233199" y="194210"/>
            <a:ext cx="10569187" cy="523220"/>
          </a:xfrm>
          <a:prstGeom prst="rect">
            <a:avLst/>
          </a:prstGeom>
          <a:noFill/>
        </p:spPr>
        <p:txBody>
          <a:bodyPr wrap="square" rtlCol="0">
            <a:noAutofit/>
          </a:bodyPr>
          <a:lstStyle/>
          <a:p>
            <a:pPr lvl="0">
              <a:defRPr/>
            </a:pPr>
            <a:r>
              <a:rPr lang="en-ID" sz="2800" b="1" dirty="0">
                <a:solidFill>
                  <a:srgbClr val="004C8F"/>
                </a:solidFill>
                <a:latin typeface="Univers 67 Condensed" pitchFamily="2" charset="0"/>
                <a:cs typeface="Calibri"/>
              </a:rPr>
              <a:t>Key Changes – Work Processes / Systems</a:t>
            </a:r>
            <a:endParaRPr lang="en-US" sz="2800" dirty="0">
              <a:solidFill>
                <a:srgbClr val="004C8F"/>
              </a:solidFill>
              <a:latin typeface="Univers 57 Condensed" panose="020B0606020202060204" pitchFamily="34" charset="0"/>
              <a:cs typeface="Calibri"/>
            </a:endParaRPr>
          </a:p>
        </p:txBody>
      </p:sp>
      <p:sp>
        <p:nvSpPr>
          <p:cNvPr id="11" name="Rectangle 10">
            <a:extLst>
              <a:ext uri="{FF2B5EF4-FFF2-40B4-BE49-F238E27FC236}">
                <a16:creationId xmlns:a16="http://schemas.microsoft.com/office/drawing/2014/main" id="{B4357793-C399-3061-D859-1A8F8A95D26F}"/>
              </a:ext>
            </a:extLst>
          </p:cNvPr>
          <p:cNvSpPr/>
          <p:nvPr/>
        </p:nvSpPr>
        <p:spPr>
          <a:xfrm>
            <a:off x="0" y="870826"/>
            <a:ext cx="12192000" cy="435460"/>
          </a:xfrm>
          <a:prstGeom prst="rect">
            <a:avLst/>
          </a:prstGeom>
          <a:solidFill>
            <a:srgbClr val="0070C0"/>
          </a:solidFill>
          <a:ln w="9525" cap="flat" cmpd="sng" algn="ctr">
            <a:noFill/>
            <a:prstDash val="solid"/>
          </a:ln>
          <a:effectLst/>
        </p:spPr>
        <p:txBody>
          <a:bodyPr rtlCol="0" anchor="ctr"/>
          <a:lstStyle/>
          <a:p>
            <a:pPr lvl="0"/>
            <a:r>
              <a:rPr lang="en-ID" sz="1400" dirty="0">
                <a:solidFill>
                  <a:prstClr val="white"/>
                </a:solidFill>
                <a:latin typeface="Univers 57 Condensed" panose="020B0606020202060204" pitchFamily="34" charset="0"/>
              </a:rPr>
              <a:t>Headline #1: Talk about what changed</a:t>
            </a:r>
            <a:endParaRPr lang="en-US" sz="1400" dirty="0">
              <a:solidFill>
                <a:prstClr val="white"/>
              </a:solidFill>
              <a:latin typeface="Univers 57 Condensed" panose="020B0606020202060204" pitchFamily="34" charset="0"/>
            </a:endParaRPr>
          </a:p>
        </p:txBody>
      </p:sp>
      <p:sp>
        <p:nvSpPr>
          <p:cNvPr id="58" name="Rectangle 57">
            <a:extLst>
              <a:ext uri="{FF2B5EF4-FFF2-40B4-BE49-F238E27FC236}">
                <a16:creationId xmlns:a16="http://schemas.microsoft.com/office/drawing/2014/main" id="{43BA6898-0DA4-62F1-78CE-E3286E9D93A2}"/>
              </a:ext>
            </a:extLst>
          </p:cNvPr>
          <p:cNvSpPr/>
          <p:nvPr/>
        </p:nvSpPr>
        <p:spPr>
          <a:xfrm>
            <a:off x="233199" y="1729740"/>
            <a:ext cx="11044401" cy="40462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D" dirty="0"/>
              <a:t>Before:</a:t>
            </a:r>
            <a:br>
              <a:rPr lang="en-ID" dirty="0"/>
            </a:br>
            <a:r>
              <a:rPr lang="en-ID" dirty="0"/>
              <a:t>1) Stakeholders/RACI Follows old heritage process</a:t>
            </a:r>
          </a:p>
          <a:p>
            <a:pPr algn="ctr"/>
            <a:r>
              <a:rPr lang="en-ID" dirty="0"/>
              <a:t>2) Vague Govern</a:t>
            </a:r>
          </a:p>
          <a:p>
            <a:pPr algn="ctr"/>
            <a:endParaRPr lang="en-ID" dirty="0"/>
          </a:p>
          <a:p>
            <a:pPr algn="ctr"/>
            <a:endParaRPr lang="en-ID" dirty="0"/>
          </a:p>
          <a:p>
            <a:pPr algn="ctr"/>
            <a:r>
              <a:rPr lang="en-ID" dirty="0"/>
              <a:t>After:</a:t>
            </a:r>
            <a:br>
              <a:rPr lang="en-ID" dirty="0"/>
            </a:br>
            <a:r>
              <a:rPr lang="en-ID" dirty="0"/>
              <a:t>1) Abcd</a:t>
            </a:r>
          </a:p>
          <a:p>
            <a:pPr algn="ctr"/>
            <a:r>
              <a:rPr lang="en-ID" dirty="0"/>
              <a:t>2) EFGH </a:t>
            </a:r>
            <a:endParaRPr lang="en-US" dirty="0"/>
          </a:p>
        </p:txBody>
      </p:sp>
    </p:spTree>
    <p:extLst>
      <p:ext uri="{BB962C8B-B14F-4D97-AF65-F5344CB8AC3E}">
        <p14:creationId xmlns:p14="http://schemas.microsoft.com/office/powerpoint/2010/main" val="1784840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22522-6086-A0BC-FCDE-469C214CC8C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0BB8CAC-7246-C95E-08D6-C711E22BAF2D}"/>
              </a:ext>
            </a:extLst>
          </p:cNvPr>
          <p:cNvSpPr txBox="1"/>
          <p:nvPr/>
        </p:nvSpPr>
        <p:spPr>
          <a:xfrm>
            <a:off x="233199" y="194210"/>
            <a:ext cx="10569187" cy="523220"/>
          </a:xfrm>
          <a:prstGeom prst="rect">
            <a:avLst/>
          </a:prstGeom>
          <a:noFill/>
        </p:spPr>
        <p:txBody>
          <a:bodyPr wrap="square" rtlCol="0">
            <a:noAutofit/>
          </a:bodyPr>
          <a:lstStyle/>
          <a:p>
            <a:pPr lvl="0">
              <a:defRPr/>
            </a:pPr>
            <a:r>
              <a:rPr lang="en-ID" sz="2800" b="1" dirty="0">
                <a:solidFill>
                  <a:srgbClr val="004C8F"/>
                </a:solidFill>
                <a:latin typeface="Univers 67 Condensed" pitchFamily="2" charset="0"/>
                <a:cs typeface="Calibri"/>
              </a:rPr>
              <a:t>Key Changes – Management Of Plans</a:t>
            </a:r>
            <a:endParaRPr lang="en-US" sz="2800" dirty="0">
              <a:solidFill>
                <a:srgbClr val="004C8F"/>
              </a:solidFill>
              <a:latin typeface="Univers 57 Condensed" panose="020B0606020202060204" pitchFamily="34" charset="0"/>
              <a:cs typeface="Calibri"/>
            </a:endParaRPr>
          </a:p>
        </p:txBody>
      </p:sp>
      <p:sp>
        <p:nvSpPr>
          <p:cNvPr id="11" name="Rectangle 10">
            <a:extLst>
              <a:ext uri="{FF2B5EF4-FFF2-40B4-BE49-F238E27FC236}">
                <a16:creationId xmlns:a16="http://schemas.microsoft.com/office/drawing/2014/main" id="{58C7DE70-E5E6-2337-9906-B923210B724C}"/>
              </a:ext>
            </a:extLst>
          </p:cNvPr>
          <p:cNvSpPr/>
          <p:nvPr/>
        </p:nvSpPr>
        <p:spPr>
          <a:xfrm>
            <a:off x="0" y="870826"/>
            <a:ext cx="12192000" cy="435460"/>
          </a:xfrm>
          <a:prstGeom prst="rect">
            <a:avLst/>
          </a:prstGeom>
          <a:solidFill>
            <a:srgbClr val="0070C0"/>
          </a:solidFill>
          <a:ln w="9525" cap="flat" cmpd="sng" algn="ctr">
            <a:noFill/>
            <a:prstDash val="solid"/>
          </a:ln>
          <a:effectLst/>
        </p:spPr>
        <p:txBody>
          <a:bodyPr rtlCol="0" anchor="ctr"/>
          <a:lstStyle/>
          <a:p>
            <a:pPr lvl="0"/>
            <a:r>
              <a:rPr lang="en-ID" sz="1400" dirty="0">
                <a:solidFill>
                  <a:prstClr val="white"/>
                </a:solidFill>
                <a:latin typeface="Univers 57 Condensed" panose="020B0606020202060204" pitchFamily="34" charset="0"/>
              </a:rPr>
              <a:t>Headline #1: Talk about what changed</a:t>
            </a:r>
            <a:endParaRPr lang="en-US" sz="1400" dirty="0">
              <a:solidFill>
                <a:prstClr val="white"/>
              </a:solidFill>
              <a:latin typeface="Univers 57 Condensed" panose="020B0606020202060204" pitchFamily="34" charset="0"/>
            </a:endParaRPr>
          </a:p>
        </p:txBody>
      </p:sp>
      <p:sp>
        <p:nvSpPr>
          <p:cNvPr id="58" name="Rectangle 57">
            <a:extLst>
              <a:ext uri="{FF2B5EF4-FFF2-40B4-BE49-F238E27FC236}">
                <a16:creationId xmlns:a16="http://schemas.microsoft.com/office/drawing/2014/main" id="{C537FFA8-8ACB-9254-589C-C7A984F1DEFD}"/>
              </a:ext>
            </a:extLst>
          </p:cNvPr>
          <p:cNvSpPr/>
          <p:nvPr/>
        </p:nvSpPr>
        <p:spPr>
          <a:xfrm>
            <a:off x="233199" y="1729740"/>
            <a:ext cx="11044401" cy="40462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D" dirty="0"/>
              <a:t>Before vs After Summary</a:t>
            </a:r>
          </a:p>
          <a:p>
            <a:pPr algn="ctr"/>
            <a:endParaRPr lang="en-ID" dirty="0"/>
          </a:p>
        </p:txBody>
      </p:sp>
    </p:spTree>
    <p:extLst>
      <p:ext uri="{BB962C8B-B14F-4D97-AF65-F5344CB8AC3E}">
        <p14:creationId xmlns:p14="http://schemas.microsoft.com/office/powerpoint/2010/main" val="981432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31E5E-68D4-BBCD-0FEE-DC3796EE56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0574AB9-BC22-33C8-CF68-899A2391A6E6}"/>
              </a:ext>
            </a:extLst>
          </p:cNvPr>
          <p:cNvSpPr txBox="1"/>
          <p:nvPr/>
        </p:nvSpPr>
        <p:spPr>
          <a:xfrm>
            <a:off x="233199" y="194210"/>
            <a:ext cx="10569187" cy="523220"/>
          </a:xfrm>
          <a:prstGeom prst="rect">
            <a:avLst/>
          </a:prstGeom>
          <a:noFill/>
        </p:spPr>
        <p:txBody>
          <a:bodyPr wrap="square" rtlCol="0">
            <a:noAutofit/>
          </a:bodyPr>
          <a:lstStyle/>
          <a:p>
            <a:pPr lvl="0">
              <a:defRPr/>
            </a:pPr>
            <a:r>
              <a:rPr lang="en-ID" sz="2800" b="1" dirty="0">
                <a:solidFill>
                  <a:srgbClr val="004C8F"/>
                </a:solidFill>
                <a:latin typeface="Univers 67 Condensed" pitchFamily="2" charset="0"/>
                <a:cs typeface="Calibri"/>
              </a:rPr>
              <a:t>Key Changes – Performance Assessment</a:t>
            </a:r>
            <a:endParaRPr lang="en-US" sz="2800" dirty="0">
              <a:solidFill>
                <a:srgbClr val="004C8F"/>
              </a:solidFill>
              <a:latin typeface="Univers 57 Condensed" panose="020B0606020202060204" pitchFamily="34" charset="0"/>
              <a:cs typeface="Calibri"/>
            </a:endParaRPr>
          </a:p>
        </p:txBody>
      </p:sp>
      <p:sp>
        <p:nvSpPr>
          <p:cNvPr id="11" name="Rectangle 10">
            <a:extLst>
              <a:ext uri="{FF2B5EF4-FFF2-40B4-BE49-F238E27FC236}">
                <a16:creationId xmlns:a16="http://schemas.microsoft.com/office/drawing/2014/main" id="{36BE9901-4D18-3593-CA39-753C94A6FAA1}"/>
              </a:ext>
            </a:extLst>
          </p:cNvPr>
          <p:cNvSpPr/>
          <p:nvPr/>
        </p:nvSpPr>
        <p:spPr>
          <a:xfrm>
            <a:off x="0" y="870826"/>
            <a:ext cx="12192000" cy="435460"/>
          </a:xfrm>
          <a:prstGeom prst="rect">
            <a:avLst/>
          </a:prstGeom>
          <a:solidFill>
            <a:srgbClr val="0070C0"/>
          </a:solidFill>
          <a:ln w="9525" cap="flat" cmpd="sng" algn="ctr">
            <a:noFill/>
            <a:prstDash val="solid"/>
          </a:ln>
          <a:effectLst/>
        </p:spPr>
        <p:txBody>
          <a:bodyPr rtlCol="0" anchor="ctr"/>
          <a:lstStyle/>
          <a:p>
            <a:pPr lvl="0"/>
            <a:r>
              <a:rPr lang="en-ID" sz="1400" dirty="0">
                <a:solidFill>
                  <a:prstClr val="white"/>
                </a:solidFill>
                <a:latin typeface="Univers 57 Condensed" panose="020B0606020202060204" pitchFamily="34" charset="0"/>
              </a:rPr>
              <a:t>Headline #1: Talk about what changed</a:t>
            </a:r>
            <a:endParaRPr lang="en-US" sz="1400" dirty="0">
              <a:solidFill>
                <a:prstClr val="white"/>
              </a:solidFill>
              <a:latin typeface="Univers 57 Condensed" panose="020B0606020202060204" pitchFamily="34" charset="0"/>
            </a:endParaRPr>
          </a:p>
        </p:txBody>
      </p:sp>
      <p:sp>
        <p:nvSpPr>
          <p:cNvPr id="58" name="Rectangle 57">
            <a:extLst>
              <a:ext uri="{FF2B5EF4-FFF2-40B4-BE49-F238E27FC236}">
                <a16:creationId xmlns:a16="http://schemas.microsoft.com/office/drawing/2014/main" id="{008923AF-E97B-47E3-3C40-FE81B9287A10}"/>
              </a:ext>
            </a:extLst>
          </p:cNvPr>
          <p:cNvSpPr/>
          <p:nvPr/>
        </p:nvSpPr>
        <p:spPr>
          <a:xfrm>
            <a:off x="233199" y="1729740"/>
            <a:ext cx="11044401" cy="40462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D" dirty="0"/>
              <a:t>Before vs After Summary</a:t>
            </a:r>
          </a:p>
          <a:p>
            <a:pPr algn="ctr"/>
            <a:endParaRPr lang="en-ID" dirty="0"/>
          </a:p>
        </p:txBody>
      </p:sp>
    </p:spTree>
    <p:extLst>
      <p:ext uri="{BB962C8B-B14F-4D97-AF65-F5344CB8AC3E}">
        <p14:creationId xmlns:p14="http://schemas.microsoft.com/office/powerpoint/2010/main" val="1880516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BC16F-44A3-2D75-193F-3C5A24E4745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75E0FB2-2340-DD63-69A9-7F8025AB31F5}"/>
              </a:ext>
            </a:extLst>
          </p:cNvPr>
          <p:cNvSpPr txBox="1"/>
          <p:nvPr/>
        </p:nvSpPr>
        <p:spPr>
          <a:xfrm>
            <a:off x="233199" y="194210"/>
            <a:ext cx="10569187" cy="523220"/>
          </a:xfrm>
          <a:prstGeom prst="rect">
            <a:avLst/>
          </a:prstGeom>
          <a:noFill/>
        </p:spPr>
        <p:txBody>
          <a:bodyPr wrap="square" rtlCol="0">
            <a:noAutofit/>
          </a:bodyPr>
          <a:lstStyle/>
          <a:p>
            <a:pPr lvl="0">
              <a:defRPr/>
            </a:pPr>
            <a:r>
              <a:rPr lang="en-ID" sz="2800" b="1" dirty="0">
                <a:solidFill>
                  <a:srgbClr val="004C8F"/>
                </a:solidFill>
                <a:latin typeface="Univers 67 Condensed" pitchFamily="2" charset="0"/>
                <a:cs typeface="Calibri"/>
              </a:rPr>
              <a:t>Key Changes – Performance Assessment</a:t>
            </a:r>
            <a:endParaRPr lang="en-US" sz="2800" dirty="0">
              <a:solidFill>
                <a:srgbClr val="004C8F"/>
              </a:solidFill>
              <a:latin typeface="Univers 57 Condensed" panose="020B0606020202060204" pitchFamily="34" charset="0"/>
              <a:cs typeface="Calibri"/>
            </a:endParaRPr>
          </a:p>
        </p:txBody>
      </p:sp>
      <p:sp>
        <p:nvSpPr>
          <p:cNvPr id="11" name="Rectangle 10">
            <a:extLst>
              <a:ext uri="{FF2B5EF4-FFF2-40B4-BE49-F238E27FC236}">
                <a16:creationId xmlns:a16="http://schemas.microsoft.com/office/drawing/2014/main" id="{DF022AEC-2B32-184F-FB1E-A292309CA295}"/>
              </a:ext>
            </a:extLst>
          </p:cNvPr>
          <p:cNvSpPr/>
          <p:nvPr/>
        </p:nvSpPr>
        <p:spPr>
          <a:xfrm>
            <a:off x="0" y="870826"/>
            <a:ext cx="12192000" cy="435460"/>
          </a:xfrm>
          <a:prstGeom prst="rect">
            <a:avLst/>
          </a:prstGeom>
          <a:solidFill>
            <a:srgbClr val="0070C0"/>
          </a:solidFill>
          <a:ln w="9525" cap="flat" cmpd="sng" algn="ctr">
            <a:noFill/>
            <a:prstDash val="solid"/>
          </a:ln>
          <a:effectLst/>
        </p:spPr>
        <p:txBody>
          <a:bodyPr rtlCol="0" anchor="ctr"/>
          <a:lstStyle/>
          <a:p>
            <a:pPr lvl="0"/>
            <a:r>
              <a:rPr lang="en-ID" sz="1400" dirty="0">
                <a:solidFill>
                  <a:prstClr val="white"/>
                </a:solidFill>
                <a:latin typeface="Univers 57 Condensed" panose="020B0606020202060204" pitchFamily="34" charset="0"/>
              </a:rPr>
              <a:t>Headline #1: Talk about what changed</a:t>
            </a:r>
            <a:endParaRPr lang="en-US" sz="1400" dirty="0">
              <a:solidFill>
                <a:prstClr val="white"/>
              </a:solidFill>
              <a:latin typeface="Univers 57 Condensed" panose="020B0606020202060204" pitchFamily="34" charset="0"/>
            </a:endParaRPr>
          </a:p>
        </p:txBody>
      </p:sp>
      <p:sp>
        <p:nvSpPr>
          <p:cNvPr id="58" name="Rectangle 57">
            <a:extLst>
              <a:ext uri="{FF2B5EF4-FFF2-40B4-BE49-F238E27FC236}">
                <a16:creationId xmlns:a16="http://schemas.microsoft.com/office/drawing/2014/main" id="{6B49473C-9265-4CF4-BF65-799341228128}"/>
              </a:ext>
            </a:extLst>
          </p:cNvPr>
          <p:cNvSpPr/>
          <p:nvPr/>
        </p:nvSpPr>
        <p:spPr>
          <a:xfrm>
            <a:off x="233199" y="1729740"/>
            <a:ext cx="11044401" cy="40462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D" dirty="0"/>
              <a:t>Before vs After Summary</a:t>
            </a:r>
          </a:p>
          <a:p>
            <a:pPr algn="ctr"/>
            <a:endParaRPr lang="en-ID" dirty="0"/>
          </a:p>
        </p:txBody>
      </p:sp>
    </p:spTree>
    <p:extLst>
      <p:ext uri="{BB962C8B-B14F-4D97-AF65-F5344CB8AC3E}">
        <p14:creationId xmlns:p14="http://schemas.microsoft.com/office/powerpoint/2010/main" val="3004647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33458-305A-BF4D-5A88-DD161796CB00}"/>
            </a:ext>
          </a:extLst>
        </p:cNvPr>
        <p:cNvGrpSpPr/>
        <p:nvPr/>
      </p:nvGrpSpPr>
      <p:grpSpPr>
        <a:xfrm>
          <a:off x="0" y="0"/>
          <a:ext cx="0" cy="0"/>
          <a:chOff x="0" y="0"/>
          <a:chExt cx="0" cy="0"/>
        </a:xfrm>
      </p:grpSpPr>
    </p:spTree>
    <p:extLst>
      <p:ext uri="{BB962C8B-B14F-4D97-AF65-F5344CB8AC3E}">
        <p14:creationId xmlns:p14="http://schemas.microsoft.com/office/powerpoint/2010/main" val="169883311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 name="THINKCELLUNDODONOTDELETE" val="0"/>
  <p:tag name="THINKCELLPRESENTATIONDONOTDELETE" val="&lt;?xml version=&quot;1.0&quot; encoding=&quot;UTF-16&quot; standalone=&quot;yes&quot;?&gt;&lt;root reqver=&quot;28224&quot;&gt;&lt;version val=&quot;3570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4&quot;&gt;&lt;elem m_fUsage=&quot;1.07919463995351017083E+00&quot;&gt;&lt;m_msothmcolidx val=&quot;0&quot;/&gt;&lt;m_rgb r=&quot;FD&quot; g=&quot;B7&quot; b=&quot;64&quot;/&gt;&lt;/elem&gt;&lt;elem m_fUsage=&quot;1.00000000000000000000E+00&quot;&gt;&lt;m_msothmcolidx val=&quot;0&quot;/&gt;&lt;m_rgb r=&quot;C0&quot; g=&quot;00&quot; b=&quot;00&quot;/&gt;&lt;/elem&gt;&lt;elem m_fUsage=&quot;9.00000000000000022204E-01&quot;&gt;&lt;m_msothmcolidx val=&quot;0&quot;/&gt;&lt;m_rgb r=&quot;94&quot; g=&quot;AF&quot; b=&quot;DC&quot;/&gt;&lt;/elem&gt;&lt;elem m_fUsage=&quot;8.10000000000000053291E-01&quot;&gt;&lt;m_msothmcolidx val=&quot;0&quot;/&gt;&lt;m_rgb r=&quot;BF&quot; g=&quot;90&quot; b=&quot;01&quot;/&gt;&lt;/elem&gt;&lt;elem m_fUsage=&quot;7.39871591079833468285E-01&quot;&gt;&lt;m_msothmcolidx val=&quot;0&quot;/&gt;&lt;m_rgb r=&quot;D8&quot; g=&quot;9D&quot; b=&quot;57&quot;/&gt;&lt;/elem&gt;&lt;elem m_fUsage=&quot;7.29000000000000092371E-01&quot;&gt;&lt;m_msothmcolidx val=&quot;0&quot;/&gt;&lt;m_rgb r=&quot;D3&quot; g=&quot;9F&quot; b=&quot;01&quot;/&gt;&lt;/elem&gt;&lt;elem m_fUsage=&quot;6.69681584108301364289E-01&quot;&gt;&lt;m_msothmcolidx val=&quot;0&quot;/&gt;&lt;m_rgb r=&quot;D2&quot; g=&quot;32&quot; b=&quot;00&quot;/&gt;&lt;/elem&gt;&lt;elem m_fUsage=&quot;5.90490000000000181402E-01&quot;&gt;&lt;m_msothmcolidx val=&quot;0&quot;/&gt;&lt;m_rgb r=&quot;00&quot; g=&quot;98&quot; b=&quot;CF&quot;/&gt;&lt;/elem&gt;&lt;elem m_fUsage=&quot;5.31441000000000163261E-01&quot;&gt;&lt;m_msothmcolidx val=&quot;0&quot;/&gt;&lt;m_rgb r=&quot;06&quot; g=&quot;4A&quot; b=&quot;45&quot;/&gt;&lt;/elem&gt;&lt;elem m_fUsage=&quot;4.78296900000000135833E-01&quot;&gt;&lt;m_msothmcolidx val=&quot;0&quot;/&gt;&lt;m_rgb r=&quot;90&quot; g=&quot;BA&quot; b=&quot;BF&quot;/&gt;&lt;/elem&gt;&lt;elem m_fUsage=&quot;4.30467210000000155556E-01&quot;&gt;&lt;m_msothmcolidx val=&quot;0&quot;/&gt;&lt;m_rgb r=&quot;1B&quot; g=&quot;B9&quot; b=&quot;19&quot;/&gt;&lt;/elem&gt;&lt;elem m_fUsage=&quot;3.87420489000000145552E-01&quot;&gt;&lt;m_msothmcolidx val=&quot;0&quot;/&gt;&lt;m_rgb r=&quot;46&quot; g=&quot;33&quot; b=&quot;7E&quot;/&gt;&lt;/elem&gt;&lt;elem m_fUsage=&quot;3.53756199617388744638E-01&quot;&gt;&lt;m_msothmcolidx val=&quot;0&quot;/&gt;&lt;m_rgb r=&quot;7F&quot; g=&quot;7F&quot; b=&quot;7F&quot;/&gt;&lt;/elem&gt;&lt;elem m_fUsage=&quot;3.38662713260944048255E-01&quot;&gt;&lt;m_msothmcolidx val=&quot;0&quot;/&gt;&lt;m_rgb r=&quot;D9&quot; g=&quot;D9&quot; b=&quot;D9&quot;/&gt;&lt;/elem&gt;&lt;elem m_fUsage=&quot;3.16866452293664890849E-01&quot;&gt;&lt;m_msothmcolidx val=&quot;0&quot;/&gt;&lt;m_rgb r=&quot;00&quot; g=&quot;8B&quot; b=&quot;BF&quot;/&gt;&lt;/elem&gt;&lt;elem m_fUsage=&quot;1.70034834017914138204E-01&quot;&gt;&lt;m_msothmcolidx val=&quot;0&quot;/&gt;&lt;m_rgb r=&quot;5C&quot; g=&quot;D3&quot; b=&quot;25&quot;/&gt;&lt;/elem&gt;&lt;elem m_fUsage=&quot;1.24823643953355892244E-01&quot;&gt;&lt;m_msothmcolidx val=&quot;0&quot;/&gt;&lt;m_rgb r=&quot;00&quot; g=&quot;70&quot; b=&quot;C0&quot;/&gt;&lt;/elem&gt;&lt;elem m_fUsage=&quot;8.94924452476786869148E-02&quot;&gt;&lt;m_msothmcolidx val=&quot;0&quot;/&gt;&lt;m_rgb r=&quot;79&quot; g=&quot;AE&quot; b=&quot;A4&quot;/&gt;&lt;/elem&gt;&lt;elem m_fUsage=&quot;3.09031543826326429714E-02&quot;&gt;&lt;m_msothmcolidx val=&quot;0&quot;/&gt;&lt;m_rgb r=&quot;C1&quot; g=&quot;C1&quot; b=&quot;C1&quot;/&gt;&lt;/elem&gt;&lt;elem m_fUsage=&quot;2.78128389443693807559E-02&quot;&gt;&lt;m_msothmcolidx val=&quot;0&quot;/&gt;&lt;m_rgb r=&quot;E0&quot; g=&quot;E0&quot; b=&quot;E0&quot;/&gt;&lt;/elem&gt;&lt;elem m_fUsage=&quot;2.67234953347629672349E-02&quot;&gt;&lt;m_msothmcolidx val=&quot;0&quot;/&gt;&lt;m_rgb r=&quot;FF&quot; g=&quot;58&quot; b=&quot;58&quot;/&gt;&lt;/elem&gt;&lt;elem m_fUsage=&quot;2.50315550499324440681E-02&quot;&gt;&lt;m_msothmcolidx val=&quot;0&quot;/&gt;&lt;m_rgb r=&quot;91&quot; g=&quot;BB&quot; b=&quot;EA&quot;/&gt;&lt;/elem&gt;&lt;elem m_fUsage=&quot;2.25283995449391989674E-02&quot;&gt;&lt;m_msothmcolidx val=&quot;0&quot;/&gt;&lt;m_rgb r=&quot;86&quot; g=&quot;F7&quot; b=&quot;58&quot;/&gt;&lt;/elem&gt;&lt;elem m_fUsage=&quot;2.02755595904452780298E-02&quot;&gt;&lt;m_msothmcolidx val=&quot;0&quot;/&gt;&lt;m_rgb r=&quot;FF&quot; g=&quot;91&quot; b=&quot;8F&quot;/&gt;&lt;/elem&gt;&lt;/m_vecMRU&gt;&lt;/m_mruColor&gt;&lt;m_eweekdayFirstOfWeek val=&quot;1&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u2DJDofHRdy5NFx4QVl4f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7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5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6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34CBF16-BD8C-4245-A57A-0DE7B6B37F38}">
  <we:reference id="wa200010001" version="1.0.0.1" store="en-US" storeType="OMEX"/>
  <we:alternateReferences>
    <we:reference id="WA200010001" version="1.0.0.1" store="" storeType="OMEX"/>
  </we:alternateReferences>
  <we:properties>
    <we:property name="claude.fileId" value="&quot;1f4f8098-2f75-435c-b67a-9b36bdc99071&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B5F8E1C31625C43A3D392D1D1226E7A" ma:contentTypeVersion="1" ma:contentTypeDescription="Create a new document." ma:contentTypeScope="" ma:versionID="633555392896866d1004c24ccd6a5406">
  <xsd:schema xmlns:xsd="http://www.w3.org/2001/XMLSchema" xmlns:xs="http://www.w3.org/2001/XMLSchema" xmlns:p="http://schemas.microsoft.com/office/2006/metadata/properties" xmlns:ns2="cb10a935-3301-4b2a-99cc-0b1a7fa55bf5" targetNamespace="http://schemas.microsoft.com/office/2006/metadata/properties" ma:root="true" ma:fieldsID="f3c12ab9c490247c7650d588b4639935" ns2:_="">
    <xsd:import namespace="cb10a935-3301-4b2a-99cc-0b1a7fa55bf5"/>
    <xsd:element name="properties">
      <xsd:complexType>
        <xsd:sequence>
          <xsd:element name="documentManagement">
            <xsd:complexType>
              <xsd:all>
                <xsd:element ref="ns2:_dlc_DocId" minOccurs="0"/>
                <xsd:element ref="ns2:_dlc_DocIdUrl" minOccurs="0"/>
                <xsd:element ref="ns2:_dlc_DocIdPersistId" minOccurs="0"/>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b10a935-3301-4b2a-99cc-0b1a7fa55bf5"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p:properties xmlns:p="http://schemas.microsoft.com/office/2006/metadata/properties" xmlns:xsi="http://www.w3.org/2001/XMLSchema-instance" xmlns:pc="http://schemas.microsoft.com/office/infopath/2007/PartnerControls">
  <documentManagement>
    <_dlc_DocId xmlns="cb10a935-3301-4b2a-99cc-0b1a7fa55bf5">U3DCDA66VTYV-1495932550-1375</_dlc_DocId>
    <_dlc_DocIdUrl xmlns="cb10a935-3301-4b2a-99cc-0b1a7fa55bf5">
      <Url>https://intranet.medcoenergi.com/Sites/Relation/_layouts/15/DocIdRedir.aspx?ID=U3DCDA66VTYV-1495932550-1375</Url>
      <Description>U3DCDA66VTYV-1495932550-1375</Description>
    </_dlc_DocIdUrl>
  </documentManagement>
</p:properties>
</file>

<file path=customXml/itemProps1.xml><?xml version="1.0" encoding="utf-8"?>
<ds:datastoreItem xmlns:ds="http://schemas.openxmlformats.org/officeDocument/2006/customXml" ds:itemID="{057FCD94-C7E4-4224-9D86-FB858C50C451}">
  <ds:schemaRefs>
    <ds:schemaRef ds:uri="http://schemas.microsoft.com/sharepoint/v3/contenttype/forms"/>
  </ds:schemaRefs>
</ds:datastoreItem>
</file>

<file path=customXml/itemProps2.xml><?xml version="1.0" encoding="utf-8"?>
<ds:datastoreItem xmlns:ds="http://schemas.openxmlformats.org/officeDocument/2006/customXml" ds:itemID="{902EF1F4-B6F5-4F33-9F44-0FE8155BD257}">
  <ds:schemaRefs>
    <ds:schemaRef ds:uri="cb10a935-3301-4b2a-99cc-0b1a7fa55bf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F44E5F9-1333-48E2-A8C1-E080A65F64DE}">
  <ds:schemaRefs>
    <ds:schemaRef ds:uri="http://schemas.microsoft.com/sharepoint/events"/>
  </ds:schemaRefs>
</ds:datastoreItem>
</file>

<file path=customXml/itemProps4.xml><?xml version="1.0" encoding="utf-8"?>
<ds:datastoreItem xmlns:ds="http://schemas.openxmlformats.org/officeDocument/2006/customXml" ds:itemID="{35C4753E-20BE-4CD8-82BE-DC6F7DB204DD}">
  <ds:schemaRefs>
    <ds:schemaRef ds:uri="http://purl.org/dc/terms/"/>
    <ds:schemaRef ds:uri="http://purl.org/dc/dcmitype/"/>
    <ds:schemaRef ds:uri="http://purl.org/dc/elements/1.1/"/>
    <ds:schemaRef ds:uri="http://schemas.microsoft.com/office/infopath/2007/PartnerControls"/>
    <ds:schemaRef ds:uri="http://schemas.microsoft.com/office/2006/documentManagement/types"/>
    <ds:schemaRef ds:uri="http://schemas.openxmlformats.org/package/2006/metadata/core-properties"/>
    <ds:schemaRef ds:uri="cb10a935-3301-4b2a-99cc-0b1a7fa55bf5"/>
    <ds:schemaRef ds:uri="http://schemas.microsoft.com/office/2006/metadata/properties"/>
    <ds:schemaRef ds:uri="http://www.w3.org/XML/1998/namespace"/>
  </ds:schemaRefs>
</ds:datastoreItem>
</file>

<file path=docMetadata/LabelInfo.xml><?xml version="1.0" encoding="utf-8"?>
<clbl:labelList xmlns:clbl="http://schemas.microsoft.com/office/2020/mipLabelMetadata">
  <clbl:label id="{2fb5f0b8-f795-441b-bd2b-c27248706cb4}" enabled="0" method="" siteId="{2fb5f0b8-f795-441b-bd2b-c27248706cb4}" removed="1"/>
</clbl:labelList>
</file>

<file path=docProps/app.xml><?xml version="1.0" encoding="utf-8"?>
<Properties xmlns="http://schemas.openxmlformats.org/officeDocument/2006/extended-properties" xmlns:vt="http://schemas.openxmlformats.org/officeDocument/2006/docPropsVTypes">
  <TotalTime>16625</TotalTime>
  <Words>435</Words>
  <Application>Microsoft Office PowerPoint</Application>
  <PresentationFormat>Widescreen</PresentationFormat>
  <Paragraphs>75</Paragraphs>
  <Slides>9</Slides>
  <Notes>9</Notes>
  <HiddenSlides>0</HiddenSlides>
  <MMClips>0</MMClips>
  <ScaleCrop>false</ScaleCrop>
  <HeadingPairs>
    <vt:vector size="8" baseType="variant">
      <vt:variant>
        <vt:lpstr>Fonts Used</vt:lpstr>
      </vt:variant>
      <vt:variant>
        <vt:i4>6</vt:i4>
      </vt:variant>
      <vt:variant>
        <vt:lpstr>Theme</vt:lpstr>
      </vt:variant>
      <vt:variant>
        <vt:i4>5</vt:i4>
      </vt:variant>
      <vt:variant>
        <vt:lpstr>Embedded OLE Servers</vt:lpstr>
      </vt:variant>
      <vt:variant>
        <vt:i4>1</vt:i4>
      </vt:variant>
      <vt:variant>
        <vt:lpstr>Slide Titles</vt:lpstr>
      </vt:variant>
      <vt:variant>
        <vt:i4>9</vt:i4>
      </vt:variant>
    </vt:vector>
  </HeadingPairs>
  <TitlesOfParts>
    <vt:vector size="21" baseType="lpstr">
      <vt:lpstr>Arial</vt:lpstr>
      <vt:lpstr>Calibri</vt:lpstr>
      <vt:lpstr>Univers 57 Condensed</vt:lpstr>
      <vt:lpstr>Univers 67 Condensed</vt:lpstr>
      <vt:lpstr>Univers LT Std 47 Cn Lt</vt:lpstr>
      <vt:lpstr>Univers LT Std 57 Cn</vt:lpstr>
      <vt:lpstr>7_Office Theme</vt:lpstr>
      <vt:lpstr>5_Office Theme</vt:lpstr>
      <vt:lpstr>11_Office Theme</vt:lpstr>
      <vt:lpstr>15_Office Theme</vt:lpstr>
      <vt:lpstr>16_Office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Muhamad Ridho Zul Khoiri</cp:lastModifiedBy>
  <cp:revision>27</cp:revision>
  <cp:lastPrinted>2025-03-19T12:59:11Z</cp:lastPrinted>
  <dcterms:created xsi:type="dcterms:W3CDTF">2021-01-05T03:52:21Z</dcterms:created>
  <dcterms:modified xsi:type="dcterms:W3CDTF">2026-07-23T01:54:35Z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0x010100CB5F8E1C31625C43A3D392D1D1226E7A</vt:lpwstr>
  </property>
  <property fmtid="{D5CDD505-2E9C-101B-9397-08002B2CF9AE}" pid="3" name="_dlc_DocIdItemGuid">
    <vt:lpwstr>3d8d1efe-810e-486d-941f-cd400851ab55</vt:lpwstr>
  </property>
  <property fmtid="{D5CDD505-2E9C-101B-9397-08002B2CF9AE}" pid="4" name="MediaServiceImageTags">
    <vt:lpwstr/>
  </property>
</Properties>
</file>