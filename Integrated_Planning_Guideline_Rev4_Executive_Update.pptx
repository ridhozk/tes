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5"/>
    <p:sldMasterId id="2147483690" r:id="rId6"/>
    <p:sldMasterId id="2147483704" r:id="rId7"/>
    <p:sldMasterId id="2147483716" r:id="rId8"/>
    <p:sldMasterId id="2147483725" r:id="rId9"/>
  </p:sldMasterIdLst>
  <p:notesMasterIdLst>
    <p:notesMasterId r:id="rId19"/>
  </p:notesMasterIdLst>
  <p:handoutMasterIdLst>
    <p:handoutMasterId r:id="rId20"/>
  </p:handoutMasterIdLst>
  <p:sldIdLst>
    <p:sldId id="2146849060" r:id="rId10"/>
    <p:sldId id="2146849162" r:id="rId11"/>
    <p:sldId id="2146849232" r:id="rId12"/>
    <p:sldId id="2146849229" r:id="rId13"/>
    <p:sldId id="2146849234" r:id="rId14"/>
    <p:sldId id="2146849235" r:id="rId15"/>
    <p:sldId id="2146849237" r:id="rId16"/>
    <p:sldId id="2146849236" r:id="rId17"/>
    <p:sldId id="2146849173" r:id="rId18"/>
    <p:sldId id="2146849238" r:id="rId29"/>
    <p:sldId id="2146849239" r:id="rId30"/>
    <p:sldId id="2146849240" r:id="rId31"/>
    <p:sldId id="2146849241" r:id="rId32"/>
    <p:sldId id="2146849242" r:id="rId33"/>
    <p:sldId id="2146849243" r:id="rId34"/>
    <p:sldId id="2146849244" r:id="rId35"/>
    <p:sldId id="2146849245" r:id="rId36"/>
  </p:sldIdLst>
  <p:sldSz cx="12192000" cy="6858000"/>
  <p:notesSz cx="6797675" cy="9928225"/>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E3C6726-52D3-4D5F-9322-9F0F34EF0586}">
          <p14:sldIdLst>
            <p14:sldId id="2146849060"/>
            <p14:sldId id="2146849162"/>
            <p14:sldId id="2146849232"/>
            <p14:sldId id="2146849229"/>
            <p14:sldId id="2146849234"/>
            <p14:sldId id="2146849235"/>
            <p14:sldId id="2146849237"/>
            <p14:sldId id="2146849236"/>
            <p14:sldId id="2146849173"/>
          </p14:sldIdLst>
        </p14:section>
        <p14:section name="BACKUP" id="{651E1B9B-A9EB-40DC-8307-9132964E227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72D5B43-BCDD-A34F-4D30-1C1DE5535581}" name="M. Aulia Rahman Nur Hakim" initials="AH" userId="S::Aulia.Hakim@medcoenergi.com::3bd8c12b-6b6f-4049-98c6-92a335cdf390" providerId="AD"/>
  <p188:author id="{69E46BD6-65E5-73F0-1916-0D888A0EE824}" name="Anthony Robert Mathias" initials="AR" userId="S::Tony.mathias@medcoenergi.com::30f4f504-1a9a-46f8-98ae-509bcaa239b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gustina Parwitosari" initials="AP" lastIdx="11" clrIdx="1">
    <p:extLst>
      <p:ext uri="{19B8F6BF-5375-455C-9EA6-DF929625EA0E}">
        <p15:presenceInfo xmlns:p15="http://schemas.microsoft.com/office/powerpoint/2012/main" userId="S-1-5-21-909237869-2597997010-3946677010-1856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994987"/>
    <a:srgbClr val="F5F9FD"/>
    <a:srgbClr val="FFBDBD"/>
    <a:srgbClr val="F2F2F2"/>
    <a:srgbClr val="C00000"/>
    <a:srgbClr val="BDD7EE"/>
    <a:srgbClr val="0070C0"/>
    <a:srgbClr val="E2E9F6"/>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443345-85BD-42AF-8C4C-7210BDE8FF47}" v="29" dt="2026-07-23T01:21:34.6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9" autoAdjust="0"/>
    <p:restoredTop sz="91373" autoAdjust="0"/>
  </p:normalViewPr>
  <p:slideViewPr>
    <p:cSldViewPr snapToGrid="0">
      <p:cViewPr varScale="1">
        <p:scale>
          <a:sx n="99" d="100"/>
          <a:sy n="99" d="100"/>
        </p:scale>
        <p:origin x="1046" y="72"/>
      </p:cViewPr>
      <p:guideLst/>
    </p:cSldViewPr>
  </p:slideViewPr>
  <p:notesTextViewPr>
    <p:cViewPr>
      <p:scale>
        <a:sx n="1" d="1"/>
        <a:sy n="1" d="1"/>
      </p:scale>
      <p:origin x="0" y="0"/>
    </p:cViewPr>
  </p:notesTextViewPr>
  <p:sorterViewPr>
    <p:cViewPr>
      <p:scale>
        <a:sx n="200" d="100"/>
        <a:sy n="200" d="100"/>
      </p:scale>
      <p:origin x="0" y="-408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slideMaster" Target="slideMasters/slideMaster5.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tags" Target="tags/tag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5/10/relationships/revisionInfo" Target="revisionInfo.xml"/><Relationship Id="rId28" Type="http://schemas.microsoft.com/office/2018/10/relationships/authors" Target="authors.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4"/>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4"/>
            <a:ext cx="2946400" cy="498475"/>
          </a:xfrm>
          <a:prstGeom prst="rect">
            <a:avLst/>
          </a:prstGeom>
        </p:spPr>
        <p:txBody>
          <a:bodyPr vert="horz" lIns="91440" tIns="45720" rIns="91440" bIns="45720" rtlCol="0"/>
          <a:lstStyle>
            <a:lvl1pPr algn="r">
              <a:defRPr sz="1200"/>
            </a:lvl1pPr>
          </a:lstStyle>
          <a:p>
            <a:fld id="{8A645BEC-B2DC-42F7-B9AA-57CAD630001D}" type="datetime1">
              <a:rPr lang="en-US" smtClean="0"/>
              <a:t>7/23/2026</a:t>
            </a:fld>
            <a:endParaRPr lang="en-US"/>
          </a:p>
        </p:txBody>
      </p:sp>
      <p:sp>
        <p:nvSpPr>
          <p:cNvPr id="4" name="Footer Placeholder 3"/>
          <p:cNvSpPr>
            <a:spLocks noGrp="1"/>
          </p:cNvSpPr>
          <p:nvPr>
            <p:ph type="ftr" sz="quarter" idx="2"/>
          </p:nvPr>
        </p:nvSpPr>
        <p:spPr>
          <a:xfrm>
            <a:off x="0" y="9429752"/>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2"/>
            <a:ext cx="2946400" cy="498475"/>
          </a:xfrm>
          <a:prstGeom prst="rect">
            <a:avLst/>
          </a:prstGeom>
        </p:spPr>
        <p:txBody>
          <a:bodyPr vert="horz" lIns="91440" tIns="45720" rIns="91440" bIns="45720" rtlCol="0" anchor="b"/>
          <a:lstStyle>
            <a:lvl1pPr algn="r">
              <a:defRPr sz="1200"/>
            </a:lvl1pPr>
          </a:lstStyle>
          <a:p>
            <a:fld id="{609B3E7A-DB90-455C-86C6-DE342758DFD3}" type="slidenum">
              <a:rPr lang="en-US" smtClean="0"/>
              <a:t>‹#›</a:t>
            </a:fld>
            <a:endParaRPr lang="en-US"/>
          </a:p>
        </p:txBody>
      </p:sp>
    </p:spTree>
    <p:extLst>
      <p:ext uri="{BB962C8B-B14F-4D97-AF65-F5344CB8AC3E}">
        <p14:creationId xmlns:p14="http://schemas.microsoft.com/office/powerpoint/2010/main" val="573487978"/>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2945659" cy="498135"/>
          </a:xfrm>
          <a:prstGeom prst="rect">
            <a:avLst/>
          </a:prstGeom>
        </p:spPr>
        <p:txBody>
          <a:bodyPr vert="horz" lIns="88203" tIns="44102" rIns="88203" bIns="44102" rtlCol="0"/>
          <a:lstStyle>
            <a:lvl1pPr algn="l">
              <a:defRPr sz="1200"/>
            </a:lvl1pPr>
          </a:lstStyle>
          <a:p>
            <a:endParaRPr lang="en-US"/>
          </a:p>
        </p:txBody>
      </p:sp>
      <p:sp>
        <p:nvSpPr>
          <p:cNvPr id="3" name="Date Placeholder 2"/>
          <p:cNvSpPr>
            <a:spLocks noGrp="1"/>
          </p:cNvSpPr>
          <p:nvPr>
            <p:ph type="dt" idx="1"/>
          </p:nvPr>
        </p:nvSpPr>
        <p:spPr>
          <a:xfrm>
            <a:off x="3850446" y="0"/>
            <a:ext cx="2945659" cy="498135"/>
          </a:xfrm>
          <a:prstGeom prst="rect">
            <a:avLst/>
          </a:prstGeom>
        </p:spPr>
        <p:txBody>
          <a:bodyPr vert="horz" lIns="88203" tIns="44102" rIns="88203" bIns="44102" rtlCol="0"/>
          <a:lstStyle>
            <a:lvl1pPr algn="r">
              <a:defRPr sz="1200"/>
            </a:lvl1pPr>
          </a:lstStyle>
          <a:p>
            <a:fld id="{CF486AEB-E1DB-4716-B841-7FF581A82117}" type="datetime1">
              <a:rPr lang="en-US" smtClean="0"/>
              <a:t>7/23/2026</a:t>
            </a:fld>
            <a:endParaRPr lang="en-US"/>
          </a:p>
        </p:txBody>
      </p:sp>
      <p:sp>
        <p:nvSpPr>
          <p:cNvPr id="4" name="Slide Image Placeholder 3"/>
          <p:cNvSpPr>
            <a:spLocks noGrp="1" noRot="1" noChangeAspect="1"/>
          </p:cNvSpPr>
          <p:nvPr>
            <p:ph type="sldImg" idx="2"/>
          </p:nvPr>
        </p:nvSpPr>
        <p:spPr>
          <a:xfrm>
            <a:off x="419100" y="1239838"/>
            <a:ext cx="5959475" cy="3352800"/>
          </a:xfrm>
          <a:prstGeom prst="rect">
            <a:avLst/>
          </a:prstGeom>
          <a:noFill/>
          <a:ln w="12700">
            <a:solidFill>
              <a:prstClr val="black"/>
            </a:solidFill>
          </a:ln>
        </p:spPr>
        <p:txBody>
          <a:bodyPr vert="horz" lIns="88203" tIns="44102" rIns="88203" bIns="44102" rtlCol="0" anchor="ctr"/>
          <a:lstStyle/>
          <a:p>
            <a:endParaRPr lang="en-US"/>
          </a:p>
        </p:txBody>
      </p:sp>
      <p:sp>
        <p:nvSpPr>
          <p:cNvPr id="5" name="Notes Placeholder 4"/>
          <p:cNvSpPr>
            <a:spLocks noGrp="1"/>
          </p:cNvSpPr>
          <p:nvPr>
            <p:ph type="body" sz="quarter" idx="3"/>
          </p:nvPr>
        </p:nvSpPr>
        <p:spPr>
          <a:xfrm>
            <a:off x="679768" y="4777963"/>
            <a:ext cx="5438140" cy="3909239"/>
          </a:xfrm>
          <a:prstGeom prst="rect">
            <a:avLst/>
          </a:prstGeom>
        </p:spPr>
        <p:txBody>
          <a:bodyPr vert="horz" lIns="88203" tIns="44102" rIns="88203" bIns="44102"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9430093"/>
            <a:ext cx="2945659" cy="498134"/>
          </a:xfrm>
          <a:prstGeom prst="rect">
            <a:avLst/>
          </a:prstGeom>
        </p:spPr>
        <p:txBody>
          <a:bodyPr vert="horz" lIns="88203" tIns="44102" rIns="88203" bIns="44102" rtlCol="0" anchor="b"/>
          <a:lstStyle>
            <a:lvl1pPr algn="l">
              <a:defRPr sz="1200"/>
            </a:lvl1pPr>
          </a:lstStyle>
          <a:p>
            <a:endParaRPr lang="en-US"/>
          </a:p>
        </p:txBody>
      </p:sp>
      <p:sp>
        <p:nvSpPr>
          <p:cNvPr id="7" name="Slide Number Placeholder 6"/>
          <p:cNvSpPr>
            <a:spLocks noGrp="1"/>
          </p:cNvSpPr>
          <p:nvPr>
            <p:ph type="sldNum" sz="quarter" idx="5"/>
          </p:nvPr>
        </p:nvSpPr>
        <p:spPr>
          <a:xfrm>
            <a:off x="3850446" y="9430093"/>
            <a:ext cx="2945659" cy="498134"/>
          </a:xfrm>
          <a:prstGeom prst="rect">
            <a:avLst/>
          </a:prstGeom>
        </p:spPr>
        <p:txBody>
          <a:bodyPr vert="horz" lIns="88203" tIns="44102" rIns="88203" bIns="44102" rtlCol="0" anchor="b"/>
          <a:lstStyle>
            <a:lvl1pPr algn="r">
              <a:defRPr sz="1200"/>
            </a:lvl1pPr>
          </a:lstStyle>
          <a:p>
            <a:fld id="{5294394D-4A84-4EBD-A2A1-5FC4F4432B16}" type="slidenum">
              <a:rPr lang="en-US" smtClean="0"/>
              <a:t>‹#›</a:t>
            </a:fld>
            <a:endParaRPr lang="en-US"/>
          </a:p>
        </p:txBody>
      </p:sp>
    </p:spTree>
    <p:extLst>
      <p:ext uri="{BB962C8B-B14F-4D97-AF65-F5344CB8AC3E}">
        <p14:creationId xmlns:p14="http://schemas.microsoft.com/office/powerpoint/2010/main" val="3414151739"/>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Title. This is an executive update to secure SM/SVP endorsement of Rev 4 of the MEPG Integrated Planning &amp; Scheduling Guideline. 10-15 minutes; detail is in the appendix.</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p:cNvSpPr>
            <a:spLocks noGrp="1"/>
          </p:cNvSpPr>
          <p:nvPr>
            <p:ph type="dt"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55E3B-070E-4ABD-B020-030E706E5398}"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93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CB6F7-5DD7-E532-4AAA-8C0A7C22F1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A07AE-0CAB-9955-35C2-D2C95A93C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66765-F926-F170-2E65-5171807A4492}"/>
              </a:ext>
            </a:extLst>
          </p:cNvPr>
          <p:cNvSpPr>
            <a:spLocks noGrp="1"/>
          </p:cNvSpPr>
          <p:nvPr>
            <p:ph type="body" idx="1"/>
          </p:nvPr>
        </p:nvSpPr>
        <p:spPr/>
        <p:txBody>
          <a:bodyPr/>
          <a:lstStyle/>
          <a:p>
            <a:r>
              <a:t>Executive summary in one matrix. The core message: Rev 3 (Nov 2024) predates the two corporate documents it now must align to - GN-3005 (Jan 2025) and GN-3007 (Jan 2026). Rev 4 is alignment, not correction of neglect. Walk the five rows left to right: current state, Rev 4 improvement, business rationale/impact.</a:t>
            </a:r>
          </a:p>
        </p:txBody>
      </p:sp>
      <p:sp>
        <p:nvSpPr>
          <p:cNvPr id="4" name="Date Placeholder 3">
            <a:extLst>
              <a:ext uri="{FF2B5EF4-FFF2-40B4-BE49-F238E27FC236}">
                <a16:creationId xmlns:a16="http://schemas.microsoft.com/office/drawing/2014/main" id="{764CD1AF-376F-923B-C663-35F72D7FE41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0AEC753D-5B77-D038-237E-9FCBCC7033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8139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C183D-ACE0-60D9-AA35-35CA4464B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70512-4295-64C7-BC20-D90D53900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245BE-D7D0-22DC-3F00-6AC1B5F375C0}"/>
              </a:ext>
            </a:extLst>
          </p:cNvPr>
          <p:cNvSpPr>
            <a:spLocks noGrp="1"/>
          </p:cNvSpPr>
          <p:nvPr>
            <p:ph type="body" idx="1"/>
          </p:nvPr>
        </p:nvSpPr>
        <p:spPr/>
        <p:txBody>
          <a:bodyPr/>
          <a:lstStyle/>
          <a:p>
            <a:r>
              <a:t>Concept &amp; Strategy. Before: a stand-alone guideline with a plain objectives list. After: cross-referenced to GN-3005/3007, GL-001/002, MPEP, AACE 37R-06; scope expanded to the full FDP-to-7D chain; new 11-objective table pairing Expected Behaviour (how) with Organizational Value (why). Value: one common language.</a:t>
            </a:r>
          </a:p>
        </p:txBody>
      </p:sp>
      <p:sp>
        <p:nvSpPr>
          <p:cNvPr id="4" name="Date Placeholder 3">
            <a:extLst>
              <a:ext uri="{FF2B5EF4-FFF2-40B4-BE49-F238E27FC236}">
                <a16:creationId xmlns:a16="http://schemas.microsoft.com/office/drawing/2014/main" id="{8516859D-C722-80D5-DC71-E89CBFC5090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E29497E8-A557-18C9-63D3-F8323CABB7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7688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A8B4C-2C20-19E6-1F3B-4C75D856F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2A386-1505-D159-7B21-175285EA8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2AD9D-BC52-955E-579E-290618059368}"/>
              </a:ext>
            </a:extLst>
          </p:cNvPr>
          <p:cNvSpPr>
            <a:spLocks noGrp="1"/>
          </p:cNvSpPr>
          <p:nvPr>
            <p:ph type="body" idx="1"/>
          </p:nvPr>
        </p:nvSpPr>
        <p:spPr/>
        <p:txBody>
          <a:bodyPr/>
          <a:lstStyle/>
          <a:p>
            <a:r>
              <a:t>Strongest slide. Rev 3 had 5 horizons and no gates. Rev 4 adds the 12-Month rolling screen and the 7-Day weekly control, and installs three gates: G1 at 90D (candidates), G2 at 30D (freeze), G3 at 7D (execute). Detail and certainty increase toward execution. Full framework detail is Figure 2 in the appendix.</a:t>
            </a:r>
          </a:p>
        </p:txBody>
      </p:sp>
      <p:sp>
        <p:nvSpPr>
          <p:cNvPr id="4" name="Date Placeholder 3">
            <a:extLst>
              <a:ext uri="{FF2B5EF4-FFF2-40B4-BE49-F238E27FC236}">
                <a16:creationId xmlns:a16="http://schemas.microsoft.com/office/drawing/2014/main" id="{FA4EB714-6BF3-43C5-5A9F-E3FFA17452D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A2B3766-3676-C74B-C11E-ADEEEEC36F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7865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088EB-CDA8-919D-8179-ABFAAD114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99E8E-2533-AAAB-9547-254804723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88DC0B-0733-159A-F87C-3F33CFB9CD10}"/>
              </a:ext>
            </a:extLst>
          </p:cNvPr>
          <p:cNvSpPr>
            <a:spLocks noGrp="1"/>
          </p:cNvSpPr>
          <p:nvPr>
            <p:ph type="body" idx="1"/>
          </p:nvPr>
        </p:nvSpPr>
        <p:spPr/>
        <p:txBody>
          <a:bodyPr/>
          <a:lstStyle/>
          <a:p>
            <a:r>
              <a:t>Work process &amp; governance. Heritage RACI replaced by a common develop-review-approve-monitor process, a fixed cadence (Table 2), and clarified per-horizon approval authorities (Table 1). OPAA - Operations Planning &amp; Activities Assurance - coordinates 12M/90D/30D; it is not the old 'P&amp;S Team'. Named tools: IBP in Medco BPM, SAP, GPT for STPF, BPM Work Orders, MCRS.</a:t>
            </a:r>
          </a:p>
        </p:txBody>
      </p:sp>
      <p:sp>
        <p:nvSpPr>
          <p:cNvPr id="4" name="Date Placeholder 3">
            <a:extLst>
              <a:ext uri="{FF2B5EF4-FFF2-40B4-BE49-F238E27FC236}">
                <a16:creationId xmlns:a16="http://schemas.microsoft.com/office/drawing/2014/main" id="{4217C0BE-6422-4CCF-5279-83109EFD2E39}"/>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47FD0312-6A90-B2A5-DB40-65FC9ED80E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4065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1EA27-2545-F61D-EDC6-AED7FB28C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4E541-7D76-936D-1C3B-121691F6C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C94A0-4C8E-9360-F1D0-26018F36F523}"/>
              </a:ext>
            </a:extLst>
          </p:cNvPr>
          <p:cNvSpPr>
            <a:spLocks noGrp="1"/>
          </p:cNvSpPr>
          <p:nvPr>
            <p:ph type="body" idx="1"/>
          </p:nvPr>
        </p:nvSpPr>
        <p:spPr/>
        <p:txBody>
          <a:bodyPr/>
          <a:lstStyle/>
          <a:p>
            <a:r>
              <a:t>Management of Plans - the new control spine. Gate criteria; PMI six constraints plus QRA/CBR; risk integrated at 30/90D; conflict resolution &amp; prioritization; NEW opportunity identification; change control / break-in on the frozen 30D plan; plan administration as single source of truth. Why it matters: protects execution from unprepared work and uncontrolled change.</a:t>
            </a:r>
          </a:p>
        </p:txBody>
      </p:sp>
      <p:sp>
        <p:nvSpPr>
          <p:cNvPr id="4" name="Date Placeholder 3">
            <a:extLst>
              <a:ext uri="{FF2B5EF4-FFF2-40B4-BE49-F238E27FC236}">
                <a16:creationId xmlns:a16="http://schemas.microsoft.com/office/drawing/2014/main" id="{D150578C-5534-3216-CB44-CDF97FDE775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2AB769F1-BE16-F767-B51A-0BFE8AB08F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675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1937A-68AE-D036-A5F8-97A3C8225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B6077-80FA-C01D-88EB-E3C4CEECDC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ABA09-04DE-B8EB-16D8-35301293F050}"/>
              </a:ext>
            </a:extLst>
          </p:cNvPr>
          <p:cNvSpPr>
            <a:spLocks noGrp="1"/>
          </p:cNvSpPr>
          <p:nvPr>
            <p:ph type="body" idx="1"/>
          </p:nvPr>
        </p:nvSpPr>
        <p:spPr/>
        <p:txBody>
          <a:bodyPr/>
          <a:lstStyle/>
          <a:p>
            <a:r>
              <a:t>Performance &amp; continuous improvement. KPIs redefined - Schedule Attainment with Schedule Shift Factor, SPI, Plan Break-in, Plan Deletion - plus secondary metrics. Learning loops: AAR, peer review, benchmarking, business performance review, feedback into the planning cycle via MCRS. Impact: measurable performance and compounding improvement, less NPT.</a:t>
            </a:r>
          </a:p>
        </p:txBody>
      </p:sp>
      <p:sp>
        <p:nvSpPr>
          <p:cNvPr id="4" name="Date Placeholder 3">
            <a:extLst>
              <a:ext uri="{FF2B5EF4-FFF2-40B4-BE49-F238E27FC236}">
                <a16:creationId xmlns:a16="http://schemas.microsoft.com/office/drawing/2014/main" id="{B7D7E177-E891-BB2A-47EB-629038BA2AF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F4B7805B-D244-CFC1-727B-A7512726F1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2376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A1311-2514-ADB4-C49E-832173127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9C1C2-495F-C166-655C-5A2CCBA12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789A94-D0A2-4C47-B4A7-410B6E109B5C}"/>
              </a:ext>
            </a:extLst>
          </p:cNvPr>
          <p:cNvSpPr>
            <a:spLocks noGrp="1"/>
          </p:cNvSpPr>
          <p:nvPr>
            <p:ph type="body" idx="1"/>
          </p:nvPr>
        </p:nvSpPr>
        <p:spPr/>
        <p:txBody>
          <a:bodyPr/>
          <a:lstStyle/>
          <a:p>
            <a:r>
              <a:t>Summary &amp; recommendation. Recap the deliverables, then be explicit about the four open items - present them as conflicts, do NOT resolve them live. The ask: (1) endorse the Rev 4 direction, (2) authorize resolution of the open items with named owners, (3) approve the path to issue.</a:t>
            </a:r>
          </a:p>
        </p:txBody>
      </p:sp>
      <p:sp>
        <p:nvSpPr>
          <p:cNvPr id="4" name="Date Placeholder 3">
            <a:extLst>
              <a:ext uri="{FF2B5EF4-FFF2-40B4-BE49-F238E27FC236}">
                <a16:creationId xmlns:a16="http://schemas.microsoft.com/office/drawing/2014/main" id="{D58B3A13-475E-2B1D-9117-A1ADDF3AD3B3}"/>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72272C21-D5DC-5E5F-659D-5DD8F0E2B3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2414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D9165-29CB-2611-E425-4BCBB4DC9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63E82-C13F-9723-33D4-AA1F91DBA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BB939D-59A9-3DA7-2957-B1BA0B160F29}"/>
              </a:ext>
            </a:extLst>
          </p:cNvPr>
          <p:cNvSpPr>
            <a:spLocks noGrp="1"/>
          </p:cNvSpPr>
          <p:nvPr>
            <p:ph type="body" idx="1"/>
          </p:nvPr>
        </p:nvSpPr>
        <p:spPr/>
        <p:txBody>
          <a:bodyPr/>
          <a:lstStyle/>
          <a:p>
            <a:r>
              <a:t>Appendix divider.</a:t>
            </a:r>
          </a:p>
        </p:txBody>
      </p:sp>
      <p:sp>
        <p:nvSpPr>
          <p:cNvPr id="4" name="Slide Number Placeholder 3">
            <a:extLst>
              <a:ext uri="{FF2B5EF4-FFF2-40B4-BE49-F238E27FC236}">
                <a16:creationId xmlns:a16="http://schemas.microsoft.com/office/drawing/2014/main" id="{67638E94-A47F-45F1-B305-637D6A9AA5B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57E17708-1715-8F92-8A88-7C5B2905F92A}"/>
              </a:ext>
            </a:extLst>
          </p:cNvPr>
          <p:cNvSpPr>
            <a:spLocks noGrp="1"/>
          </p:cNvSpPr>
          <p:nvPr>
            <p:ph type="dt"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D1B63C-6035-4E0B-9022-75042F80A4DF}"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1240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4.xml"/><Relationship Id="rId4" Type="http://schemas.openxmlformats.org/officeDocument/2006/relationships/oleObject" Target="../embeddings/oleObject4.bin"/><Relationship Id="rId5" Type="http://schemas.openxmlformats.org/officeDocument/2006/relationships/image" Target="../media/image8.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slideMaster" Target="../slideMasters/slideMaster4.xml"/><Relationship Id="rId5" Type="http://schemas.openxmlformats.org/officeDocument/2006/relationships/oleObject" Target="../embeddings/oleObject5.bin"/><Relationship Id="rId6" Type="http://schemas.openxmlformats.org/officeDocument/2006/relationships/image" Target="../media/image8.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446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8375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96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08239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hidden="1"/>
          <p:cNvGraphicFramePr>
            <a:graphicFrameLocks noChangeAspect="1"/>
          </p:cNvGraphicFramePr>
          <p:nvPr userDrawn="1">
            <p:custDataLst>
              <p:tags r:id="rId2"/>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11" name="Title 1"/>
          <p:cNvSpPr>
            <a:spLocks noGrp="1"/>
          </p:cNvSpPr>
          <p:nvPr>
            <p:ph type="title"/>
          </p:nvPr>
        </p:nvSpPr>
        <p:spPr>
          <a:xfrm>
            <a:off x="375139" y="152400"/>
            <a:ext cx="9321801" cy="533400"/>
          </a:xfrm>
          <a:prstGeom prst="rect">
            <a:avLst/>
          </a:prstGeom>
        </p:spPr>
        <p:txBody>
          <a:bodyPr vert="horz"/>
          <a:lstStyle>
            <a:lvl1pPr algn="l">
              <a:defRPr sz="2800" b="1" i="0">
                <a:solidFill>
                  <a:srgbClr val="004C8F"/>
                </a:solidFill>
                <a:latin typeface="Calibri"/>
                <a:cs typeface="Calibri"/>
              </a:defRPr>
            </a:lvl1pPr>
          </a:lstStyle>
          <a:p>
            <a:r>
              <a:rPr lang="en-US"/>
              <a:t>Click to edit Master title style</a:t>
            </a:r>
          </a:p>
        </p:txBody>
      </p:sp>
    </p:spTree>
    <p:extLst>
      <p:ext uri="{BB962C8B-B14F-4D97-AF65-F5344CB8AC3E}">
        <p14:creationId xmlns:p14="http://schemas.microsoft.com/office/powerpoint/2010/main" val="2725917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p:cNvGraphicFramePr>
            <a:graphicFrameLocks noChangeAspect="1"/>
          </p:cNvGraphicFramePr>
          <p:nvPr userDrawn="1">
            <p:custDataLst>
              <p:tags r:id="rId2"/>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955" y="1589"/>
                        <a:ext cx="1953" cy="1587"/>
                      </a:xfrm>
                      <a:prstGeom prst="rect">
                        <a:avLst/>
                      </a:prstGeom>
                    </p:spPr>
                  </p:pic>
                </p:oleObj>
              </mc:Fallback>
            </mc:AlternateContent>
          </a:graphicData>
        </a:graphic>
      </p:graphicFrame>
      <p:sp>
        <p:nvSpPr>
          <p:cNvPr id="5" name="Rectangle 4" hidden="1"/>
          <p:cNvSpPr/>
          <p:nvPr userDrawn="1">
            <p:custDataLst>
              <p:tags r:id="rId3"/>
            </p:custDataLst>
          </p:nvPr>
        </p:nvSpPr>
        <p:spPr>
          <a:xfrm>
            <a:off x="0" y="0"/>
            <a:ext cx="195385"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1800" b="1" i="0" baseline="0">
              <a:latin typeface="Calibri" panose="020F0502020204030204" pitchFamily="34" charset="0"/>
              <a:ea typeface="+mj-ea"/>
              <a:cs typeface="+mj-cs"/>
              <a:sym typeface="Calibri" panose="020F0502020204030204" pitchFamily="34" charset="0"/>
            </a:endParaRPr>
          </a:p>
        </p:txBody>
      </p:sp>
      <p:sp>
        <p:nvSpPr>
          <p:cNvPr id="3" name="Title 1"/>
          <p:cNvSpPr>
            <a:spLocks noGrp="1"/>
          </p:cNvSpPr>
          <p:nvPr>
            <p:ph type="title"/>
          </p:nvPr>
        </p:nvSpPr>
        <p:spPr>
          <a:xfrm>
            <a:off x="234461" y="137160"/>
            <a:ext cx="9425354" cy="411162"/>
          </a:xfrm>
          <a:prstGeom prst="rect">
            <a:avLst/>
          </a:prstGeom>
        </p:spPr>
        <p:txBody>
          <a:bodyPr vert="horz" tIns="91440" bIns="91440" anchor="ctr"/>
          <a:lstStyle>
            <a:lvl1pPr algn="l">
              <a:defRPr sz="1800" b="1">
                <a:latin typeface="+mn-lt"/>
              </a:defRPr>
            </a:lvl1pPr>
          </a:lstStyle>
          <a:p>
            <a:r>
              <a:rPr lang="en-US"/>
              <a:t>Click to edit Master title style</a:t>
            </a:r>
          </a:p>
        </p:txBody>
      </p:sp>
      <p:cxnSp>
        <p:nvCxnSpPr>
          <p:cNvPr id="8" name="Straight Connector 7">
            <a:extLst>
              <a:ext uri="{FF2B5EF4-FFF2-40B4-BE49-F238E27FC236}">
                <a16:creationId xmlns:a16="http://schemas.microsoft.com/office/drawing/2014/main" id="{1039E83F-7A0D-A64C-BDC2-2D54756BBACB}"/>
              </a:ext>
            </a:extLst>
          </p:cNvPr>
          <p:cNvCxnSpPr>
            <a:cxnSpLocks/>
          </p:cNvCxnSpPr>
          <p:nvPr userDrawn="1"/>
        </p:nvCxnSpPr>
        <p:spPr>
          <a:xfrm>
            <a:off x="1402873" y="651062"/>
            <a:ext cx="10524895" cy="0"/>
          </a:xfrm>
          <a:prstGeom prst="line">
            <a:avLst/>
          </a:prstGeom>
          <a:noFill/>
          <a:ln w="6350" cap="flat" cmpd="sng" algn="ctr">
            <a:solidFill>
              <a:sysClr val="windowText" lastClr="000000">
                <a:lumMod val="50000"/>
                <a:lumOff val="50000"/>
              </a:sysClr>
            </a:solidFill>
            <a:prstDash val="solid"/>
          </a:ln>
          <a:effectLst/>
        </p:spPr>
      </p:cxnSp>
    </p:spTree>
    <p:extLst>
      <p:ext uri="{BB962C8B-B14F-4D97-AF65-F5344CB8AC3E}">
        <p14:creationId xmlns:p14="http://schemas.microsoft.com/office/powerpoint/2010/main" val="2844743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38307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tags" Target="../tags/tag2.xml"/><Relationship Id="rId4" Type="http://schemas.openxmlformats.org/officeDocument/2006/relationships/oleObject" Target="../embeddings/oleObject1.bin"/><Relationship Id="rId5" Type="http://schemas.openxmlformats.org/officeDocument/2006/relationships/image" Target="../media/image1.emf"/><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tags" Target="../tags/tag3.xml"/><Relationship Id="rId4" Type="http://schemas.openxmlformats.org/officeDocument/2006/relationships/image" Target="../media/image3.png"/><Relationship Id="rId5" Type="http://schemas.openxmlformats.org/officeDocument/2006/relationships/oleObject" Target="../embeddings/oleObject2.bin"/><Relationship Id="rId6" Type="http://schemas.openxmlformats.org/officeDocument/2006/relationships/image" Target="../media/image4.emf"/><Relationship Id="rId7" Type="http://schemas.openxmlformats.org/officeDocument/2006/relationships/image" Target="../media/image5.png"/><Relationship Id="rId8"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tags" Target="../tags/tag5.xml"/><Relationship Id="rId4" Type="http://schemas.openxmlformats.org/officeDocument/2006/relationships/oleObject" Target="../embeddings/oleObject2.bin"/><Relationship Id="rId5" Type="http://schemas.openxmlformats.org/officeDocument/2006/relationships/image" Target="../media/image4.emf"/><Relationship Id="rId6"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4.xml"/><Relationship Id="rId5" Type="http://schemas.openxmlformats.org/officeDocument/2006/relationships/tags" Target="../tags/tag7.xml"/><Relationship Id="rId6" Type="http://schemas.openxmlformats.org/officeDocument/2006/relationships/image" Target="../media/image7.png"/><Relationship Id="rId7" Type="http://schemas.openxmlformats.org/officeDocument/2006/relationships/oleObject" Target="../embeddings/oleObject3.bin"/><Relationship Id="rId8" Type="http://schemas.openxmlformats.org/officeDocument/2006/relationships/image" Target="../media/image4.emf"/><Relationship Id="rId9"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5.xml"/><Relationship Id="rId3" Type="http://schemas.openxmlformats.org/officeDocument/2006/relationships/tags" Target="../tags/tag14.xml"/><Relationship Id="rId4" Type="http://schemas.openxmlformats.org/officeDocument/2006/relationships/image" Target="../media/image9.png"/><Relationship Id="rId5" Type="http://schemas.openxmlformats.org/officeDocument/2006/relationships/oleObject" Target="../embeddings/oleObject3.bin"/><Relationship Id="rId6" Type="http://schemas.openxmlformats.org/officeDocument/2006/relationships/image" Target="../media/image4.emf"/><Relationship Id="rId7" Type="http://schemas.openxmlformats.org/officeDocument/2006/relationships/image" Target="../media/image10.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4" name="TextBox 33">
            <a:extLst>
              <a:ext uri="{FF2B5EF4-FFF2-40B4-BE49-F238E27FC236}">
                <a16:creationId xmlns:a16="http://schemas.microsoft.com/office/drawing/2014/main" id="{C7C6EEDF-34CC-8E41-848F-F98B45233D1E}"/>
              </a:ext>
            </a:extLst>
          </p:cNvPr>
          <p:cNvSpPr txBox="1"/>
          <p:nvPr userDrawn="1"/>
        </p:nvSpPr>
        <p:spPr>
          <a:xfrm>
            <a:off x="361949" y="5696956"/>
            <a:ext cx="3000375" cy="261610"/>
          </a:xfrm>
          <a:prstGeom prst="rect">
            <a:avLst/>
          </a:prstGeom>
          <a:noFill/>
        </p:spPr>
        <p:txBody>
          <a:bodyPr wrap="square" rtlCol="0">
            <a:spAutoFit/>
          </a:bodyPr>
          <a:lstStyle/>
          <a:p>
            <a:pPr defTabSz="457200">
              <a:defRPr/>
            </a:pPr>
            <a:r>
              <a:rPr lang="en-US" sz="1100">
                <a:solidFill>
                  <a:prstClr val="black"/>
                </a:solidFill>
                <a:latin typeface="Univers 57 Condensed" pitchFamily="2" charset="0"/>
                <a:cs typeface="Calibri"/>
              </a:rPr>
              <a:t>Website : www.medcoenergi.com</a:t>
            </a:r>
          </a:p>
        </p:txBody>
      </p:sp>
      <p:sp>
        <p:nvSpPr>
          <p:cNvPr id="35" name="Rectangle 34">
            <a:extLst>
              <a:ext uri="{FF2B5EF4-FFF2-40B4-BE49-F238E27FC236}">
                <a16:creationId xmlns:a16="http://schemas.microsoft.com/office/drawing/2014/main" id="{12A09E5A-A88E-0943-831A-76259F96A8B9}"/>
              </a:ext>
            </a:extLst>
          </p:cNvPr>
          <p:cNvSpPr/>
          <p:nvPr userDrawn="1"/>
        </p:nvSpPr>
        <p:spPr>
          <a:xfrm>
            <a:off x="1" y="3981923"/>
            <a:ext cx="152399" cy="1637355"/>
          </a:xfrm>
          <a:prstGeom prst="rect">
            <a:avLst/>
          </a:prstGeom>
          <a:solidFill>
            <a:srgbClr val="004C8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36" name="Straight Connector 35">
            <a:extLst>
              <a:ext uri="{FF2B5EF4-FFF2-40B4-BE49-F238E27FC236}">
                <a16:creationId xmlns:a16="http://schemas.microsoft.com/office/drawing/2014/main" id="{45AF0B19-2703-FB48-80DE-48B5E8486F8D}"/>
              </a:ext>
            </a:extLst>
          </p:cNvPr>
          <p:cNvCxnSpPr/>
          <p:nvPr userDrawn="1"/>
        </p:nvCxnSpPr>
        <p:spPr>
          <a:xfrm>
            <a:off x="0" y="5612064"/>
            <a:ext cx="3819193" cy="0"/>
          </a:xfrm>
          <a:prstGeom prst="line">
            <a:avLst/>
          </a:prstGeom>
          <a:noFill/>
          <a:ln w="3175" cap="flat" cmpd="sng" algn="ctr">
            <a:solidFill>
              <a:srgbClr val="7F7F7F"/>
            </a:solidFill>
            <a:prstDash val="solid"/>
          </a:ln>
          <a:effectLst/>
        </p:spPr>
      </p:cxnSp>
      <p:cxnSp>
        <p:nvCxnSpPr>
          <p:cNvPr id="37" name="Straight Connector 36">
            <a:extLst>
              <a:ext uri="{FF2B5EF4-FFF2-40B4-BE49-F238E27FC236}">
                <a16:creationId xmlns:a16="http://schemas.microsoft.com/office/drawing/2014/main" id="{44330850-49FA-5C4B-A113-48CB747CBA72}"/>
              </a:ext>
            </a:extLst>
          </p:cNvPr>
          <p:cNvCxnSpPr/>
          <p:nvPr userDrawn="1"/>
        </p:nvCxnSpPr>
        <p:spPr>
          <a:xfrm>
            <a:off x="0" y="6069264"/>
            <a:ext cx="3819193" cy="0"/>
          </a:xfrm>
          <a:prstGeom prst="line">
            <a:avLst/>
          </a:prstGeom>
          <a:noFill/>
          <a:ln w="3175" cap="flat" cmpd="sng" algn="ctr">
            <a:solidFill>
              <a:srgbClr val="7F7F7F"/>
            </a:solidFill>
            <a:prstDash val="solid"/>
          </a:ln>
          <a:effectLst/>
        </p:spPr>
      </p:cxnSp>
      <p:pic>
        <p:nvPicPr>
          <p:cNvPr id="4" name="Picture 3">
            <a:extLst>
              <a:ext uri="{FF2B5EF4-FFF2-40B4-BE49-F238E27FC236}">
                <a16:creationId xmlns:a16="http://schemas.microsoft.com/office/drawing/2014/main" id="{911B2C79-CF24-947B-9FCA-CB709C4249C0}"/>
              </a:ext>
            </a:extLst>
          </p:cNvPr>
          <p:cNvPicPr>
            <a:picLocks noChangeAspect="1"/>
          </p:cNvPicPr>
          <p:nvPr userDrawn="1"/>
        </p:nvPicPr>
        <p:blipFill>
          <a:blip r:embed="rId6"/>
          <a:stretch>
            <a:fillRect/>
          </a:stretch>
        </p:blipFill>
        <p:spPr>
          <a:xfrm>
            <a:off x="152400" y="3112124"/>
            <a:ext cx="2680587" cy="1107996"/>
          </a:xfrm>
          <a:prstGeom prst="rect">
            <a:avLst/>
          </a:prstGeom>
        </p:spPr>
      </p:pic>
      <p:sp>
        <p:nvSpPr>
          <p:cNvPr id="3" name="TextBox 2">
            <a:extLst>
              <a:ext uri="{FF2B5EF4-FFF2-40B4-BE49-F238E27FC236}">
                <a16:creationId xmlns:a16="http://schemas.microsoft.com/office/drawing/2014/main" id="{3803E327-8014-E970-E20D-0A646B07263A}"/>
              </a:ext>
            </a:extLst>
          </p:cNvPr>
          <p:cNvSpPr txBox="1"/>
          <p:nvPr userDrawn="1"/>
        </p:nvSpPr>
        <p:spPr>
          <a:xfrm>
            <a:off x="361949" y="4218706"/>
            <a:ext cx="3276600" cy="1107996"/>
          </a:xfrm>
          <a:prstGeom prst="rect">
            <a:avLst/>
          </a:prstGeom>
          <a:noFill/>
        </p:spPr>
        <p:txBody>
          <a:bodyPr wrap="square" rtlCol="0">
            <a:spAutoFit/>
          </a:bodyPr>
          <a:lstStyle/>
          <a:p>
            <a:r>
              <a:rPr lang="en-US" sz="1100">
                <a:solidFill>
                  <a:prstClr val="black"/>
                </a:solidFill>
                <a:latin typeface="Univers 57 Condensed" pitchFamily="2" charset="0"/>
                <a:cs typeface="Calibri"/>
              </a:rPr>
              <a:t>The Energy Building 33</a:t>
            </a:r>
            <a:r>
              <a:rPr lang="en-US" sz="1100" baseline="30000">
                <a:solidFill>
                  <a:prstClr val="black"/>
                </a:solidFill>
                <a:latin typeface="Univers 57 Condensed" pitchFamily="2" charset="0"/>
                <a:cs typeface="Calibri"/>
              </a:rPr>
              <a:t>rd</a:t>
            </a:r>
            <a:r>
              <a:rPr lang="en-US" sz="1100">
                <a:solidFill>
                  <a:prstClr val="black"/>
                </a:solidFill>
                <a:latin typeface="Univers 57 Condensed" pitchFamily="2" charset="0"/>
                <a:cs typeface="Calibri"/>
              </a:rPr>
              <a:t> Floor </a:t>
            </a:r>
          </a:p>
          <a:p>
            <a:r>
              <a:rPr lang="en-US" sz="1100">
                <a:solidFill>
                  <a:prstClr val="black"/>
                </a:solidFill>
                <a:latin typeface="Univers 57 Condensed" pitchFamily="2" charset="0"/>
                <a:cs typeface="Calibri"/>
              </a:rPr>
              <a:t>SCBD Lot 11A</a:t>
            </a:r>
          </a:p>
          <a:p>
            <a:r>
              <a:rPr lang="en-US" sz="1100">
                <a:solidFill>
                  <a:prstClr val="black"/>
                </a:solidFill>
                <a:latin typeface="Univers 57 Condensed" pitchFamily="2" charset="0"/>
                <a:cs typeface="Calibri"/>
              </a:rPr>
              <a:t>Jl. </a:t>
            </a:r>
            <a:r>
              <a:rPr lang="en-US" sz="1100" err="1">
                <a:solidFill>
                  <a:prstClr val="black"/>
                </a:solidFill>
                <a:latin typeface="Univers 57 Condensed" pitchFamily="2" charset="0"/>
                <a:cs typeface="Calibri"/>
              </a:rPr>
              <a:t>Jend</a:t>
            </a:r>
            <a:r>
              <a:rPr lang="en-US" sz="1100">
                <a:solidFill>
                  <a:prstClr val="black"/>
                </a:solidFill>
                <a:latin typeface="Univers 57 Condensed" pitchFamily="2" charset="0"/>
                <a:cs typeface="Calibri"/>
              </a:rPr>
              <a:t>. </a:t>
            </a:r>
            <a:r>
              <a:rPr lang="en-US" sz="1100" err="1">
                <a:solidFill>
                  <a:prstClr val="black"/>
                </a:solidFill>
                <a:latin typeface="Univers 57 Condensed" pitchFamily="2" charset="0"/>
                <a:cs typeface="Calibri"/>
              </a:rPr>
              <a:t>Sudirman</a:t>
            </a:r>
            <a:r>
              <a:rPr lang="en-US" sz="1100">
                <a:solidFill>
                  <a:prstClr val="black"/>
                </a:solidFill>
                <a:latin typeface="Univers 57 Condensed" pitchFamily="2" charset="0"/>
                <a:cs typeface="Calibri"/>
              </a:rPr>
              <a:t>, Jakarta 12190</a:t>
            </a:r>
          </a:p>
          <a:p>
            <a:r>
              <a:rPr lang="en-US" sz="1100">
                <a:solidFill>
                  <a:prstClr val="black"/>
                </a:solidFill>
                <a:latin typeface="Univers 57 Condensed" pitchFamily="2" charset="0"/>
                <a:cs typeface="Calibri"/>
              </a:rPr>
              <a:t>Indonesia</a:t>
            </a:r>
          </a:p>
          <a:p>
            <a:r>
              <a:rPr lang="en-US" sz="1100">
                <a:solidFill>
                  <a:prstClr val="black"/>
                </a:solidFill>
                <a:latin typeface="Univers 57 Condensed" pitchFamily="2" charset="0"/>
                <a:cs typeface="Calibri"/>
              </a:rPr>
              <a:t>P. +62-21 2995 4000</a:t>
            </a:r>
          </a:p>
          <a:p>
            <a:r>
              <a:rPr lang="en-US" sz="1100">
                <a:solidFill>
                  <a:prstClr val="black"/>
                </a:solidFill>
                <a:latin typeface="Univers 57 Condensed" pitchFamily="2" charset="0"/>
                <a:cs typeface="Calibri"/>
              </a:rPr>
              <a:t>F. +62-21 2995 1301</a:t>
            </a:r>
          </a:p>
        </p:txBody>
      </p:sp>
    </p:spTree>
    <p:extLst>
      <p:ext uri="{BB962C8B-B14F-4D97-AF65-F5344CB8AC3E}">
        <p14:creationId xmlns:p14="http://schemas.microsoft.com/office/powerpoint/2010/main" val="640515158"/>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A white background with circles&#10;&#10;Description automatically generated">
            <a:extLst>
              <a:ext uri="{FF2B5EF4-FFF2-40B4-BE49-F238E27FC236}">
                <a16:creationId xmlns:a16="http://schemas.microsoft.com/office/drawing/2014/main" id="{94D5AC59-4A2C-424E-89F8-56468FAF59C4}"/>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6" name="Rectangle 15">
            <a:extLst>
              <a:ext uri="{FF2B5EF4-FFF2-40B4-BE49-F238E27FC236}">
                <a16:creationId xmlns:a16="http://schemas.microsoft.com/office/drawing/2014/main" id="{A1E84AE8-EB71-4FD7-402F-B44839BDE018}"/>
              </a:ext>
            </a:extLst>
          </p:cNvPr>
          <p:cNvSpPr/>
          <p:nvPr userDrawn="1"/>
        </p:nvSpPr>
        <p:spPr>
          <a:xfrm>
            <a:off x="0" y="2067722"/>
            <a:ext cx="12192000" cy="325793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23" imgH="499" progId="TCLayout.ActiveDocument.1">
                  <p:embed/>
                </p:oleObj>
              </mc:Choice>
              <mc:Fallback>
                <p:oleObj name="think-cell Slide" r:id="rId5" imgW="523" imgH="499" progId="TCLayout.ActiveDocument.1">
                  <p:embed/>
                  <p:pic>
                    <p:nvPicPr>
                      <p:cNvPr id="2" name="Object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061C650E-1E80-F09A-452A-D7F5D6E1B578}"/>
              </a:ext>
            </a:extLst>
          </p:cNvPr>
          <p:cNvSpPr txBox="1"/>
          <p:nvPr userDrawn="1"/>
        </p:nvSpPr>
        <p:spPr>
          <a:xfrm>
            <a:off x="3679369" y="2285285"/>
            <a:ext cx="6531429" cy="2851999"/>
          </a:xfrm>
          <a:prstGeom prst="rect">
            <a:avLst/>
          </a:prstGeom>
          <a:noFill/>
        </p:spPr>
        <p:txBody>
          <a:bodyPr wrap="square" rtlCol="0">
            <a:spAutoFit/>
          </a:bodyPr>
          <a:lstStyle/>
          <a:p>
            <a:pPr marL="0" marR="0" indent="0" algn="just" defTabSz="914400" rtl="0" eaLnBrk="1" fontAlgn="auto" latinLnBrk="0" hangingPunct="1">
              <a:lnSpc>
                <a:spcPts val="1800"/>
              </a:lnSpc>
              <a:spcBef>
                <a:spcPts val="0"/>
              </a:spcBef>
              <a:spcAft>
                <a:spcPts val="0"/>
              </a:spcAft>
              <a:buClrTx/>
              <a:buSzTx/>
              <a:buFontTx/>
              <a:buNone/>
              <a:tabLst/>
              <a:defRPr/>
            </a:pPr>
            <a:r>
              <a:rPr lang="en-US" sz="1400" b="0" i="0">
                <a:solidFill>
                  <a:schemeClr val="bg2">
                    <a:lumMod val="25000"/>
                  </a:schemeClr>
                </a:solidFill>
                <a:latin typeface="Univers 57 Condensed" pitchFamily="2" charset="0"/>
                <a:cs typeface="Univers LT Std 55"/>
              </a:rPr>
              <a:t>The following presentation has been prepared by Medco E&amp;P (the “Company”) and contains certain projections, plans, business strategies, policies of the Company and industry data in which the Company operates in, which could be treated as forward-looking statements within the meaning of applicable law. Such forward-looking statements, by their nature, involve risks and uncertainties that could prove to be incorrect and cause actual results to differ materially from those expressed or implied in these statements. </a:t>
            </a:r>
          </a:p>
          <a:p>
            <a:pPr marL="0" marR="0" indent="0" algn="just" defTabSz="914400" rtl="0" eaLnBrk="1" fontAlgn="auto" latinLnBrk="0" hangingPunct="1">
              <a:lnSpc>
                <a:spcPts val="1800"/>
              </a:lnSpc>
              <a:spcBef>
                <a:spcPts val="0"/>
              </a:spcBef>
              <a:spcAft>
                <a:spcPts val="0"/>
              </a:spcAft>
              <a:buClrTx/>
              <a:buSzTx/>
              <a:buFontTx/>
              <a:buNone/>
              <a:tabLst/>
              <a:defRPr/>
            </a:pPr>
            <a:endParaRPr lang="en-US" sz="1400" b="0" i="0">
              <a:solidFill>
                <a:schemeClr val="bg2">
                  <a:lumMod val="25000"/>
                </a:schemeClr>
              </a:solidFill>
              <a:latin typeface="Univers 57 Condensed" pitchFamily="2" charset="0"/>
              <a:cs typeface="Univers LT Std 55"/>
            </a:endParaRPr>
          </a:p>
          <a:p>
            <a:pPr marL="0" marR="0" indent="0" algn="just" defTabSz="914400" rtl="0" eaLnBrk="1" fontAlgn="auto" latinLnBrk="0" hangingPunct="1">
              <a:lnSpc>
                <a:spcPts val="1800"/>
              </a:lnSpc>
              <a:spcBef>
                <a:spcPts val="0"/>
              </a:spcBef>
              <a:spcAft>
                <a:spcPts val="0"/>
              </a:spcAft>
              <a:buClrTx/>
              <a:buSzTx/>
              <a:buFontTx/>
              <a:buNone/>
              <a:tabLst/>
              <a:defRPr/>
            </a:pPr>
            <a:r>
              <a:rPr lang="en-US" sz="1400" b="0" i="0">
                <a:solidFill>
                  <a:schemeClr val="bg2">
                    <a:lumMod val="25000"/>
                  </a:schemeClr>
                </a:solidFill>
                <a:latin typeface="Univers 57 Condensed" pitchFamily="2" charset="0"/>
                <a:cs typeface="Univers LT Std 55"/>
              </a:rPr>
              <a:t>The Company does not guarantee that any action, which may have been taken. The information presented today is considered Company’s confidential and proprietary, and should not be disclosed, in whole or in part, outside of the Company without appropriate prior approval of Company’s management.</a:t>
            </a:r>
          </a:p>
        </p:txBody>
      </p:sp>
      <p:cxnSp>
        <p:nvCxnSpPr>
          <p:cNvPr id="5" name="Straight Connector 4">
            <a:extLst>
              <a:ext uri="{FF2B5EF4-FFF2-40B4-BE49-F238E27FC236}">
                <a16:creationId xmlns:a16="http://schemas.microsoft.com/office/drawing/2014/main" id="{FB26D590-8891-7F88-34F1-A729227F63F5}"/>
              </a:ext>
            </a:extLst>
          </p:cNvPr>
          <p:cNvCxnSpPr>
            <a:cxnSpLocks/>
          </p:cNvCxnSpPr>
          <p:nvPr userDrawn="1"/>
        </p:nvCxnSpPr>
        <p:spPr>
          <a:xfrm flipH="1">
            <a:off x="0" y="2067722"/>
            <a:ext cx="12192000" cy="0"/>
          </a:xfrm>
          <a:prstGeom prst="line">
            <a:avLst/>
          </a:prstGeom>
          <a:ln w="19050" cmpd="sng">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pic>
        <p:nvPicPr>
          <p:cNvPr id="6" name="Picture 4" descr="warn1">
            <a:extLst>
              <a:ext uri="{FF2B5EF4-FFF2-40B4-BE49-F238E27FC236}">
                <a16:creationId xmlns:a16="http://schemas.microsoft.com/office/drawing/2014/main" id="{C308E1C0-FFAD-C9DB-6BA9-4AAB32A7369D}"/>
              </a:ext>
            </a:extLst>
          </p:cNvPr>
          <p:cNvPicPr>
            <a:picLocks noChangeAspect="1" noChangeArrowheads="1"/>
          </p:cNvPicPr>
          <p:nvPr userDrawn="1"/>
        </p:nvPicPr>
        <p:blipFill>
          <a:blip r:embed="rId7" cstate="email">
            <a:extLst>
              <a:ext uri="{28A0092B-C50C-407E-A947-70E740481C1C}">
                <a14:useLocalDpi xmlns:a14="http://schemas.microsoft.com/office/drawing/2010/main"/>
              </a:ext>
            </a:extLst>
          </a:blip>
          <a:srcRect/>
          <a:stretch>
            <a:fillRect/>
          </a:stretch>
        </p:blipFill>
        <p:spPr bwMode="auto">
          <a:xfrm>
            <a:off x="2013767" y="2431637"/>
            <a:ext cx="1314631" cy="1213510"/>
          </a:xfrm>
          <a:prstGeom prst="rect">
            <a:avLst/>
          </a:prstGeom>
          <a:noFill/>
          <a:ln w="9525">
            <a:noFill/>
            <a:miter lim="800000"/>
            <a:headEnd/>
            <a:tailEnd/>
          </a:ln>
        </p:spPr>
      </p:pic>
      <p:sp>
        <p:nvSpPr>
          <p:cNvPr id="7" name="Rectangle 6">
            <a:extLst>
              <a:ext uri="{FF2B5EF4-FFF2-40B4-BE49-F238E27FC236}">
                <a16:creationId xmlns:a16="http://schemas.microsoft.com/office/drawing/2014/main" id="{7E8BED9A-0CFD-9C9C-4F58-BAB8A3D17691}"/>
              </a:ext>
            </a:extLst>
          </p:cNvPr>
          <p:cNvSpPr/>
          <p:nvPr userDrawn="1"/>
        </p:nvSpPr>
        <p:spPr>
          <a:xfrm>
            <a:off x="0" y="5337869"/>
            <a:ext cx="12192000" cy="73710"/>
          </a:xfrm>
          <a:prstGeom prst="rect">
            <a:avLst/>
          </a:prstGeom>
          <a:solidFill>
            <a:srgbClr val="00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D8EA8338-61D3-AC6F-5C0C-33E4EF782D2B}"/>
              </a:ext>
            </a:extLst>
          </p:cNvPr>
          <p:cNvPicPr>
            <a:picLocks noChangeAspect="1"/>
          </p:cNvPicPr>
          <p:nvPr userDrawn="1"/>
        </p:nvPicPr>
        <p:blipFill>
          <a:blip r:embed="rId8"/>
          <a:stretch>
            <a:fillRect/>
          </a:stretch>
        </p:blipFill>
        <p:spPr>
          <a:xfrm>
            <a:off x="8980975" y="1099954"/>
            <a:ext cx="1206494" cy="913571"/>
          </a:xfrm>
          <a:prstGeom prst="rect">
            <a:avLst/>
          </a:prstGeom>
        </p:spPr>
      </p:pic>
    </p:spTree>
    <p:extLst>
      <p:ext uri="{BB962C8B-B14F-4D97-AF65-F5344CB8AC3E}">
        <p14:creationId xmlns:p14="http://schemas.microsoft.com/office/powerpoint/2010/main" val="3533207446"/>
      </p:ext>
    </p:extLst>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23" imgH="499" progId="TCLayout.ActiveDocument.1">
                  <p:embed/>
                </p:oleObj>
              </mc:Choice>
              <mc:Fallback>
                <p:oleObj name="think-cell Slide" r:id="rId4" imgW="523" imgH="499"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8">
            <a:extLst>
              <a:ext uri="{FF2B5EF4-FFF2-40B4-BE49-F238E27FC236}">
                <a16:creationId xmlns:a16="http://schemas.microsoft.com/office/drawing/2014/main" id="{707E4153-1AA6-958D-2A00-6861539F5D6C}"/>
              </a:ext>
            </a:extLst>
          </p:cNvPr>
          <p:cNvSpPr txBox="1">
            <a:spLocks/>
          </p:cNvSpPr>
          <p:nvPr userDrawn="1"/>
        </p:nvSpPr>
        <p:spPr>
          <a:xfrm>
            <a:off x="124054" y="6473265"/>
            <a:ext cx="1237786"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54CDBFEC-D281-BE45-8B6B-3056C88C8B5C}" type="slidenum">
              <a:rPr lang="en-US" sz="1100" smtClean="0">
                <a:solidFill>
                  <a:srgbClr val="0070C0"/>
                </a:solidFill>
                <a:latin typeface="Arial" panose="020B0604020202020204" pitchFamily="34" charset="0"/>
                <a:cs typeface="Arial" panose="020B0604020202020204" pitchFamily="34" charset="0"/>
              </a:rPr>
              <a:pPr algn="l"/>
              <a:t>‹#›</a:t>
            </a:fld>
            <a:endParaRPr lang="en-US" sz="1100">
              <a:solidFill>
                <a:srgbClr val="0070C0"/>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7AE2307C-56E6-E931-A27C-7ADEFD33FB4E}"/>
              </a:ext>
            </a:extLst>
          </p:cNvPr>
          <p:cNvSpPr/>
          <p:nvPr userDrawn="1"/>
        </p:nvSpPr>
        <p:spPr>
          <a:xfrm>
            <a:off x="0" y="865854"/>
            <a:ext cx="12192000" cy="41607"/>
          </a:xfrm>
          <a:prstGeom prst="rect">
            <a:avLst/>
          </a:prstGeom>
          <a:solidFill>
            <a:srgbClr val="00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143313A-0CD8-BCE9-84ED-DE119C4CB782}"/>
              </a:ext>
            </a:extLst>
          </p:cNvPr>
          <p:cNvCxnSpPr>
            <a:cxnSpLocks/>
          </p:cNvCxnSpPr>
          <p:nvPr userDrawn="1"/>
        </p:nvCxnSpPr>
        <p:spPr>
          <a:xfrm flipH="1">
            <a:off x="0" y="6441021"/>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027AB5A-4394-FEC5-168F-9F71ECB1A3C4}"/>
              </a:ext>
            </a:extLst>
          </p:cNvPr>
          <p:cNvSpPr txBox="1"/>
          <p:nvPr userDrawn="1"/>
        </p:nvSpPr>
        <p:spPr>
          <a:xfrm>
            <a:off x="1526568" y="6503145"/>
            <a:ext cx="10569187" cy="523220"/>
          </a:xfrm>
          <a:prstGeom prst="rect">
            <a:avLst/>
          </a:prstGeom>
          <a:noFill/>
        </p:spPr>
        <p:txBody>
          <a:bodyPr wrap="square" rtlCol="0">
            <a:noAutofit/>
          </a:bodyPr>
          <a:lstStyle/>
          <a:p>
            <a:pPr algn="r"/>
            <a:r>
              <a:rPr lang="en-GB" sz="1100">
                <a:solidFill>
                  <a:srgbClr val="0070C0"/>
                </a:solidFill>
                <a:latin typeface="Univers LT Std 57 Cn" panose="020B0506020202050204" pitchFamily="34" charset="0"/>
              </a:rPr>
              <a:t>Value. </a:t>
            </a:r>
            <a:r>
              <a:rPr lang="en-GB" sz="1100">
                <a:latin typeface="Univers LT Std 57 Cn" panose="020B0506020202050204" pitchFamily="34" charset="0"/>
              </a:rPr>
              <a:t>Focus. </a:t>
            </a:r>
            <a:r>
              <a:rPr lang="en-GB" sz="1100">
                <a:solidFill>
                  <a:schemeClr val="accent6"/>
                </a:solidFill>
                <a:latin typeface="Univers LT Std 57 Cn" panose="020B0506020202050204" pitchFamily="34" charset="0"/>
              </a:rPr>
              <a:t>Growth.</a:t>
            </a:r>
          </a:p>
        </p:txBody>
      </p:sp>
      <p:pic>
        <p:nvPicPr>
          <p:cNvPr id="7" name="Picture 6">
            <a:extLst>
              <a:ext uri="{FF2B5EF4-FFF2-40B4-BE49-F238E27FC236}">
                <a16:creationId xmlns:a16="http://schemas.microsoft.com/office/drawing/2014/main" id="{B21B3250-75DF-36C2-56D8-8EA5403D7917}"/>
              </a:ext>
            </a:extLst>
          </p:cNvPr>
          <p:cNvPicPr>
            <a:picLocks noChangeAspect="1"/>
          </p:cNvPicPr>
          <p:nvPr userDrawn="1"/>
        </p:nvPicPr>
        <p:blipFill>
          <a:blip r:embed="rId6"/>
          <a:stretch>
            <a:fillRect/>
          </a:stretch>
        </p:blipFill>
        <p:spPr>
          <a:xfrm>
            <a:off x="11087066" y="120898"/>
            <a:ext cx="965629" cy="731185"/>
          </a:xfrm>
          <a:prstGeom prst="rect">
            <a:avLst/>
          </a:prstGeom>
        </p:spPr>
      </p:pic>
    </p:spTree>
    <p:extLst>
      <p:ext uri="{BB962C8B-B14F-4D97-AF65-F5344CB8AC3E}">
        <p14:creationId xmlns:p14="http://schemas.microsoft.com/office/powerpoint/2010/main" val="9499288"/>
      </p:ext>
    </p:extLst>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descr="A collage of different types of ships&#10;&#10;Description automatically generated">
            <a:extLst>
              <a:ext uri="{FF2B5EF4-FFF2-40B4-BE49-F238E27FC236}">
                <a16:creationId xmlns:a16="http://schemas.microsoft.com/office/drawing/2014/main" id="{0001B9A3-CB81-2F2E-98F3-766D1541A3F6}"/>
              </a:ext>
            </a:extLst>
          </p:cNvPr>
          <p:cNvPicPr>
            <a:picLocks noChangeAspect="1"/>
          </p:cNvPicPr>
          <p:nvPr userDrawn="1"/>
        </p:nvPicPr>
        <p:blipFill>
          <a:blip r:embed="rId6" cstate="print">
            <a:extLst>
              <a:ext uri="{28A0092B-C50C-407E-A947-70E740481C1C}">
                <a14:useLocalDpi xmlns:a14="http://schemas.microsoft.com/office/drawing/2010/main"/>
              </a:ext>
            </a:extLst>
          </a:blip>
          <a:srcRect l="14814" t="7922" r="1030" b="7922"/>
          <a:stretch/>
        </p:blipFill>
        <p:spPr>
          <a:xfrm>
            <a:off x="1" y="0"/>
            <a:ext cx="12191999" cy="6858000"/>
          </a:xfrm>
          <a:prstGeom prst="rect">
            <a:avLst/>
          </a:prstGeom>
        </p:spPr>
      </p:pic>
      <p:graphicFrame>
        <p:nvGraphicFramePr>
          <p:cNvPr id="2" name="Object 1"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23" imgH="499" progId="TCLayout.ActiveDocument.1">
                  <p:embed/>
                </p:oleObj>
              </mc:Choice>
              <mc:Fallback>
                <p:oleObj name="think-cell Slide" r:id="rId7" imgW="523" imgH="499" progId="TCLayout.ActiveDocument.1">
                  <p:embed/>
                  <p:pic>
                    <p:nvPicPr>
                      <p:cNvPr id="2" name="Object 1"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E753576E-3A61-09CA-3EA5-BBC1A1488539}"/>
              </a:ext>
            </a:extLst>
          </p:cNvPr>
          <p:cNvSpPr txBox="1"/>
          <p:nvPr userDrawn="1"/>
        </p:nvSpPr>
        <p:spPr>
          <a:xfrm>
            <a:off x="586042" y="2294315"/>
            <a:ext cx="10569187" cy="523220"/>
          </a:xfrm>
          <a:prstGeom prst="rect">
            <a:avLst/>
          </a:prstGeom>
          <a:noFill/>
        </p:spPr>
        <p:txBody>
          <a:bodyPr wrap="square" rtlCol="0">
            <a:noAutofit/>
          </a:bodyPr>
          <a:lstStyle/>
          <a:p>
            <a:pPr algn="l"/>
            <a:r>
              <a:rPr lang="en-GB" sz="1600">
                <a:solidFill>
                  <a:srgbClr val="0070C0"/>
                </a:solidFill>
                <a:latin typeface="Univers LT Std 57 Cn" panose="020B0506020202050204" pitchFamily="34" charset="0"/>
              </a:rPr>
              <a:t>Value. </a:t>
            </a:r>
            <a:r>
              <a:rPr lang="en-GB" sz="1600">
                <a:latin typeface="Univers LT Std 57 Cn" panose="020B0506020202050204" pitchFamily="34" charset="0"/>
              </a:rPr>
              <a:t>Focus. </a:t>
            </a:r>
            <a:r>
              <a:rPr lang="en-GB" sz="1600">
                <a:solidFill>
                  <a:schemeClr val="accent6"/>
                </a:solidFill>
                <a:latin typeface="Univers LT Std 57 Cn" panose="020B0506020202050204" pitchFamily="34" charset="0"/>
              </a:rPr>
              <a:t>Growth.</a:t>
            </a:r>
          </a:p>
        </p:txBody>
      </p:sp>
      <p:pic>
        <p:nvPicPr>
          <p:cNvPr id="6" name="Picture 5">
            <a:extLst>
              <a:ext uri="{FF2B5EF4-FFF2-40B4-BE49-F238E27FC236}">
                <a16:creationId xmlns:a16="http://schemas.microsoft.com/office/drawing/2014/main" id="{A0694973-2B54-96F1-5F07-012351CE5D8C}"/>
              </a:ext>
            </a:extLst>
          </p:cNvPr>
          <p:cNvPicPr>
            <a:picLocks noChangeAspect="1"/>
          </p:cNvPicPr>
          <p:nvPr userDrawn="1"/>
        </p:nvPicPr>
        <p:blipFill>
          <a:blip r:embed="rId9"/>
          <a:stretch>
            <a:fillRect/>
          </a:stretch>
        </p:blipFill>
        <p:spPr>
          <a:xfrm>
            <a:off x="295564" y="894303"/>
            <a:ext cx="3445161" cy="1424027"/>
          </a:xfrm>
          <a:prstGeom prst="rect">
            <a:avLst/>
          </a:prstGeom>
        </p:spPr>
      </p:pic>
    </p:spTree>
    <p:extLst>
      <p:ext uri="{BB962C8B-B14F-4D97-AF65-F5344CB8AC3E}">
        <p14:creationId xmlns:p14="http://schemas.microsoft.com/office/powerpoint/2010/main" val="1855036557"/>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descr="A white and blue wave&#10;&#10;Description automatically generated">
            <a:extLst>
              <a:ext uri="{FF2B5EF4-FFF2-40B4-BE49-F238E27FC236}">
                <a16:creationId xmlns:a16="http://schemas.microsoft.com/office/drawing/2014/main" id="{0E6C158A-0FA3-53B9-E30A-DDEF2D575EB5}"/>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23" imgH="499" progId="TCLayout.ActiveDocument.1">
                  <p:embed/>
                </p:oleObj>
              </mc:Choice>
              <mc:Fallback>
                <p:oleObj name="think-cell Slide" r:id="rId5" imgW="523" imgH="499" progId="TCLayout.ActiveDocument.1">
                  <p:embed/>
                  <p:pic>
                    <p:nvPicPr>
                      <p:cNvPr id="2" name="Object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E753576E-3A61-09CA-3EA5-BBC1A1488539}"/>
              </a:ext>
            </a:extLst>
          </p:cNvPr>
          <p:cNvSpPr txBox="1"/>
          <p:nvPr userDrawn="1"/>
        </p:nvSpPr>
        <p:spPr>
          <a:xfrm>
            <a:off x="586042" y="2413583"/>
            <a:ext cx="10569187" cy="523220"/>
          </a:xfrm>
          <a:prstGeom prst="rect">
            <a:avLst/>
          </a:prstGeom>
          <a:noFill/>
        </p:spPr>
        <p:txBody>
          <a:bodyPr wrap="square" rtlCol="0">
            <a:noAutofit/>
          </a:bodyPr>
          <a:lstStyle/>
          <a:p>
            <a:pPr algn="l"/>
            <a:r>
              <a:rPr lang="en-GB" sz="1600">
                <a:solidFill>
                  <a:srgbClr val="00B0F0"/>
                </a:solidFill>
                <a:latin typeface="Univers LT Std 57 Cn" panose="020B0506020202050204" pitchFamily="34" charset="0"/>
              </a:rPr>
              <a:t>Value. </a:t>
            </a:r>
            <a:r>
              <a:rPr lang="en-GB" sz="1600">
                <a:solidFill>
                  <a:srgbClr val="0070C0"/>
                </a:solidFill>
                <a:latin typeface="Univers LT Std 57 Cn" panose="020B0506020202050204" pitchFamily="34" charset="0"/>
              </a:rPr>
              <a:t>Focus.</a:t>
            </a:r>
            <a:r>
              <a:rPr lang="en-GB" sz="1600">
                <a:solidFill>
                  <a:schemeClr val="accent5">
                    <a:lumMod val="50000"/>
                  </a:schemeClr>
                </a:solidFill>
                <a:latin typeface="Univers LT Std 57 Cn" panose="020B0506020202050204" pitchFamily="34" charset="0"/>
              </a:rPr>
              <a:t> </a:t>
            </a:r>
            <a:r>
              <a:rPr lang="en-GB" sz="1600">
                <a:solidFill>
                  <a:schemeClr val="accent6"/>
                </a:solidFill>
                <a:latin typeface="Univers LT Std 57 Cn" panose="020B0506020202050204" pitchFamily="34" charset="0"/>
              </a:rPr>
              <a:t>Growth.</a:t>
            </a:r>
          </a:p>
        </p:txBody>
      </p:sp>
      <p:pic>
        <p:nvPicPr>
          <p:cNvPr id="3" name="Picture 2">
            <a:extLst>
              <a:ext uri="{FF2B5EF4-FFF2-40B4-BE49-F238E27FC236}">
                <a16:creationId xmlns:a16="http://schemas.microsoft.com/office/drawing/2014/main" id="{043FABC3-CC9C-6A7D-463C-DF6778BF1292}"/>
              </a:ext>
            </a:extLst>
          </p:cNvPr>
          <p:cNvPicPr>
            <a:picLocks noChangeAspect="1"/>
          </p:cNvPicPr>
          <p:nvPr userDrawn="1"/>
        </p:nvPicPr>
        <p:blipFill>
          <a:blip r:embed="rId7"/>
          <a:stretch>
            <a:fillRect/>
          </a:stretch>
        </p:blipFill>
        <p:spPr>
          <a:xfrm>
            <a:off x="670233" y="1539374"/>
            <a:ext cx="2596842" cy="728021"/>
          </a:xfrm>
          <a:prstGeom prst="rect">
            <a:avLst/>
          </a:prstGeom>
        </p:spPr>
      </p:pic>
    </p:spTree>
    <p:extLst>
      <p:ext uri="{BB962C8B-B14F-4D97-AF65-F5344CB8AC3E}">
        <p14:creationId xmlns:p14="http://schemas.microsoft.com/office/powerpoint/2010/main" val="2103917201"/>
      </p:ext>
    </p:extLst>
  </p:cSld>
  <p:clrMap bg1="lt1" tx1="dk1" bg2="lt2" tx2="dk2" accent1="accent1" accent2="accent2" accent3="accent3" accent4="accent4" accent5="accent5" accent6="accent6" hlink="hlink" folHlink="folHlink"/>
  <p:sldLayoutIdLst>
    <p:sldLayoutId id="214748372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38A13C-0889-6E75-0DD0-A2CD5E2225DD}"/>
              </a:ext>
            </a:extLst>
          </p:cNvPr>
          <p:cNvSpPr txBox="1"/>
          <p:nvPr/>
        </p:nvSpPr>
        <p:spPr>
          <a:xfrm>
            <a:off x="670959" y="4068109"/>
            <a:ext cx="5185060" cy="300138"/>
          </a:xfrm>
          <a:prstGeom prst="rect">
            <a:avLst/>
          </a:prstGeom>
          <a:noFill/>
          <a:effectLst/>
        </p:spPr>
        <p:txBody>
          <a:bodyPr wrap="square" lIns="0" r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a:ln>
                  <a:noFill/>
                </a:ln>
                <a:solidFill>
                  <a:srgbClr val="E7E6E6">
                    <a:lumMod val="50000"/>
                  </a:srgbClr>
                </a:solidFill>
                <a:effectLst/>
                <a:uLnTx/>
                <a:uFillTx/>
                <a:latin typeface="Univers 57 Condensed" pitchFamily="2" charset="0"/>
                <a:ea typeface="+mn-ea"/>
                <a:cs typeface="Calibri"/>
              </a:rPr>
              <a:t>Medco E&amp;P Grissik | 6</a:t>
            </a:r>
            <a:r>
              <a:rPr lang="sv-SE" sz="1600" dirty="0">
                <a:solidFill>
                  <a:srgbClr val="E7E6E6">
                    <a:lumMod val="50000"/>
                  </a:srgbClr>
                </a:solidFill>
                <a:latin typeface="Univers 57 Condensed" pitchFamily="2" charset="0"/>
                <a:cs typeface="Calibri"/>
              </a:rPr>
              <a:t>th</a:t>
            </a:r>
            <a:r>
              <a:rPr kumimoji="0" lang="sv-SE" sz="1600" b="0" i="0" u="none" strike="noStrike" kern="1200" cap="none" spc="0" normalizeH="0" baseline="0" noProof="0" dirty="0">
                <a:ln>
                  <a:noFill/>
                </a:ln>
                <a:solidFill>
                  <a:srgbClr val="E7E6E6">
                    <a:lumMod val="50000"/>
                  </a:srgbClr>
                </a:solidFill>
                <a:effectLst/>
                <a:uLnTx/>
                <a:uFillTx/>
                <a:latin typeface="Univers 57 Condensed" pitchFamily="2" charset="0"/>
                <a:ea typeface="+mn-ea"/>
                <a:cs typeface="Calibri"/>
              </a:rPr>
              <a:t> Jun 2026</a:t>
            </a:r>
          </a:p>
        </p:txBody>
      </p:sp>
      <p:sp>
        <p:nvSpPr>
          <p:cNvPr id="3" name="TextBox 2">
            <a:extLst>
              <a:ext uri="{FF2B5EF4-FFF2-40B4-BE49-F238E27FC236}">
                <a16:creationId xmlns:a16="http://schemas.microsoft.com/office/drawing/2014/main" id="{2612D803-E5A4-ED19-EE20-6D979FB09F36}"/>
              </a:ext>
            </a:extLst>
          </p:cNvPr>
          <p:cNvSpPr txBox="1"/>
          <p:nvPr/>
        </p:nvSpPr>
        <p:spPr>
          <a:xfrm>
            <a:off x="683202" y="3030472"/>
            <a:ext cx="6872222" cy="523220"/>
          </a:xfrm>
          <a:prstGeom prst="rect">
            <a:avLst/>
          </a:prstGeom>
          <a:noFill/>
          <a:effectLst/>
        </p:spPr>
        <p:txBody>
          <a:bodyPr wrap="square" lIns="0" rIns="0" rtlCol="0">
            <a:noAutofit/>
          </a:bodyPr>
          <a:lstStyle/>
          <a:p>
            <a:pPr marL="0" marR="0" lvl="0" indent="0" algn="l" defTabSz="914400" rtl="0" eaLnBrk="1" fontAlgn="auto" latinLnBrk="0" hangingPunct="1">
              <a:lnSpc>
                <a:spcPts val="39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0070C0"/>
                </a:solidFill>
                <a:effectLst/>
                <a:uLnTx/>
                <a:uFillTx/>
                <a:latin typeface="Univers LT Std 47 Cn Lt" panose="020B0506020202050204" pitchFamily="34" charset="0"/>
                <a:ea typeface="+mn-ea"/>
                <a:cs typeface="Arial Narrow" panose="020B0604020202020204" pitchFamily="34" charset="0"/>
              </a:rPr>
              <a:t>MEPG Integrated Planning Process </a:t>
            </a:r>
            <a:r>
              <a:rPr lang="en-US" sz="3800" b="1" dirty="0">
                <a:solidFill>
                  <a:srgbClr val="0070C0"/>
                </a:solidFill>
                <a:latin typeface="Univers LT Std 47 Cn Lt" panose="020B0506020202050204" pitchFamily="34" charset="0"/>
                <a:cs typeface="Calibri"/>
              </a:rPr>
              <a:t>Revision (4</a:t>
            </a:r>
            <a:r>
              <a:rPr lang="en-US" sz="3800" b="1" baseline="30000" dirty="0">
                <a:solidFill>
                  <a:srgbClr val="0070C0"/>
                </a:solidFill>
                <a:latin typeface="Univers LT Std 47 Cn Lt" panose="020B0506020202050204" pitchFamily="34" charset="0"/>
                <a:cs typeface="Calibri"/>
              </a:rPr>
              <a:t>th</a:t>
            </a:r>
            <a:r>
              <a:rPr lang="en-US" sz="3800" b="1" dirty="0">
                <a:solidFill>
                  <a:srgbClr val="0070C0"/>
                </a:solidFill>
                <a:latin typeface="Univers LT Std 47 Cn Lt" panose="020B0506020202050204" pitchFamily="34" charset="0"/>
                <a:cs typeface="Calibri"/>
              </a:rPr>
              <a:t> Version)</a:t>
            </a:r>
            <a:endParaRPr kumimoji="0" lang="en-US" sz="3800" b="1" i="0" u="none" strike="noStrike" kern="1200" cap="none" spc="0" normalizeH="0" baseline="0" noProof="0" dirty="0">
              <a:ln>
                <a:noFill/>
              </a:ln>
              <a:solidFill>
                <a:srgbClr val="006CB8"/>
              </a:solidFill>
              <a:effectLst/>
              <a:uLnTx/>
              <a:uFillTx/>
              <a:latin typeface="Univers 67 Condensed" pitchFamily="2" charset="0"/>
              <a:ea typeface="+mn-ea"/>
              <a:cs typeface="Calibri"/>
            </a:endParaRPr>
          </a:p>
        </p:txBody>
      </p:sp>
      <p:sp>
        <p:nvSpPr>
          <p:cNvPr id="4" name="TextBox 3"/>
          <p:cNvSpPr txBox="1"/>
          <p:nvPr/>
        </p:nvSpPr>
        <p:spPr>
          <a:xfrm>
            <a:off x="667512" y="4370832"/>
            <a:ext cx="6858000" cy="310896"/>
          </a:xfrm>
          <a:prstGeom prst="rect">
            <a:avLst/>
          </a:prstGeom>
          <a:noFill/>
        </p:spPr>
        <p:txBody>
          <a:bodyPr wrap="none" lIns="0" tIns="0">
            <a:spAutoFit/>
          </a:bodyPr>
          <a:lstStyle/>
          <a:p>
            <a:r>
              <a:rPr sz="1300" b="1">
                <a:solidFill>
                  <a:srgbClr val="004C8F"/>
                </a:solidFill>
                <a:latin typeface="Calibri"/>
              </a:rPr>
              <a:t>Executive Update for SM / SVP Endorsement  •  Rev 3 → Rev 4</a:t>
            </a:r>
          </a:p>
        </p:txBody>
      </p:sp>
    </p:spTree>
    <p:extLst>
      <p:ext uri="{BB962C8B-B14F-4D97-AF65-F5344CB8AC3E}">
        <p14:creationId xmlns:p14="http://schemas.microsoft.com/office/powerpoint/2010/main" val="3764021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3E650-CD95-B65B-CFCC-D62AF585BD67}"/>
            </a:ext>
          </a:extLst>
        </p:cNvPr>
        <p:cNvGrpSpPr/>
        <p:nvPr/>
      </p:nvGrpSpPr>
      <p:grpSpPr>
        <a:xfrm>
          <a:off x="0" y="0"/>
          <a:ext cx="0" cy="0"/>
          <a:chOff x="0" y="0"/>
          <a:chExt cx="0" cy="0"/>
        </a:xfrm>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Executive Summary</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Rev 4 realigns Corridor planning to corporate IBP (GN-3005) and the operational framework (GN-3007), both issued after Rev 3.</a:t>
            </a:r>
          </a:p>
        </p:txBody>
      </p:sp>
      <p:graphicFrame>
        <p:nvGraphicFramePr>
          <p:cNvPr id="4" name="Table 3"/>
          <p:cNvGraphicFramePr>
            <a:graphicFrameLocks noGrp="1"/>
          </p:cNvGraphicFramePr>
          <p:nvPr/>
        </p:nvGraphicFramePr>
        <p:xfrm>
          <a:off x="274320" y="1463040"/>
          <a:ext cx="11292840" cy="5047488"/>
        </p:xfrm>
        <a:graphic>
          <a:graphicData uri="http://schemas.openxmlformats.org/drawingml/2006/table">
            <a:tbl>
              <a:tblPr/>
              <a:tblGrid>
                <a:gridCol w="1783080"/>
                <a:gridCol w="3017520"/>
                <a:gridCol w="3703320"/>
                <a:gridCol w="2788920"/>
              </a:tblGrid>
              <a:tr h="384048">
                <a:tc>
                  <a:txBody>
                    <a:bodyPr wrap="square"/>
                    <a:lstStyle/>
                    <a:p>
                      <a:pPr algn="l">
                        <a:spcBef>
                          <a:spcPts val="0"/>
                        </a:spcBef>
                        <a:spcAft>
                          <a:spcPts val="100"/>
                        </a:spcAft>
                      </a:pPr>
                      <a:r>
                        <a:rPr sz="1100" b="1" i="0">
                          <a:solidFill>
                            <a:srgbClr val="FFFFFF"/>
                          </a:solidFill>
                          <a:latin typeface="Calibri"/>
                        </a:rPr>
                        <a:t>Dimension</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100" b="1" i="0">
                          <a:solidFill>
                            <a:srgbClr val="FFFFFF"/>
                          </a:solidFill>
                          <a:latin typeface="Calibri"/>
                        </a:rPr>
                        <a:t>Current State (Rev 3)</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100" b="1" i="0">
                          <a:solidFill>
                            <a:srgbClr val="FFFFFF"/>
                          </a:solidFill>
                          <a:latin typeface="Calibri"/>
                        </a:rPr>
                        <a:t>Rev 4 Improvement</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100" b="1" i="0">
                          <a:solidFill>
                            <a:srgbClr val="FFFFFF"/>
                          </a:solidFill>
                          <a:latin typeface="Calibri"/>
                        </a:rPr>
                        <a:t>Business Rationale &amp; Expected Impact</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932688">
                <a:tc>
                  <a:txBody>
                    <a:bodyPr wrap="square"/>
                    <a:lstStyle/>
                    <a:p>
                      <a:pPr algn="l">
                        <a:spcBef>
                          <a:spcPts val="0"/>
                        </a:spcBef>
                        <a:spcAft>
                          <a:spcPts val="100"/>
                        </a:spcAft>
                      </a:pPr>
                      <a:r>
                        <a:rPr sz="1050" b="1" i="0">
                          <a:solidFill>
                            <a:srgbClr val="004C8F"/>
                          </a:solidFill>
                          <a:latin typeface="Calibri"/>
                        </a:rPr>
                        <a:t>Concept &amp; Strategy</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595959"/>
                          </a:solidFill>
                          <a:latin typeface="Calibri"/>
                        </a:rPr>
                        <a:t>Stand-alone guideline; predates GN-3005 &amp; GN-3007; objectives a simple list.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Aligned &amp; cross-referenced to GN-3005/3007, GL-001/002; scope expanded FDP→7D; new 11-objective table.</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One corporately-aligned planning language; consistent decisions across horizons.</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932688">
                <a:tc>
                  <a:txBody>
                    <a:bodyPr wrap="square"/>
                    <a:lstStyle/>
                    <a:p>
                      <a:pPr algn="l">
                        <a:spcBef>
                          <a:spcPts val="0"/>
                        </a:spcBef>
                        <a:spcAft>
                          <a:spcPts val="100"/>
                        </a:spcAft>
                      </a:pPr>
                      <a:r>
                        <a:rPr sz="1050" b="1" i="0">
                          <a:solidFill>
                            <a:srgbClr val="004C8F"/>
                          </a:solidFill>
                          <a:latin typeface="Calibri"/>
                        </a:rPr>
                        <a:t>Work Process &amp; System</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595959"/>
                          </a:solidFill>
                          <a:latin typeface="Calibri"/>
                        </a:rPr>
                        <a:t>Heritage RACI; vague governance; ownership unclear.</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Common work process; governance forums + fixed cadence; clarified approval authorities; OPAA defined; tools/systems.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Clear ownership and cadence; faster, accountable decision-making.</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932688">
                <a:tc>
                  <a:txBody>
                    <a:bodyPr wrap="square"/>
                    <a:lstStyle/>
                    <a:p>
                      <a:pPr algn="l">
                        <a:spcBef>
                          <a:spcPts val="0"/>
                        </a:spcBef>
                        <a:spcAft>
                          <a:spcPts val="100"/>
                        </a:spcAft>
                      </a:pPr>
                      <a:r>
                        <a:rPr sz="1050" b="1" i="0">
                          <a:solidFill>
                            <a:srgbClr val="004C8F"/>
                          </a:solidFill>
                          <a:latin typeface="Calibri"/>
                        </a:rPr>
                        <a:t>Management of Plans</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595959"/>
                          </a:solidFill>
                          <a:latin typeface="Calibri"/>
                        </a:rPr>
                        <a:t>Thin; limited control of what enters execution.</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Gate reviews (G1/G2/G3); constraints, risk, conflict &amp; prioritization; opportunity ID (new); change control / break-in.</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Protects execution from unprepared work and uncontrolled change.</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932688">
                <a:tc>
                  <a:txBody>
                    <a:bodyPr wrap="square"/>
                    <a:lstStyle/>
                    <a:p>
                      <a:pPr algn="l">
                        <a:spcBef>
                          <a:spcPts val="0"/>
                        </a:spcBef>
                        <a:spcAft>
                          <a:spcPts val="100"/>
                        </a:spcAft>
                      </a:pPr>
                      <a:r>
                        <a:rPr sz="1050" b="1" i="0">
                          <a:solidFill>
                            <a:srgbClr val="004C8F"/>
                          </a:solidFill>
                          <a:latin typeface="Calibri"/>
                        </a:rPr>
                        <a:t>Performance Assessment</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595959"/>
                          </a:solidFill>
                          <a:latin typeface="Calibri"/>
                        </a:rPr>
                        <a:t>Legacy / loosely-defined KPIs.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Redefined KPIs — Schedule Attainment (SF), SPI, Break-in, Deletion — plus secondary metrics.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Objective, comparable visibility of planning performance.</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932688">
                <a:tc>
                  <a:txBody>
                    <a:bodyPr wrap="square"/>
                    <a:lstStyle/>
                    <a:p>
                      <a:pPr algn="l">
                        <a:spcBef>
                          <a:spcPts val="0"/>
                        </a:spcBef>
                        <a:spcAft>
                          <a:spcPts val="100"/>
                        </a:spcAft>
                      </a:pPr>
                      <a:r>
                        <a:rPr sz="1050" b="1" i="0">
                          <a:solidFill>
                            <a:srgbClr val="004C8F"/>
                          </a:solidFill>
                          <a:latin typeface="Calibri"/>
                        </a:rPr>
                        <a:t>Continuous Improvement</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595959"/>
                          </a:solidFill>
                          <a:latin typeface="Calibri"/>
                        </a:rPr>
                        <a:t>Informal; not systematic.</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AAR, peer review, benchmarking and feedback loops across all horizons.</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Institutional learning; sustained improvement; less NPT.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bl>
          </a:graphicData>
        </a:graphic>
      </p:graphicFrame>
    </p:spTree>
    <p:extLst>
      <p:ext uri="{BB962C8B-B14F-4D97-AF65-F5344CB8AC3E}">
        <p14:creationId xmlns:p14="http://schemas.microsoft.com/office/powerpoint/2010/main" val="1459855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DB26D-99A9-685F-7B13-C6B7A43184B0}"/>
            </a:ext>
          </a:extLst>
        </p:cNvPr>
        <p:cNvGrpSpPr/>
        <p:nvPr/>
      </p:nvGrpSpPr>
      <p:grpSpPr>
        <a:xfrm>
          <a:off x="0" y="0"/>
          <a:ext cx="0" cy="0"/>
          <a:chOff x="0" y="0"/>
          <a:chExt cx="0" cy="0"/>
        </a:xfrm>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Key Changes – Concept &amp; Strategy</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From a stand-alone Rev 3 guideline to one corporately-aligned planning framework built on an 11-objective foundation.</a:t>
            </a:r>
          </a:p>
        </p:txBody>
      </p:sp>
      <p:sp>
        <p:nvSpPr>
          <p:cNvPr id="4" name="Rounded Rectangle 3"/>
          <p:cNvSpPr/>
          <p:nvPr/>
        </p:nvSpPr>
        <p:spPr>
          <a:xfrm>
            <a:off x="274320" y="1554480"/>
            <a:ext cx="5440680" cy="3063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09344"/>
            <a:ext cx="5440680" cy="292608"/>
          </a:xfrm>
          <a:prstGeom prst="rect">
            <a:avLst/>
          </a:prstGeom>
          <a:noFill/>
        </p:spPr>
        <p:txBody>
          <a:bodyPr wrap="square" anchor="t" lIns="25400" rIns="25400" tIns="12700" bIns="12700">
            <a:spAutoFit/>
          </a:bodyPr>
          <a:lstStyle/>
          <a:p>
            <a:pPr algn="ctr">
              <a:spcBef>
                <a:spcPts val="0"/>
              </a:spcBef>
              <a:spcAft>
                <a:spcPts val="200"/>
              </a:spcAft>
            </a:pPr>
            <a:r>
              <a:rPr sz="1300" b="1" i="0">
                <a:solidFill>
                  <a:srgbClr val="595959"/>
                </a:solidFill>
                <a:latin typeface="Calibri"/>
              </a:rPr>
              <a:t>BEFORE  –  Rev 3 (22 Nov 2024)</a:t>
            </a:r>
          </a:p>
        </p:txBody>
      </p:sp>
      <p:sp>
        <p:nvSpPr>
          <p:cNvPr id="6" name="TextBox 5"/>
          <p:cNvSpPr txBox="1"/>
          <p:nvPr/>
        </p:nvSpPr>
        <p:spPr>
          <a:xfrm>
            <a:off x="502920" y="2011680"/>
            <a:ext cx="5029200" cy="2514600"/>
          </a:xfrm>
          <a:prstGeom prst="rect">
            <a:avLst/>
          </a:prstGeom>
          <a:noFill/>
        </p:spPr>
        <p:txBody>
          <a:bodyPr wrap="square" anchor="t" lIns="25400" rIns="25400" tIns="12700" bIns="12700">
            <a:spAutoFit/>
          </a:bodyPr>
          <a:lstStyle/>
          <a:p>
            <a:pPr algn="l">
              <a:lnSpc>
                <a:spcPct val="100000"/>
              </a:lnSpc>
              <a:spcBef>
                <a:spcPts val="0"/>
              </a:spcBef>
              <a:spcAft>
                <a:spcPts val="800"/>
              </a:spcAft>
            </a:pPr>
            <a:r>
              <a:rPr sz="1100" b="0" i="0">
                <a:solidFill>
                  <a:srgbClr val="262626"/>
                </a:solidFill>
                <a:latin typeface="Calibri"/>
              </a:rPr>
              <a:t>Stand-alone guideline — issued before the documents it must now align to existed.</a:t>
            </a:r>
          </a:p>
          <a:p>
            <a:pPr algn="l">
              <a:lnSpc>
                <a:spcPct val="100000"/>
              </a:lnSpc>
              <a:spcBef>
                <a:spcPts val="0"/>
              </a:spcBef>
              <a:spcAft>
                <a:spcPts val="800"/>
              </a:spcAft>
            </a:pPr>
            <a:r>
              <a:rPr sz="1100" b="0" i="0">
                <a:solidFill>
                  <a:srgbClr val="262626"/>
                </a:solidFill>
                <a:latin typeface="Calibri"/>
              </a:rPr>
              <a:t>No reference to GN-3005 (corporate IBP, Jan 2025) or GN-3007 (operational, Jan 2026).</a:t>
            </a:r>
          </a:p>
          <a:p>
            <a:pPr algn="l">
              <a:lnSpc>
                <a:spcPct val="100000"/>
              </a:lnSpc>
              <a:spcBef>
                <a:spcPts val="0"/>
              </a:spcBef>
              <a:spcAft>
                <a:spcPts val="800"/>
              </a:spcAft>
            </a:pPr>
            <a:r>
              <a:rPr sz="1100" b="0" i="0">
                <a:solidFill>
                  <a:srgbClr val="262626"/>
                </a:solidFill>
                <a:latin typeface="Calibri"/>
              </a:rPr>
              <a:t>Objectives stated as a simple list — no “how” or business value attached.</a:t>
            </a:r>
          </a:p>
          <a:p>
            <a:pPr algn="l">
              <a:lnSpc>
                <a:spcPct val="100000"/>
              </a:lnSpc>
              <a:spcBef>
                <a:spcPts val="0"/>
              </a:spcBef>
              <a:spcAft>
                <a:spcPts val="800"/>
              </a:spcAft>
            </a:pPr>
            <a:r>
              <a:rPr sz="1100" b="0" i="0">
                <a:solidFill>
                  <a:srgbClr val="262626"/>
                </a:solidFill>
                <a:latin typeface="Calibri"/>
              </a:rPr>
              <a:t>Scope limited; short-term horizons under-specified.</a:t>
            </a:r>
          </a:p>
        </p:txBody>
      </p:sp>
      <p:sp>
        <p:nvSpPr>
          <p:cNvPr id="7" name="Rounded Rectangle 6"/>
          <p:cNvSpPr/>
          <p:nvPr/>
        </p:nvSpPr>
        <p:spPr>
          <a:xfrm>
            <a:off x="5897880" y="1554480"/>
            <a:ext cx="5989320" cy="306324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609344"/>
            <a:ext cx="5989320" cy="292608"/>
          </a:xfrm>
          <a:prstGeom prst="rect">
            <a:avLst/>
          </a:prstGeom>
          <a:noFill/>
        </p:spPr>
        <p:txBody>
          <a:bodyPr wrap="square" anchor="t" lIns="25400" rIns="25400" tIns="12700" bIns="12700">
            <a:spAutoFit/>
          </a:bodyPr>
          <a:lstStyle/>
          <a:p>
            <a:pPr algn="ctr">
              <a:spcBef>
                <a:spcPts val="0"/>
              </a:spcBef>
              <a:spcAft>
                <a:spcPts val="200"/>
              </a:spcAft>
            </a:pPr>
            <a:r>
              <a:rPr sz="1300" b="1" i="0">
                <a:solidFill>
                  <a:srgbClr val="004C8F"/>
                </a:solidFill>
                <a:latin typeface="Calibri"/>
              </a:rPr>
              <a:t>AFTER  –  Rev 4 (2026)</a:t>
            </a:r>
          </a:p>
        </p:txBody>
      </p:sp>
      <p:sp>
        <p:nvSpPr>
          <p:cNvPr id="9" name="TextBox 8"/>
          <p:cNvSpPr txBox="1"/>
          <p:nvPr/>
        </p:nvSpPr>
        <p:spPr>
          <a:xfrm>
            <a:off x="6126480" y="2011680"/>
            <a:ext cx="5577840" cy="2514600"/>
          </a:xfrm>
          <a:prstGeom prst="rect">
            <a:avLst/>
          </a:prstGeom>
          <a:noFill/>
        </p:spPr>
        <p:txBody>
          <a:bodyPr wrap="square" anchor="t" lIns="25400" rIns="25400" tIns="12700" bIns="12700">
            <a:spAutoFit/>
          </a:bodyPr>
          <a:lstStyle/>
          <a:p>
            <a:pPr algn="l">
              <a:lnSpc>
                <a:spcPct val="100000"/>
              </a:lnSpc>
              <a:spcBef>
                <a:spcPts val="0"/>
              </a:spcBef>
              <a:spcAft>
                <a:spcPts val="800"/>
              </a:spcAft>
            </a:pPr>
            <a:r>
              <a:rPr sz="1100" b="0" i="0">
                <a:solidFill>
                  <a:srgbClr val="262626"/>
                </a:solidFill>
                <a:latin typeface="Calibri"/>
              </a:rPr>
              <a:t>Aligned &amp; explicitly cross-referenced: GN-3005 (LTP/IBP), GN-3007 (operational horizons), GL-001 FDP, GL-002 ADP, MPEP, AACE RP 37R-06.</a:t>
            </a:r>
          </a:p>
          <a:p>
            <a:pPr algn="l">
              <a:lnSpc>
                <a:spcPct val="100000"/>
              </a:lnSpc>
              <a:spcBef>
                <a:spcPts val="0"/>
              </a:spcBef>
              <a:spcAft>
                <a:spcPts val="800"/>
              </a:spcAft>
            </a:pPr>
            <a:r>
              <a:rPr sz="1100" b="0" i="0">
                <a:solidFill>
                  <a:srgbClr val="262626"/>
                </a:solidFill>
                <a:latin typeface="Calibri"/>
              </a:rPr>
              <a:t>Scope expanded to the full chain — FDP, ADP, LTP (outer-years + 24M), 12M, 90D, 30D, 7D.</a:t>
            </a:r>
          </a:p>
          <a:p>
            <a:pPr algn="l">
              <a:lnSpc>
                <a:spcPct val="100000"/>
              </a:lnSpc>
              <a:spcBef>
                <a:spcPts val="0"/>
              </a:spcBef>
              <a:spcAft>
                <a:spcPts val="800"/>
              </a:spcAft>
            </a:pPr>
            <a:r>
              <a:rPr sz="1100" b="0" i="0">
                <a:solidFill>
                  <a:srgbClr val="262626"/>
                </a:solidFill>
                <a:latin typeface="Calibri"/>
              </a:rPr>
              <a:t>New Table 1: 11 integrated-planning objectives, each with Expected Behaviour (how) + Organizational Value (why).</a:t>
            </a:r>
          </a:p>
        </p:txBody>
      </p:sp>
      <p:sp>
        <p:nvSpPr>
          <p:cNvPr id="10" name="Rounded Rectangle 9"/>
          <p:cNvSpPr/>
          <p:nvPr/>
        </p:nvSpPr>
        <p:spPr>
          <a:xfrm>
            <a:off x="274320" y="4846320"/>
            <a:ext cx="11612880" cy="1417320"/>
          </a:xfrm>
          <a:prstGeom prst="roundRect">
            <a:avLst/>
          </a:prstGeom>
          <a:solidFill>
            <a:srgbClr val="004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956048"/>
            <a:ext cx="11155680" cy="292608"/>
          </a:xfrm>
          <a:prstGeom prst="rect">
            <a:avLst/>
          </a:prstGeom>
          <a:noFill/>
        </p:spPr>
        <p:txBody>
          <a:bodyPr wrap="square" anchor="t" lIns="25400" rIns="25400" tIns="12700" bIns="12700">
            <a:spAutoFit/>
          </a:bodyPr>
          <a:lstStyle/>
          <a:p>
            <a:pPr algn="l">
              <a:spcBef>
                <a:spcPts val="0"/>
              </a:spcBef>
              <a:spcAft>
                <a:spcPts val="200"/>
              </a:spcAft>
            </a:pPr>
            <a:r>
              <a:rPr sz="1200" b="1" i="0">
                <a:solidFill>
                  <a:srgbClr val="FFC000"/>
                </a:solidFill>
                <a:latin typeface="Calibri"/>
              </a:rPr>
              <a:t>BUSINESS VALUE</a:t>
            </a:r>
          </a:p>
        </p:txBody>
      </p:sp>
      <p:sp>
        <p:nvSpPr>
          <p:cNvPr id="12" name="TextBox 11"/>
          <p:cNvSpPr txBox="1"/>
          <p:nvPr/>
        </p:nvSpPr>
        <p:spPr>
          <a:xfrm>
            <a:off x="502920" y="5285232"/>
            <a:ext cx="11155680" cy="914400"/>
          </a:xfrm>
          <a:prstGeom prst="rect">
            <a:avLst/>
          </a:prstGeom>
          <a:noFill/>
        </p:spPr>
        <p:txBody>
          <a:bodyPr wrap="square" anchor="t" lIns="25400" rIns="25400" tIns="12700" bIns="12700">
            <a:spAutoFit/>
          </a:bodyPr>
          <a:lstStyle/>
          <a:p>
            <a:pPr algn="l">
              <a:lnSpc>
                <a:spcPct val="105000"/>
              </a:lnSpc>
              <a:spcBef>
                <a:spcPts val="0"/>
              </a:spcBef>
              <a:spcAft>
                <a:spcPts val="200"/>
              </a:spcAft>
            </a:pPr>
            <a:r>
              <a:rPr sz="1200" b="0" i="0">
                <a:solidFill>
                  <a:srgbClr val="FFFFFF"/>
                </a:solidFill>
                <a:latin typeface="Calibri"/>
              </a:rPr>
              <a:t>One common planning language across all horizons — objectives now drive HSE, value creation, cost &amp; resource efficiency, execution readiness and minimized NPT, with roles and behaviours made explicit.</a:t>
            </a:r>
          </a:p>
        </p:txBody>
      </p:sp>
    </p:spTree>
    <p:extLst>
      <p:ext uri="{BB962C8B-B14F-4D97-AF65-F5344CB8AC3E}">
        <p14:creationId xmlns:p14="http://schemas.microsoft.com/office/powerpoint/2010/main" val="3205352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A1A2E-30F0-7A25-987D-135CEFFD1286}"/>
            </a:ext>
          </a:extLst>
        </p:cNvPr>
        <p:cNvGrpSpPr/>
        <p:nvPr/>
      </p:nvGrpSpPr>
      <p:grpSpPr>
        <a:xfrm>
          <a:off x="0" y="0"/>
          <a:ext cx="0" cy="0"/>
          <a:chOff x="0" y="0"/>
          <a:chExt cx="0" cy="0"/>
        </a:xfrm>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Key Changes – Planning Horizon Evolution</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Rev 4 adds the missing 12-Month and 7-Day horizons and three execution gates; detail and certainty build toward execution.</a:t>
            </a:r>
          </a:p>
        </p:txBody>
      </p:sp>
      <p:sp>
        <p:nvSpPr>
          <p:cNvPr id="4" name="TextBox 3"/>
          <p:cNvSpPr txBox="1"/>
          <p:nvPr/>
        </p:nvSpPr>
        <p:spPr>
          <a:xfrm>
            <a:off x="274320" y="1463040"/>
            <a:ext cx="11612880" cy="274320"/>
          </a:xfrm>
          <a:prstGeom prst="rect">
            <a:avLst/>
          </a:prstGeom>
          <a:noFill/>
        </p:spPr>
        <p:txBody>
          <a:bodyPr wrap="square" anchor="t" lIns="25400" rIns="25400" tIns="12700" bIns="12700">
            <a:spAutoFit/>
          </a:bodyPr>
          <a:lstStyle/>
          <a:p>
            <a:pPr algn="l">
              <a:spcBef>
                <a:spcPts val="0"/>
              </a:spcBef>
              <a:spcAft>
                <a:spcPts val="200"/>
              </a:spcAft>
            </a:pPr>
            <a:r>
              <a:rPr sz="1200" b="1" i="0">
                <a:solidFill>
                  <a:srgbClr val="595959"/>
                </a:solidFill>
                <a:latin typeface="Calibri"/>
              </a:rPr>
              <a:t>BEFORE — Rev 3: 5 horizons, no 12-Month, no 7-Day, no gates</a:t>
            </a:r>
          </a:p>
        </p:txBody>
      </p:sp>
      <p:sp>
        <p:nvSpPr>
          <p:cNvPr id="5" name="Rounded Rectangle 4"/>
          <p:cNvSpPr/>
          <p:nvPr/>
        </p:nvSpPr>
        <p:spPr>
          <a:xfrm>
            <a:off x="274320" y="1755648"/>
            <a:ext cx="2231136" cy="566928"/>
          </a:xfrm>
          <a:prstGeom prst="roundRect">
            <a:avLst>
              <a:gd name="adj" fmla="val 8000"/>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262626"/>
                </a:solidFill>
                <a:latin typeface="Calibri"/>
              </a:rPr>
              <a:t>BU Life / ADP</a:t>
            </a:r>
          </a:p>
        </p:txBody>
      </p:sp>
      <p:sp>
        <p:nvSpPr>
          <p:cNvPr id="6" name="Rounded Rectangle 5"/>
          <p:cNvSpPr/>
          <p:nvPr/>
        </p:nvSpPr>
        <p:spPr>
          <a:xfrm>
            <a:off x="2606039" y="1755648"/>
            <a:ext cx="2231136" cy="566928"/>
          </a:xfrm>
          <a:prstGeom prst="roundRect">
            <a:avLst>
              <a:gd name="adj" fmla="val 8000"/>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262626"/>
                </a:solidFill>
                <a:latin typeface="Calibri"/>
              </a:rPr>
              <a:t>10-Year / LTP</a:t>
            </a:r>
          </a:p>
        </p:txBody>
      </p:sp>
      <p:sp>
        <p:nvSpPr>
          <p:cNvPr id="7" name="Rounded Rectangle 6"/>
          <p:cNvSpPr/>
          <p:nvPr/>
        </p:nvSpPr>
        <p:spPr>
          <a:xfrm>
            <a:off x="4937759" y="1755648"/>
            <a:ext cx="2231136" cy="566928"/>
          </a:xfrm>
          <a:prstGeom prst="roundRect">
            <a:avLst>
              <a:gd name="adj" fmla="val 8000"/>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262626"/>
                </a:solidFill>
                <a:latin typeface="Calibri"/>
              </a:rPr>
              <a:t>24-Month / Tactical</a:t>
            </a:r>
          </a:p>
        </p:txBody>
      </p:sp>
      <p:sp>
        <p:nvSpPr>
          <p:cNvPr id="8" name="Rounded Rectangle 7"/>
          <p:cNvSpPr/>
          <p:nvPr/>
        </p:nvSpPr>
        <p:spPr>
          <a:xfrm>
            <a:off x="7269479" y="1755648"/>
            <a:ext cx="2231136" cy="566928"/>
          </a:xfrm>
          <a:prstGeom prst="roundRect">
            <a:avLst>
              <a:gd name="adj" fmla="val 8000"/>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262626"/>
                </a:solidFill>
                <a:latin typeface="Calibri"/>
              </a:rPr>
              <a:t>30 / 90-Day</a:t>
            </a:r>
          </a:p>
        </p:txBody>
      </p:sp>
      <p:sp>
        <p:nvSpPr>
          <p:cNvPr id="9" name="Rounded Rectangle 8"/>
          <p:cNvSpPr/>
          <p:nvPr/>
        </p:nvSpPr>
        <p:spPr>
          <a:xfrm>
            <a:off x="9601200" y="1755648"/>
            <a:ext cx="2231136" cy="566928"/>
          </a:xfrm>
          <a:prstGeom prst="roundRect">
            <a:avLst>
              <a:gd name="adj" fmla="val 8000"/>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262626"/>
                </a:solidFill>
                <a:latin typeface="Calibri"/>
              </a:rPr>
              <a:t>Detailed Operational</a:t>
            </a:r>
          </a:p>
        </p:txBody>
      </p:sp>
      <p:sp>
        <p:nvSpPr>
          <p:cNvPr id="10" name="TextBox 9"/>
          <p:cNvSpPr txBox="1"/>
          <p:nvPr/>
        </p:nvSpPr>
        <p:spPr>
          <a:xfrm>
            <a:off x="274320" y="2542032"/>
            <a:ext cx="11612880" cy="274320"/>
          </a:xfrm>
          <a:prstGeom prst="rect">
            <a:avLst/>
          </a:prstGeom>
          <a:noFill/>
        </p:spPr>
        <p:txBody>
          <a:bodyPr wrap="square" anchor="t" lIns="25400" rIns="25400" tIns="12700" bIns="12700">
            <a:spAutoFit/>
          </a:bodyPr>
          <a:lstStyle/>
          <a:p>
            <a:pPr algn="l">
              <a:spcBef>
                <a:spcPts val="0"/>
              </a:spcBef>
              <a:spcAft>
                <a:spcPts val="200"/>
              </a:spcAft>
            </a:pPr>
            <a:r>
              <a:rPr sz="1200" b="1" i="0">
                <a:solidFill>
                  <a:srgbClr val="004C8F"/>
                </a:solidFill>
                <a:latin typeface="Calibri"/>
              </a:rPr>
              <a:t>AFTER — Rev 4: 7 horizons + 3 execution gates</a:t>
            </a:r>
          </a:p>
        </p:txBody>
      </p:sp>
      <p:sp>
        <p:nvSpPr>
          <p:cNvPr id="11" name="Rounded Rectangle 10"/>
          <p:cNvSpPr/>
          <p:nvPr/>
        </p:nvSpPr>
        <p:spPr>
          <a:xfrm>
            <a:off x="274320" y="3291840"/>
            <a:ext cx="1557092" cy="960120"/>
          </a:xfrm>
          <a:prstGeom prst="roundRect">
            <a:avLst>
              <a:gd name="adj" fmla="val 8000"/>
            </a:avLst>
          </a:prstGeom>
          <a:solidFill>
            <a:srgbClr val="004C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FDP</a:t>
            </a:r>
          </a:p>
          <a:p>
            <a:pPr algn="ctr">
              <a:spcBef>
                <a:spcPts val="100"/>
              </a:spcBef>
            </a:pPr>
            <a:r>
              <a:rPr sz="850" b="0">
                <a:solidFill>
                  <a:srgbClr val="FFFFFF"/>
                </a:solidFill>
                <a:latin typeface="Calibri"/>
              </a:rPr>
              <a:t>Field depletion</a:t>
            </a:r>
          </a:p>
        </p:txBody>
      </p:sp>
      <p:sp>
        <p:nvSpPr>
          <p:cNvPr id="12" name="Chevron 11"/>
          <p:cNvSpPr/>
          <p:nvPr/>
        </p:nvSpPr>
        <p:spPr>
          <a:xfrm>
            <a:off x="1813124" y="3671315"/>
            <a:ext cx="155448" cy="201168"/>
          </a:xfrm>
          <a:prstGeom prst="chevron">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950284" y="3291840"/>
            <a:ext cx="1557092" cy="960120"/>
          </a:xfrm>
          <a:prstGeom prst="roundRect">
            <a:avLst>
              <a:gd name="adj" fmla="val 8000"/>
            </a:avLst>
          </a:prstGeom>
          <a:solidFill>
            <a:srgbClr val="004C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ADP</a:t>
            </a:r>
          </a:p>
          <a:p>
            <a:pPr algn="ctr">
              <a:spcBef>
                <a:spcPts val="100"/>
              </a:spcBef>
            </a:pPr>
            <a:r>
              <a:rPr sz="850" b="0">
                <a:solidFill>
                  <a:srgbClr val="FFFFFF"/>
                </a:solidFill>
                <a:latin typeface="Calibri"/>
              </a:rPr>
              <a:t>Asset develop.</a:t>
            </a:r>
          </a:p>
        </p:txBody>
      </p:sp>
      <p:sp>
        <p:nvSpPr>
          <p:cNvPr id="14" name="Chevron 13"/>
          <p:cNvSpPr/>
          <p:nvPr/>
        </p:nvSpPr>
        <p:spPr>
          <a:xfrm>
            <a:off x="3489089" y="3671315"/>
            <a:ext cx="155448" cy="201168"/>
          </a:xfrm>
          <a:prstGeom prst="chevron">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26249" y="3291840"/>
            <a:ext cx="1557092" cy="960120"/>
          </a:xfrm>
          <a:prstGeom prst="roundRect">
            <a:avLst>
              <a:gd name="adj" fmla="val 8000"/>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LTP</a:t>
            </a:r>
          </a:p>
          <a:p>
            <a:pPr algn="ctr">
              <a:spcBef>
                <a:spcPts val="100"/>
              </a:spcBef>
            </a:pPr>
            <a:r>
              <a:rPr sz="850" b="0">
                <a:solidFill>
                  <a:srgbClr val="FFFFFF"/>
                </a:solidFill>
                <a:latin typeface="Calibri"/>
              </a:rPr>
              <a:t>Outer-yrs + 24M</a:t>
            </a:r>
          </a:p>
        </p:txBody>
      </p:sp>
      <p:sp>
        <p:nvSpPr>
          <p:cNvPr id="16" name="Chevron 15"/>
          <p:cNvSpPr/>
          <p:nvPr/>
        </p:nvSpPr>
        <p:spPr>
          <a:xfrm>
            <a:off x="5165053" y="3671315"/>
            <a:ext cx="155448" cy="201168"/>
          </a:xfrm>
          <a:prstGeom prst="chevron">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02213" y="3291840"/>
            <a:ext cx="1557092" cy="960120"/>
          </a:xfrm>
          <a:prstGeom prst="roundRect">
            <a:avLst>
              <a:gd name="adj" fmla="val 8000"/>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12M</a:t>
            </a:r>
          </a:p>
          <a:p>
            <a:pPr algn="ctr">
              <a:spcBef>
                <a:spcPts val="100"/>
              </a:spcBef>
            </a:pPr>
            <a:r>
              <a:rPr sz="850" b="0">
                <a:solidFill>
                  <a:srgbClr val="FFFFFF"/>
                </a:solidFill>
                <a:latin typeface="Calibri"/>
              </a:rPr>
              <a:t>Rolling screen ★</a:t>
            </a:r>
          </a:p>
        </p:txBody>
      </p:sp>
      <p:sp>
        <p:nvSpPr>
          <p:cNvPr id="18" name="Chevron 17"/>
          <p:cNvSpPr/>
          <p:nvPr/>
        </p:nvSpPr>
        <p:spPr>
          <a:xfrm>
            <a:off x="6841018" y="3671315"/>
            <a:ext cx="155448" cy="201168"/>
          </a:xfrm>
          <a:prstGeom prst="chevron">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978178" y="3291840"/>
            <a:ext cx="1557092" cy="960120"/>
          </a:xfrm>
          <a:prstGeom prst="roundRect">
            <a:avLst>
              <a:gd name="adj" fmla="val 8000"/>
            </a:avLst>
          </a:prstGeom>
          <a:solidFill>
            <a:srgbClr val="2632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90D</a:t>
            </a:r>
          </a:p>
          <a:p>
            <a:pPr algn="ctr">
              <a:spcBef>
                <a:spcPts val="100"/>
              </a:spcBef>
            </a:pPr>
            <a:r>
              <a:rPr sz="850" b="0">
                <a:solidFill>
                  <a:srgbClr val="FFFFFF"/>
                </a:solidFill>
                <a:latin typeface="Calibri"/>
              </a:rPr>
              <a:t>Prioritized</a:t>
            </a:r>
          </a:p>
        </p:txBody>
      </p:sp>
      <p:sp>
        <p:nvSpPr>
          <p:cNvPr id="20" name="Chevron 19"/>
          <p:cNvSpPr/>
          <p:nvPr/>
        </p:nvSpPr>
        <p:spPr>
          <a:xfrm>
            <a:off x="8516982" y="3671315"/>
            <a:ext cx="155448" cy="201168"/>
          </a:xfrm>
          <a:prstGeom prst="chevron">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amond 20"/>
          <p:cNvSpPr/>
          <p:nvPr/>
        </p:nvSpPr>
        <p:spPr>
          <a:xfrm>
            <a:off x="7573844" y="2889504"/>
            <a:ext cx="365760" cy="365760"/>
          </a:xfrm>
          <a:prstGeom prst="diamond">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62626"/>
                </a:solidFill>
                <a:latin typeface="Calibri"/>
              </a:rPr>
              <a:t>1</a:t>
            </a:r>
          </a:p>
        </p:txBody>
      </p:sp>
      <p:sp>
        <p:nvSpPr>
          <p:cNvPr id="22" name="TextBox 21"/>
          <p:cNvSpPr txBox="1"/>
          <p:nvPr/>
        </p:nvSpPr>
        <p:spPr>
          <a:xfrm>
            <a:off x="6978178" y="4279392"/>
            <a:ext cx="1557092" cy="237744"/>
          </a:xfrm>
          <a:prstGeom prst="rect">
            <a:avLst/>
          </a:prstGeom>
          <a:noFill/>
        </p:spPr>
        <p:txBody>
          <a:bodyPr wrap="square" anchor="t" lIns="25400" rIns="25400" tIns="12700" bIns="12700">
            <a:spAutoFit/>
          </a:bodyPr>
          <a:lstStyle/>
          <a:p>
            <a:pPr algn="ctr">
              <a:spcBef>
                <a:spcPts val="0"/>
              </a:spcBef>
              <a:spcAft>
                <a:spcPts val="0"/>
              </a:spcAft>
            </a:pPr>
            <a:r>
              <a:rPr sz="850" b="1" i="0">
                <a:solidFill>
                  <a:srgbClr val="004C8F"/>
                </a:solidFill>
                <a:latin typeface="Calibri"/>
              </a:rPr>
              <a:t>Gate 1</a:t>
            </a:r>
          </a:p>
        </p:txBody>
      </p:sp>
      <p:sp>
        <p:nvSpPr>
          <p:cNvPr id="23" name="Rounded Rectangle 22"/>
          <p:cNvSpPr/>
          <p:nvPr/>
        </p:nvSpPr>
        <p:spPr>
          <a:xfrm>
            <a:off x="8654142" y="3291840"/>
            <a:ext cx="1557092" cy="960120"/>
          </a:xfrm>
          <a:prstGeom prst="roundRect">
            <a:avLst>
              <a:gd name="adj" fmla="val 8000"/>
            </a:avLst>
          </a:prstGeom>
          <a:solidFill>
            <a:srgbClr val="2632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30D</a:t>
            </a:r>
          </a:p>
          <a:p>
            <a:pPr algn="ctr">
              <a:spcBef>
                <a:spcPts val="100"/>
              </a:spcBef>
            </a:pPr>
            <a:r>
              <a:rPr sz="850" b="0">
                <a:solidFill>
                  <a:srgbClr val="FFFFFF"/>
                </a:solidFill>
                <a:latin typeface="Calibri"/>
              </a:rPr>
              <a:t>Frozen</a:t>
            </a:r>
          </a:p>
        </p:txBody>
      </p:sp>
      <p:sp>
        <p:nvSpPr>
          <p:cNvPr id="24" name="Chevron 23"/>
          <p:cNvSpPr/>
          <p:nvPr/>
        </p:nvSpPr>
        <p:spPr>
          <a:xfrm>
            <a:off x="10192947" y="3671315"/>
            <a:ext cx="155448" cy="201168"/>
          </a:xfrm>
          <a:prstGeom prst="chevron">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mond 24"/>
          <p:cNvSpPr/>
          <p:nvPr/>
        </p:nvSpPr>
        <p:spPr>
          <a:xfrm>
            <a:off x="9249809" y="2889504"/>
            <a:ext cx="365760" cy="365760"/>
          </a:xfrm>
          <a:prstGeom prst="diamond">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62626"/>
                </a:solidFill>
                <a:latin typeface="Calibri"/>
              </a:rPr>
              <a:t>2</a:t>
            </a:r>
          </a:p>
        </p:txBody>
      </p:sp>
      <p:sp>
        <p:nvSpPr>
          <p:cNvPr id="26" name="TextBox 25"/>
          <p:cNvSpPr txBox="1"/>
          <p:nvPr/>
        </p:nvSpPr>
        <p:spPr>
          <a:xfrm>
            <a:off x="8654142" y="4279392"/>
            <a:ext cx="1557092" cy="237744"/>
          </a:xfrm>
          <a:prstGeom prst="rect">
            <a:avLst/>
          </a:prstGeom>
          <a:noFill/>
        </p:spPr>
        <p:txBody>
          <a:bodyPr wrap="square" anchor="t" lIns="25400" rIns="25400" tIns="12700" bIns="12700">
            <a:spAutoFit/>
          </a:bodyPr>
          <a:lstStyle/>
          <a:p>
            <a:pPr algn="ctr">
              <a:spcBef>
                <a:spcPts val="0"/>
              </a:spcBef>
              <a:spcAft>
                <a:spcPts val="0"/>
              </a:spcAft>
            </a:pPr>
            <a:r>
              <a:rPr sz="850" b="1" i="0">
                <a:solidFill>
                  <a:srgbClr val="004C8F"/>
                </a:solidFill>
                <a:latin typeface="Calibri"/>
              </a:rPr>
              <a:t>Gate 2 – Freeze</a:t>
            </a:r>
          </a:p>
        </p:txBody>
      </p:sp>
      <p:sp>
        <p:nvSpPr>
          <p:cNvPr id="27" name="Rounded Rectangle 26"/>
          <p:cNvSpPr/>
          <p:nvPr/>
        </p:nvSpPr>
        <p:spPr>
          <a:xfrm>
            <a:off x="10330107" y="3291840"/>
            <a:ext cx="1557092" cy="960120"/>
          </a:xfrm>
          <a:prstGeom prst="roundRect">
            <a:avLst>
              <a:gd name="adj" fmla="val 8000"/>
            </a:avLst>
          </a:prstGeom>
          <a:solidFill>
            <a:srgbClr val="2632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7D</a:t>
            </a:r>
          </a:p>
          <a:p>
            <a:pPr algn="ctr">
              <a:spcBef>
                <a:spcPts val="100"/>
              </a:spcBef>
            </a:pPr>
            <a:r>
              <a:rPr sz="850" b="0">
                <a:solidFill>
                  <a:srgbClr val="FFFFFF"/>
                </a:solidFill>
                <a:latin typeface="Calibri"/>
              </a:rPr>
              <a:t>Weekly control</a:t>
            </a:r>
          </a:p>
        </p:txBody>
      </p:sp>
      <p:sp>
        <p:nvSpPr>
          <p:cNvPr id="28" name="Diamond 27"/>
          <p:cNvSpPr/>
          <p:nvPr/>
        </p:nvSpPr>
        <p:spPr>
          <a:xfrm>
            <a:off x="10925773" y="2889504"/>
            <a:ext cx="365760" cy="365760"/>
          </a:xfrm>
          <a:prstGeom prst="diamond">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62626"/>
                </a:solidFill>
                <a:latin typeface="Calibri"/>
              </a:rPr>
              <a:t>3</a:t>
            </a:r>
          </a:p>
        </p:txBody>
      </p:sp>
      <p:sp>
        <p:nvSpPr>
          <p:cNvPr id="29" name="TextBox 28"/>
          <p:cNvSpPr txBox="1"/>
          <p:nvPr/>
        </p:nvSpPr>
        <p:spPr>
          <a:xfrm>
            <a:off x="10330107" y="4279392"/>
            <a:ext cx="1557092" cy="237744"/>
          </a:xfrm>
          <a:prstGeom prst="rect">
            <a:avLst/>
          </a:prstGeom>
          <a:noFill/>
        </p:spPr>
        <p:txBody>
          <a:bodyPr wrap="square" anchor="t" lIns="25400" rIns="25400" tIns="12700" bIns="12700">
            <a:spAutoFit/>
          </a:bodyPr>
          <a:lstStyle/>
          <a:p>
            <a:pPr algn="ctr">
              <a:spcBef>
                <a:spcPts val="0"/>
              </a:spcBef>
              <a:spcAft>
                <a:spcPts val="0"/>
              </a:spcAft>
            </a:pPr>
            <a:r>
              <a:rPr sz="850" b="1" i="0">
                <a:solidFill>
                  <a:srgbClr val="004C8F"/>
                </a:solidFill>
                <a:latin typeface="Calibri"/>
              </a:rPr>
              <a:t>Gate 3</a:t>
            </a:r>
          </a:p>
        </p:txBody>
      </p:sp>
      <p:sp>
        <p:nvSpPr>
          <p:cNvPr id="30" name="Pentagon 29"/>
          <p:cNvSpPr/>
          <p:nvPr/>
        </p:nvSpPr>
        <p:spPr>
          <a:xfrm>
            <a:off x="274320" y="4828032"/>
            <a:ext cx="11612880" cy="420624"/>
          </a:xfrm>
          <a:prstGeom prst="homePlate">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latin typeface="Calibri"/>
              </a:rPr>
              <a:t>Detail, readiness &amp; planning certainty increase toward execution  →</a:t>
            </a:r>
          </a:p>
        </p:txBody>
      </p:sp>
      <p:sp>
        <p:nvSpPr>
          <p:cNvPr id="31" name="TextBox 30"/>
          <p:cNvSpPr txBox="1"/>
          <p:nvPr/>
        </p:nvSpPr>
        <p:spPr>
          <a:xfrm>
            <a:off x="274320" y="5394960"/>
            <a:ext cx="11612880" cy="8229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004C8F"/>
                </a:solidFill>
                <a:latin typeface="Calibri"/>
              </a:rPr>
              <a:t>Net-new in Rev 4:  </a:t>
            </a:r>
            <a:r>
              <a:rPr sz="1100" b="0" i="0">
                <a:solidFill>
                  <a:srgbClr val="262626"/>
                </a:solidFill>
                <a:latin typeface="Calibri"/>
              </a:rPr>
              <a:t>12-Month rolling early-screening horizon  •  7-Day weekly execution control  •  stage-gates G1 (90D, candidates), G2 (30D, plan frozen), G3 (7D, field execution authorized).</a:t>
            </a:r>
          </a:p>
          <a:p>
            <a:pPr algn="l">
              <a:lnSpc>
                <a:spcPct val="100000"/>
              </a:lnSpc>
              <a:spcBef>
                <a:spcPts val="0"/>
              </a:spcBef>
              <a:spcAft>
                <a:spcPts val="400"/>
              </a:spcAft>
            </a:pPr>
            <a:r>
              <a:rPr sz="1100" b="1" i="0">
                <a:solidFill>
                  <a:srgbClr val="548235"/>
                </a:solidFill>
                <a:latin typeface="Calibri"/>
              </a:rPr>
              <a:t>Reflects actual practice:  </a:t>
            </a:r>
            <a:r>
              <a:rPr sz="1100" b="0" i="0">
                <a:solidFill>
                  <a:srgbClr val="262626"/>
                </a:solidFill>
                <a:latin typeface="Calibri"/>
              </a:rPr>
              <a:t>planners confirmed they already run this LTP→12M→90D→30D→7D flow — approved Gate 1/2/3 plans are in use today (GGSDR, Suban). See Appendix F.</a:t>
            </a:r>
          </a:p>
          <a:p>
            <a:pPr algn="l">
              <a:lnSpc>
                <a:spcPct val="100000"/>
              </a:lnSpc>
              <a:spcBef>
                <a:spcPts val="0"/>
              </a:spcBef>
              <a:spcAft>
                <a:spcPts val="400"/>
              </a:spcAft>
            </a:pPr>
            <a:r>
              <a:rPr sz="950" b="0" i="1">
                <a:solidFill>
                  <a:srgbClr val="595959"/>
                </a:solidFill>
                <a:latin typeface="Calibri"/>
              </a:rPr>
              <a:t>Full multi-horizon framework (ownership, review forums, approval, cadence): see Appendix – Figure 2.</a:t>
            </a:r>
          </a:p>
        </p:txBody>
      </p:sp>
    </p:spTree>
    <p:extLst>
      <p:ext uri="{BB962C8B-B14F-4D97-AF65-F5344CB8AC3E}">
        <p14:creationId xmlns:p14="http://schemas.microsoft.com/office/powerpoint/2010/main" val="1865291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38DAB-46AE-CA77-4288-CD2BE7C3D469}"/>
            </a:ext>
          </a:extLst>
        </p:cNvPr>
        <p:cNvGrpSpPr/>
        <p:nvPr/>
      </p:nvGrpSpPr>
      <p:grpSpPr>
        <a:xfrm>
          <a:off x="0" y="0"/>
          <a:ext cx="0" cy="0"/>
          <a:chOff x="0" y="0"/>
          <a:chExt cx="0" cy="0"/>
        </a:xfrm>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Key Changes – Work Process &amp; Governance</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One common work process, a fixed governance cadence and clarified approval authorities replace heritage RACI.</a:t>
            </a:r>
          </a:p>
        </p:txBody>
      </p:sp>
      <p:sp>
        <p:nvSpPr>
          <p:cNvPr id="4" name="Rounded Rectangle 3"/>
          <p:cNvSpPr/>
          <p:nvPr/>
        </p:nvSpPr>
        <p:spPr>
          <a:xfrm>
            <a:off x="274320" y="1481328"/>
            <a:ext cx="4709160" cy="1234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0"/>
            <a:ext cx="4343400" cy="274320"/>
          </a:xfrm>
          <a:prstGeom prst="rect">
            <a:avLst/>
          </a:prstGeom>
          <a:noFill/>
        </p:spPr>
        <p:txBody>
          <a:bodyPr wrap="square" anchor="t" lIns="25400" rIns="25400" tIns="12700" bIns="12700">
            <a:spAutoFit/>
          </a:bodyPr>
          <a:lstStyle/>
          <a:p>
            <a:pPr algn="l">
              <a:spcBef>
                <a:spcPts val="0"/>
              </a:spcBef>
              <a:spcAft>
                <a:spcPts val="200"/>
              </a:spcAft>
            </a:pPr>
            <a:r>
              <a:rPr sz="1100" b="1" i="0">
                <a:solidFill>
                  <a:srgbClr val="595959"/>
                </a:solidFill>
                <a:latin typeface="Calibri"/>
              </a:rPr>
              <a:t>CURRENT (Rev 3)</a:t>
            </a:r>
          </a:p>
        </p:txBody>
      </p:sp>
      <p:sp>
        <p:nvSpPr>
          <p:cNvPr id="6" name="TextBox 5"/>
          <p:cNvSpPr txBox="1"/>
          <p:nvPr/>
        </p:nvSpPr>
        <p:spPr>
          <a:xfrm>
            <a:off x="457200" y="1847088"/>
            <a:ext cx="4343400" cy="8229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50" b="0" i="0">
                <a:solidFill>
                  <a:srgbClr val="262626"/>
                </a:solidFill>
                <a:latin typeface="Calibri"/>
              </a:rPr>
              <a:t>Heritage RACI and stakeholder map.</a:t>
            </a:r>
          </a:p>
          <a:p>
            <a:pPr algn="l">
              <a:lnSpc>
                <a:spcPct val="100000"/>
              </a:lnSpc>
              <a:spcBef>
                <a:spcPts val="0"/>
              </a:spcBef>
              <a:spcAft>
                <a:spcPts val="400"/>
              </a:spcAft>
            </a:pPr>
            <a:r>
              <a:rPr sz="1050" b="0" i="0">
                <a:solidFill>
                  <a:srgbClr val="262626"/>
                </a:solidFill>
                <a:latin typeface="Calibri"/>
              </a:rPr>
              <a:t>Governance forums and cadence not defined.</a:t>
            </a:r>
          </a:p>
          <a:p>
            <a:pPr algn="l">
              <a:lnSpc>
                <a:spcPct val="100000"/>
              </a:lnSpc>
              <a:spcBef>
                <a:spcPts val="0"/>
              </a:spcBef>
              <a:spcAft>
                <a:spcPts val="400"/>
              </a:spcAft>
            </a:pPr>
            <a:r>
              <a:rPr sz="1050" b="0" i="0">
                <a:solidFill>
                  <a:srgbClr val="262626"/>
                </a:solidFill>
                <a:latin typeface="Calibri"/>
              </a:rPr>
              <a:t>Approval authorities ambiguous (legacy “Field Manager”).</a:t>
            </a:r>
          </a:p>
        </p:txBody>
      </p:sp>
      <p:sp>
        <p:nvSpPr>
          <p:cNvPr id="7" name="Rounded Rectangle 6"/>
          <p:cNvSpPr/>
          <p:nvPr/>
        </p:nvSpPr>
        <p:spPr>
          <a:xfrm>
            <a:off x="274320" y="2852928"/>
            <a:ext cx="4709160" cy="324612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926080"/>
            <a:ext cx="4343400" cy="274320"/>
          </a:xfrm>
          <a:prstGeom prst="rect">
            <a:avLst/>
          </a:prstGeom>
          <a:noFill/>
        </p:spPr>
        <p:txBody>
          <a:bodyPr wrap="square" anchor="t" lIns="25400" rIns="25400" tIns="12700" bIns="12700">
            <a:spAutoFit/>
          </a:bodyPr>
          <a:lstStyle/>
          <a:p>
            <a:pPr algn="l">
              <a:spcBef>
                <a:spcPts val="0"/>
              </a:spcBef>
              <a:spcAft>
                <a:spcPts val="200"/>
              </a:spcAft>
            </a:pPr>
            <a:r>
              <a:rPr sz="1100" b="1" i="0">
                <a:solidFill>
                  <a:srgbClr val="004C8F"/>
                </a:solidFill>
                <a:latin typeface="Calibri"/>
              </a:rPr>
              <a:t>REV 4</a:t>
            </a:r>
          </a:p>
        </p:txBody>
      </p:sp>
      <p:sp>
        <p:nvSpPr>
          <p:cNvPr id="9" name="TextBox 8"/>
          <p:cNvSpPr txBox="1"/>
          <p:nvPr/>
        </p:nvSpPr>
        <p:spPr>
          <a:xfrm>
            <a:off x="457200" y="3218688"/>
            <a:ext cx="4343400" cy="2743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0" i="0">
                <a:solidFill>
                  <a:srgbClr val="262626"/>
                </a:solidFill>
                <a:latin typeface="Calibri"/>
              </a:rPr>
              <a:t>Common work process: develop → review → approve → monitor plans, iterating across every horizon (Figure 2).</a:t>
            </a:r>
          </a:p>
          <a:p>
            <a:pPr algn="l">
              <a:lnSpc>
                <a:spcPct val="100000"/>
              </a:lnSpc>
              <a:spcBef>
                <a:spcPts val="0"/>
              </a:spcBef>
              <a:spcAft>
                <a:spcPts val="600"/>
              </a:spcAft>
            </a:pPr>
            <a:r>
              <a:rPr sz="1050" b="0" i="0">
                <a:solidFill>
                  <a:srgbClr val="262626"/>
                </a:solidFill>
                <a:latin typeface="Calibri"/>
              </a:rPr>
              <a:t>Governance forums with fixed cadence (Table 2).</a:t>
            </a:r>
          </a:p>
          <a:p>
            <a:pPr algn="l">
              <a:lnSpc>
                <a:spcPct val="100000"/>
              </a:lnSpc>
              <a:spcBef>
                <a:spcPts val="0"/>
              </a:spcBef>
              <a:spcAft>
                <a:spcPts val="600"/>
              </a:spcAft>
            </a:pPr>
            <a:r>
              <a:rPr sz="1050" b="0" i="0">
                <a:solidFill>
                  <a:srgbClr val="262626"/>
                </a:solidFill>
                <a:latin typeface="Calibri"/>
              </a:rPr>
              <a:t>Approval authorities clarified per horizon (Table 1).</a:t>
            </a:r>
          </a:p>
          <a:p>
            <a:pPr algn="l">
              <a:lnSpc>
                <a:spcPct val="100000"/>
              </a:lnSpc>
              <a:spcBef>
                <a:spcPts val="0"/>
              </a:spcBef>
              <a:spcAft>
                <a:spcPts val="600"/>
              </a:spcAft>
            </a:pPr>
            <a:r>
              <a:rPr sz="1050" b="0" i="0">
                <a:solidFill>
                  <a:srgbClr val="262626"/>
                </a:solidFill>
                <a:latin typeface="Calibri"/>
              </a:rPr>
              <a:t>OPAA = Operations Planning &amp; Activities Assurance coordinates 12M / 90D / 30D (not “P&amp;S Team”).</a:t>
            </a:r>
          </a:p>
          <a:p>
            <a:pPr algn="l">
              <a:lnSpc>
                <a:spcPct val="100000"/>
              </a:lnSpc>
              <a:spcBef>
                <a:spcPts val="0"/>
              </a:spcBef>
              <a:spcAft>
                <a:spcPts val="600"/>
              </a:spcAft>
            </a:pPr>
            <a:r>
              <a:rPr sz="1050" b="0" i="0">
                <a:solidFill>
                  <a:srgbClr val="262626"/>
                </a:solidFill>
                <a:latin typeface="Calibri"/>
              </a:rPr>
              <a:t>Tools &amp; systems named: IBP module in Medco BPM, SAP (cost), GPT for STPF, BPM Work Orders, MCRS.</a:t>
            </a:r>
          </a:p>
        </p:txBody>
      </p:sp>
      <p:sp>
        <p:nvSpPr>
          <p:cNvPr id="10" name="TextBox 9"/>
          <p:cNvSpPr txBox="1"/>
          <p:nvPr/>
        </p:nvSpPr>
        <p:spPr>
          <a:xfrm>
            <a:off x="5212080" y="1463040"/>
            <a:ext cx="6675120" cy="274320"/>
          </a:xfrm>
          <a:prstGeom prst="rect">
            <a:avLst/>
          </a:prstGeom>
          <a:noFill/>
        </p:spPr>
        <p:txBody>
          <a:bodyPr wrap="square" anchor="t" lIns="25400" rIns="25400" tIns="12700" bIns="12700">
            <a:spAutoFit/>
          </a:bodyPr>
          <a:lstStyle/>
          <a:p>
            <a:pPr algn="l">
              <a:spcBef>
                <a:spcPts val="0"/>
              </a:spcBef>
              <a:spcAft>
                <a:spcPts val="200"/>
              </a:spcAft>
            </a:pPr>
            <a:r>
              <a:rPr sz="1200" b="1" i="0">
                <a:solidFill>
                  <a:srgbClr val="004C8F"/>
                </a:solidFill>
                <a:latin typeface="Calibri"/>
              </a:rPr>
              <a:t>Governance cadence &amp; approval authority by horizon</a:t>
            </a:r>
          </a:p>
        </p:txBody>
      </p:sp>
      <p:graphicFrame>
        <p:nvGraphicFramePr>
          <p:cNvPr id="11" name="Table 10"/>
          <p:cNvGraphicFramePr>
            <a:graphicFrameLocks noGrp="1"/>
          </p:cNvGraphicFramePr>
          <p:nvPr/>
        </p:nvGraphicFramePr>
        <p:xfrm>
          <a:off x="5212080" y="1810512"/>
          <a:ext cx="6629400" cy="4128516"/>
        </p:xfrm>
        <a:graphic>
          <a:graphicData uri="http://schemas.openxmlformats.org/drawingml/2006/table">
            <a:tbl>
              <a:tblPr/>
              <a:tblGrid>
                <a:gridCol w="1051560"/>
                <a:gridCol w="1417320"/>
                <a:gridCol w="2148840"/>
                <a:gridCol w="2011680"/>
              </a:tblGrid>
              <a:tr h="384048">
                <a:tc>
                  <a:txBody>
                    <a:bodyPr wrap="square"/>
                    <a:lstStyle/>
                    <a:p>
                      <a:pPr algn="l">
                        <a:spcBef>
                          <a:spcPts val="0"/>
                        </a:spcBef>
                        <a:spcAft>
                          <a:spcPts val="100"/>
                        </a:spcAft>
                      </a:pPr>
                      <a:r>
                        <a:rPr sz="1000" b="1" i="0">
                          <a:solidFill>
                            <a:srgbClr val="FFFFFF"/>
                          </a:solidFill>
                          <a:latin typeface="Calibri"/>
                        </a:rPr>
                        <a:t>Horizon</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FFFFFF"/>
                          </a:solidFill>
                          <a:latin typeface="Calibri"/>
                        </a:rPr>
                        <a:t>Cadence</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FFFFFF"/>
                          </a:solidFill>
                          <a:latin typeface="Calibri"/>
                        </a:rPr>
                        <a:t>Review Forum</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FFFFFF"/>
                          </a:solidFill>
                          <a:latin typeface="Calibri"/>
                        </a:rPr>
                        <a:t>Approval Authority</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34924">
                <a:tc>
                  <a:txBody>
                    <a:bodyPr wrap="square"/>
                    <a:lstStyle/>
                    <a:p>
                      <a:pPr algn="ctr">
                        <a:spcBef>
                          <a:spcPts val="0"/>
                        </a:spcBef>
                        <a:spcAft>
                          <a:spcPts val="100"/>
                        </a:spcAft>
                      </a:pPr>
                      <a:r>
                        <a:rPr sz="950" b="1" i="0">
                          <a:solidFill>
                            <a:srgbClr val="004C8F"/>
                          </a:solidFill>
                          <a:latin typeface="Calibri"/>
                        </a:rPr>
                        <a:t>FDP</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Annual</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FDP/ADP kick-off &amp; review</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Sr. VP Asset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34924">
                <a:tc>
                  <a:txBody>
                    <a:bodyPr wrap="square"/>
                    <a:lstStyle/>
                    <a:p>
                      <a:pPr algn="ctr">
                        <a:spcBef>
                          <a:spcPts val="0"/>
                        </a:spcBef>
                        <a:spcAft>
                          <a:spcPts val="100"/>
                        </a:spcAft>
                      </a:pPr>
                      <a:r>
                        <a:rPr sz="950" b="1" i="0">
                          <a:solidFill>
                            <a:srgbClr val="004C8F"/>
                          </a:solidFill>
                          <a:latin typeface="Calibri"/>
                        </a:rPr>
                        <a:t>ADP</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Annual</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FDP/ADP kick-off &amp; review</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CEO / COO</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34924">
                <a:tc>
                  <a:txBody>
                    <a:bodyPr wrap="square"/>
                    <a:lstStyle/>
                    <a:p>
                      <a:pPr algn="ctr">
                        <a:spcBef>
                          <a:spcPts val="0"/>
                        </a:spcBef>
                        <a:spcAft>
                          <a:spcPts val="100"/>
                        </a:spcAft>
                      </a:pPr>
                      <a:r>
                        <a:rPr sz="950" b="1" i="0">
                          <a:solidFill>
                            <a:srgbClr val="004C8F"/>
                          </a:solidFill>
                          <a:latin typeface="Calibri"/>
                        </a:rPr>
                        <a:t>LTP</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Bi-annual</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LTP kick-off &amp; review</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CEO/COO + Sr. VP Asset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34924">
                <a:tc>
                  <a:txBody>
                    <a:bodyPr wrap="square"/>
                    <a:lstStyle/>
                    <a:p>
                      <a:pPr algn="ctr">
                        <a:spcBef>
                          <a:spcPts val="0"/>
                        </a:spcBef>
                        <a:spcAft>
                          <a:spcPts val="100"/>
                        </a:spcAft>
                      </a:pPr>
                      <a:r>
                        <a:rPr sz="950" b="1" i="0">
                          <a:solidFill>
                            <a:srgbClr val="004C8F"/>
                          </a:solidFill>
                          <a:latin typeface="Calibri"/>
                        </a:rPr>
                        <a:t>12M</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Quarterly</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12M Forum</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VP Operations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34924">
                <a:tc>
                  <a:txBody>
                    <a:bodyPr wrap="square"/>
                    <a:lstStyle/>
                    <a:p>
                      <a:pPr algn="ctr">
                        <a:spcBef>
                          <a:spcPts val="0"/>
                        </a:spcBef>
                        <a:spcAft>
                          <a:spcPts val="100"/>
                        </a:spcAft>
                      </a:pPr>
                      <a:r>
                        <a:rPr sz="950" b="1" i="0">
                          <a:solidFill>
                            <a:srgbClr val="004C8F"/>
                          </a:solidFill>
                          <a:latin typeface="Calibri"/>
                        </a:rPr>
                        <a:t>90D</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Monthly</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90D Forum – Gate 1</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VP Operations (Gate 1)</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34924">
                <a:tc>
                  <a:txBody>
                    <a:bodyPr wrap="square"/>
                    <a:lstStyle/>
                    <a:p>
                      <a:pPr algn="ctr">
                        <a:spcBef>
                          <a:spcPts val="0"/>
                        </a:spcBef>
                        <a:spcAft>
                          <a:spcPts val="100"/>
                        </a:spcAft>
                      </a:pPr>
                      <a:r>
                        <a:rPr sz="950" b="1" i="0">
                          <a:solidFill>
                            <a:srgbClr val="004C8F"/>
                          </a:solidFill>
                          <a:latin typeface="Calibri"/>
                        </a:rPr>
                        <a:t>30D</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Monthly</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30D Forum – Gate 2</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OIM / OM (Gate 2, Frozen)</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34924">
                <a:tc>
                  <a:txBody>
                    <a:bodyPr wrap="square"/>
                    <a:lstStyle/>
                    <a:p>
                      <a:pPr algn="ctr">
                        <a:spcBef>
                          <a:spcPts val="0"/>
                        </a:spcBef>
                        <a:spcAft>
                          <a:spcPts val="100"/>
                        </a:spcAft>
                      </a:pPr>
                      <a:r>
                        <a:rPr sz="950" b="1" i="0">
                          <a:solidFill>
                            <a:srgbClr val="004C8F"/>
                          </a:solidFill>
                          <a:latin typeface="Calibri"/>
                        </a:rPr>
                        <a:t>7D</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Weekly</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7D Forum – Gate 3</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Superintendent (Gate 3)</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bl>
          </a:graphicData>
        </a:graphic>
      </p:graphicFrame>
    </p:spTree>
    <p:extLst>
      <p:ext uri="{BB962C8B-B14F-4D97-AF65-F5344CB8AC3E}">
        <p14:creationId xmlns:p14="http://schemas.microsoft.com/office/powerpoint/2010/main" val="1784840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22522-6086-A0BC-FCDE-469C214CC8C2}"/>
            </a:ext>
          </a:extLst>
        </p:cNvPr>
        <p:cNvGrpSpPr/>
        <p:nvPr/>
      </p:nvGrpSpPr>
      <p:grpSpPr>
        <a:xfrm>
          <a:off x="0" y="0"/>
          <a:ext cx="0" cy="0"/>
          <a:chOff x="0" y="0"/>
          <a:chExt cx="0" cy="0"/>
        </a:xfrm>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Key Changes – Management of Plans</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A new ‘Managing the Plans’ spine controls constraints, risk, conflicts, change and opportunities to protect the frozen plan.</a:t>
            </a:r>
          </a:p>
        </p:txBody>
      </p:sp>
      <p:sp>
        <p:nvSpPr>
          <p:cNvPr id="4" name="Rounded Rectangle 3"/>
          <p:cNvSpPr/>
          <p:nvPr/>
        </p:nvSpPr>
        <p:spPr>
          <a:xfrm>
            <a:off x="274320" y="1481328"/>
            <a:ext cx="2843784" cy="1088136"/>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1563624"/>
            <a:ext cx="2587752" cy="31089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1050" b="1" i="0">
                <a:solidFill>
                  <a:srgbClr val="004C8F"/>
                </a:solidFill>
                <a:latin typeface="Calibri"/>
              </a:rPr>
              <a:t>Gate Review Criteria</a:t>
            </a:r>
          </a:p>
        </p:txBody>
      </p:sp>
      <p:sp>
        <p:nvSpPr>
          <p:cNvPr id="6" name="TextBox 5"/>
          <p:cNvSpPr txBox="1"/>
          <p:nvPr/>
        </p:nvSpPr>
        <p:spPr>
          <a:xfrm>
            <a:off x="402336" y="1883664"/>
            <a:ext cx="2587752" cy="63093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880" b="0" i="0">
                <a:solidFill>
                  <a:srgbClr val="262626"/>
                </a:solidFill>
                <a:latin typeface="Calibri"/>
              </a:rPr>
              <a:t>Defined entry tests for G1 (90D candidates), G2 (30D freeze), G3 (7D execution).</a:t>
            </a:r>
          </a:p>
        </p:txBody>
      </p:sp>
      <p:sp>
        <p:nvSpPr>
          <p:cNvPr id="7" name="Rounded Rectangle 6"/>
          <p:cNvSpPr/>
          <p:nvPr/>
        </p:nvSpPr>
        <p:spPr>
          <a:xfrm>
            <a:off x="3246120" y="1481328"/>
            <a:ext cx="2843784" cy="1088136"/>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74136" y="1563624"/>
            <a:ext cx="2587752" cy="31089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1050" b="1" i="0">
                <a:solidFill>
                  <a:srgbClr val="004C8F"/>
                </a:solidFill>
                <a:latin typeface="Calibri"/>
              </a:rPr>
              <a:t>Managing Constraints</a:t>
            </a:r>
          </a:p>
        </p:txBody>
      </p:sp>
      <p:sp>
        <p:nvSpPr>
          <p:cNvPr id="9" name="TextBox 8"/>
          <p:cNvSpPr txBox="1"/>
          <p:nvPr/>
        </p:nvSpPr>
        <p:spPr>
          <a:xfrm>
            <a:off x="3374136" y="1883664"/>
            <a:ext cx="2587752" cy="63093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880" b="0" i="0">
                <a:solidFill>
                  <a:srgbClr val="262626"/>
                </a:solidFill>
                <a:latin typeface="Calibri"/>
              </a:rPr>
              <a:t>PMI six constraints — Scope, Schedule, Budget, Quality, Resources, Risk; QRA/CBR contingency.</a:t>
            </a:r>
          </a:p>
        </p:txBody>
      </p:sp>
      <p:sp>
        <p:nvSpPr>
          <p:cNvPr id="10" name="Rounded Rectangle 9"/>
          <p:cNvSpPr/>
          <p:nvPr/>
        </p:nvSpPr>
        <p:spPr>
          <a:xfrm>
            <a:off x="6217920" y="1481328"/>
            <a:ext cx="2843784" cy="1088136"/>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5936" y="1563624"/>
            <a:ext cx="2587752" cy="31089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1050" b="1" i="0">
                <a:solidFill>
                  <a:srgbClr val="004C8F"/>
                </a:solidFill>
                <a:latin typeface="Calibri"/>
              </a:rPr>
              <a:t>Risk Assessment</a:t>
            </a:r>
          </a:p>
        </p:txBody>
      </p:sp>
      <p:sp>
        <p:nvSpPr>
          <p:cNvPr id="12" name="TextBox 11"/>
          <p:cNvSpPr txBox="1"/>
          <p:nvPr/>
        </p:nvSpPr>
        <p:spPr>
          <a:xfrm>
            <a:off x="6345936" y="1883664"/>
            <a:ext cx="2587752" cy="63093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880" b="0" i="0">
                <a:solidFill>
                  <a:srgbClr val="262626"/>
                </a:solidFill>
                <a:latin typeface="Calibri"/>
              </a:rPr>
              <a:t>Integrated at 30D/90D — HAZID, HAZOP, SIMOPS, SIL, PJHA; MEPG risk matrix.</a:t>
            </a:r>
          </a:p>
        </p:txBody>
      </p:sp>
      <p:sp>
        <p:nvSpPr>
          <p:cNvPr id="13" name="Rounded Rectangle 12"/>
          <p:cNvSpPr/>
          <p:nvPr/>
        </p:nvSpPr>
        <p:spPr>
          <a:xfrm>
            <a:off x="9189720" y="1481328"/>
            <a:ext cx="2843784" cy="1088136"/>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17736" y="1563624"/>
            <a:ext cx="2587752" cy="31089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1050" b="1" i="0">
                <a:solidFill>
                  <a:srgbClr val="004C8F"/>
                </a:solidFill>
                <a:latin typeface="Calibri"/>
              </a:rPr>
              <a:t>Conflict Resolution &amp; Prioritization</a:t>
            </a:r>
          </a:p>
        </p:txBody>
      </p:sp>
      <p:sp>
        <p:nvSpPr>
          <p:cNvPr id="15" name="TextBox 14"/>
          <p:cNvSpPr txBox="1"/>
          <p:nvPr/>
        </p:nvSpPr>
        <p:spPr>
          <a:xfrm>
            <a:off x="9317736" y="1883664"/>
            <a:ext cx="2587752" cy="63093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880" b="0" i="0">
                <a:solidFill>
                  <a:srgbClr val="262626"/>
                </a:solidFill>
                <a:latin typeface="Calibri"/>
              </a:rPr>
              <a:t>Ranked by HSE, asset integrity, production loss, human factors, opportunity cost.</a:t>
            </a:r>
          </a:p>
        </p:txBody>
      </p:sp>
      <p:sp>
        <p:nvSpPr>
          <p:cNvPr id="16" name="Rounded Rectangle 15"/>
          <p:cNvSpPr/>
          <p:nvPr/>
        </p:nvSpPr>
        <p:spPr>
          <a:xfrm>
            <a:off x="274320" y="2697480"/>
            <a:ext cx="2843784" cy="1088136"/>
          </a:xfrm>
          <a:prstGeom prst="roundRect">
            <a:avLst/>
          </a:prstGeom>
          <a:solidFill>
            <a:srgbClr val="FCE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2779776"/>
            <a:ext cx="2587752" cy="31089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1050" b="1" i="0">
                <a:solidFill>
                  <a:srgbClr val="9C6500"/>
                </a:solidFill>
                <a:latin typeface="Calibri"/>
              </a:rPr>
              <a:t>Opportunity Identification  (NEW)</a:t>
            </a:r>
          </a:p>
        </p:txBody>
      </p:sp>
      <p:sp>
        <p:nvSpPr>
          <p:cNvPr id="18" name="TextBox 17"/>
          <p:cNvSpPr txBox="1"/>
          <p:nvPr/>
        </p:nvSpPr>
        <p:spPr>
          <a:xfrm>
            <a:off x="402336" y="3099816"/>
            <a:ext cx="2587752" cy="63093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880" b="0" i="0">
                <a:solidFill>
                  <a:srgbClr val="262626"/>
                </a:solidFill>
                <a:latin typeface="Calibri"/>
              </a:rPr>
              <a:t>Formal step to capture and mature value-adding opportunities into the plan.</a:t>
            </a:r>
          </a:p>
        </p:txBody>
      </p:sp>
      <p:sp>
        <p:nvSpPr>
          <p:cNvPr id="19" name="Rounded Rectangle 18"/>
          <p:cNvSpPr/>
          <p:nvPr/>
        </p:nvSpPr>
        <p:spPr>
          <a:xfrm>
            <a:off x="3246120" y="2697480"/>
            <a:ext cx="2843784" cy="1088136"/>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74136" y="2779776"/>
            <a:ext cx="2587752" cy="31089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1050" b="1" i="0">
                <a:solidFill>
                  <a:srgbClr val="004C8F"/>
                </a:solidFill>
                <a:latin typeface="Calibri"/>
              </a:rPr>
              <a:t>Change Control / Break-in</a:t>
            </a:r>
          </a:p>
        </p:txBody>
      </p:sp>
      <p:sp>
        <p:nvSpPr>
          <p:cNvPr id="21" name="TextBox 20"/>
          <p:cNvSpPr txBox="1"/>
          <p:nvPr/>
        </p:nvSpPr>
        <p:spPr>
          <a:xfrm>
            <a:off x="3374136" y="3099816"/>
            <a:ext cx="2587752" cy="63093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880" b="0" i="0">
                <a:solidFill>
                  <a:srgbClr val="262626"/>
                </a:solidFill>
                <a:latin typeface="Calibri"/>
              </a:rPr>
              <a:t>Controlled additions &amp; changes to the Frozen 30D plan — nothing enters uncontrolled.</a:t>
            </a:r>
          </a:p>
        </p:txBody>
      </p:sp>
      <p:sp>
        <p:nvSpPr>
          <p:cNvPr id="22" name="Rounded Rectangle 21"/>
          <p:cNvSpPr/>
          <p:nvPr/>
        </p:nvSpPr>
        <p:spPr>
          <a:xfrm>
            <a:off x="6217920" y="2697480"/>
            <a:ext cx="2843784" cy="1088136"/>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2779776"/>
            <a:ext cx="2587752" cy="31089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1050" b="1" i="0">
                <a:solidFill>
                  <a:srgbClr val="004C8F"/>
                </a:solidFill>
                <a:latin typeface="Calibri"/>
              </a:rPr>
              <a:t>Plan Administration</a:t>
            </a:r>
          </a:p>
        </p:txBody>
      </p:sp>
      <p:sp>
        <p:nvSpPr>
          <p:cNvPr id="24" name="TextBox 23"/>
          <p:cNvSpPr txBox="1"/>
          <p:nvPr/>
        </p:nvSpPr>
        <p:spPr>
          <a:xfrm>
            <a:off x="6345936" y="3099816"/>
            <a:ext cx="2587752" cy="63093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880" b="0" i="0">
                <a:solidFill>
                  <a:srgbClr val="262626"/>
                </a:solidFill>
                <a:latin typeface="Calibri"/>
              </a:rPr>
              <a:t>Documentation, data management, version control — a single source of truth.</a:t>
            </a:r>
          </a:p>
        </p:txBody>
      </p:sp>
      <p:sp>
        <p:nvSpPr>
          <p:cNvPr id="25" name="Rounded Rectangle 24"/>
          <p:cNvSpPr/>
          <p:nvPr/>
        </p:nvSpPr>
        <p:spPr>
          <a:xfrm>
            <a:off x="9189720" y="2697480"/>
            <a:ext cx="2843784" cy="1088136"/>
          </a:xfrm>
          <a:prstGeom prst="roundRect">
            <a:avLst/>
          </a:prstGeom>
          <a:solidFill>
            <a:srgbClr val="004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17736" y="2779776"/>
            <a:ext cx="2587752" cy="274320"/>
          </a:xfrm>
          <a:prstGeom prst="rect">
            <a:avLst/>
          </a:prstGeom>
          <a:noFill/>
        </p:spPr>
        <p:txBody>
          <a:bodyPr wrap="square" anchor="t" lIns="25400" rIns="25400" tIns="12700" bIns="12700">
            <a:spAutoFit/>
          </a:bodyPr>
          <a:lstStyle/>
          <a:p>
            <a:pPr algn="l">
              <a:spcBef>
                <a:spcPts val="0"/>
              </a:spcBef>
              <a:spcAft>
                <a:spcPts val="0"/>
              </a:spcAft>
            </a:pPr>
            <a:r>
              <a:rPr sz="1000" b="1" i="0">
                <a:solidFill>
                  <a:srgbClr val="FFC000"/>
                </a:solidFill>
                <a:latin typeface="Calibri"/>
              </a:rPr>
              <a:t>WHY IT MATTERS</a:t>
            </a:r>
          </a:p>
        </p:txBody>
      </p:sp>
      <p:sp>
        <p:nvSpPr>
          <p:cNvPr id="27" name="TextBox 26"/>
          <p:cNvSpPr txBox="1"/>
          <p:nvPr/>
        </p:nvSpPr>
        <p:spPr>
          <a:xfrm>
            <a:off x="9317736" y="3063240"/>
            <a:ext cx="2587752" cy="676656"/>
          </a:xfrm>
          <a:prstGeom prst="rect">
            <a:avLst/>
          </a:prstGeom>
          <a:noFill/>
        </p:spPr>
        <p:txBody>
          <a:bodyPr wrap="square" anchor="t" lIns="25400" rIns="25400" tIns="12700" bIns="12700">
            <a:spAutoFit/>
          </a:bodyPr>
          <a:lstStyle/>
          <a:p>
            <a:pPr algn="l">
              <a:lnSpc>
                <a:spcPct val="95000"/>
              </a:lnSpc>
              <a:spcBef>
                <a:spcPts val="0"/>
              </a:spcBef>
              <a:spcAft>
                <a:spcPts val="0"/>
              </a:spcAft>
            </a:pPr>
            <a:r>
              <a:rPr sz="950" b="0" i="0">
                <a:solidFill>
                  <a:srgbClr val="FFFFFF"/>
                </a:solidFill>
                <a:latin typeface="Calibri"/>
              </a:rPr>
              <a:t>Protects execution from unprepared work and uncontrolled change.</a:t>
            </a:r>
          </a:p>
        </p:txBody>
      </p:sp>
      <p:sp>
        <p:nvSpPr>
          <p:cNvPr id="28" name="TextBox 27"/>
          <p:cNvSpPr txBox="1"/>
          <p:nvPr/>
        </p:nvSpPr>
        <p:spPr>
          <a:xfrm>
            <a:off x="274320" y="3931920"/>
            <a:ext cx="11612880" cy="502920"/>
          </a:xfrm>
          <a:prstGeom prst="rect">
            <a:avLst/>
          </a:prstGeom>
          <a:noFill/>
        </p:spPr>
        <p:txBody>
          <a:bodyPr wrap="square" anchor="t" lIns="25400" rIns="25400" tIns="12700" bIns="12700">
            <a:spAutoFit/>
          </a:bodyPr>
          <a:lstStyle/>
          <a:p>
            <a:pPr algn="l">
              <a:lnSpc>
                <a:spcPct val="100000"/>
              </a:lnSpc>
              <a:spcBef>
                <a:spcPts val="0"/>
              </a:spcBef>
              <a:spcAft>
                <a:spcPts val="0"/>
              </a:spcAft>
            </a:pPr>
            <a:r>
              <a:rPr sz="1100" b="1" i="0">
                <a:solidFill>
                  <a:srgbClr val="004C8F"/>
                </a:solidFill>
                <a:latin typeface="Calibri"/>
              </a:rPr>
              <a:t>Flow of control:  </a:t>
            </a:r>
            <a:r>
              <a:rPr sz="1100" b="0" i="0">
                <a:solidFill>
                  <a:srgbClr val="262626"/>
                </a:solidFill>
                <a:latin typeface="Calibri"/>
              </a:rPr>
              <a:t>screen &amp; prioritize  →  Gate 1 (90D)  →  Gate 2 freeze (30D)  →  changes only via controlled Break-in  →  Gate 3 execute (7D).</a:t>
            </a:r>
          </a:p>
        </p:txBody>
      </p:sp>
    </p:spTree>
    <p:extLst>
      <p:ext uri="{BB962C8B-B14F-4D97-AF65-F5344CB8AC3E}">
        <p14:creationId xmlns:p14="http://schemas.microsoft.com/office/powerpoint/2010/main" val="981432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31E5E-68D4-BBCD-0FEE-DC3796EE56E2}"/>
            </a:ext>
          </a:extLst>
        </p:cNvPr>
        <p:cNvGrpSpPr/>
        <p:nvPr/>
      </p:nvGrpSpPr>
      <p:grpSpPr>
        <a:xfrm>
          <a:off x="0" y="0"/>
          <a:ext cx="0" cy="0"/>
          <a:chOff x="0" y="0"/>
          <a:chExt cx="0" cy="0"/>
        </a:xfrm>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Key Changes – Performance &amp; Continuous Improvement</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Redefined KPIs and structured learning loops make planning performance measurable and improvable.</a:t>
            </a:r>
          </a:p>
        </p:txBody>
      </p:sp>
      <p:sp>
        <p:nvSpPr>
          <p:cNvPr id="4" name="TextBox 3"/>
          <p:cNvSpPr txBox="1"/>
          <p:nvPr/>
        </p:nvSpPr>
        <p:spPr>
          <a:xfrm>
            <a:off x="274320" y="1463040"/>
            <a:ext cx="5760720" cy="274320"/>
          </a:xfrm>
          <a:prstGeom prst="rect">
            <a:avLst/>
          </a:prstGeom>
          <a:noFill/>
        </p:spPr>
        <p:txBody>
          <a:bodyPr wrap="square" anchor="t" lIns="25400" rIns="25400" tIns="12700" bIns="12700">
            <a:spAutoFit/>
          </a:bodyPr>
          <a:lstStyle/>
          <a:p>
            <a:pPr algn="l">
              <a:spcBef>
                <a:spcPts val="0"/>
              </a:spcBef>
              <a:spcAft>
                <a:spcPts val="200"/>
              </a:spcAft>
            </a:pPr>
            <a:r>
              <a:rPr sz="1200" b="1" i="0">
                <a:solidFill>
                  <a:srgbClr val="004C8F"/>
                </a:solidFill>
                <a:latin typeface="Calibri"/>
              </a:rPr>
              <a:t>Redefined KPIs (Rev 4)</a:t>
            </a:r>
          </a:p>
        </p:txBody>
      </p:sp>
      <p:graphicFrame>
        <p:nvGraphicFramePr>
          <p:cNvPr id="5" name="Table 4"/>
          <p:cNvGraphicFramePr>
            <a:graphicFrameLocks noGrp="1"/>
          </p:cNvGraphicFramePr>
          <p:nvPr/>
        </p:nvGraphicFramePr>
        <p:xfrm>
          <a:off x="274320" y="1792224"/>
          <a:ext cx="5669280" cy="2340864"/>
        </p:xfrm>
        <a:graphic>
          <a:graphicData uri="http://schemas.openxmlformats.org/drawingml/2006/table">
            <a:tbl>
              <a:tblPr/>
              <a:tblGrid>
                <a:gridCol w="2331720"/>
                <a:gridCol w="3337560"/>
              </a:tblGrid>
              <a:tr h="365760">
                <a:tc>
                  <a:txBody>
                    <a:bodyPr wrap="square"/>
                    <a:lstStyle/>
                    <a:p>
                      <a:pPr algn="l">
                        <a:spcBef>
                          <a:spcPts val="0"/>
                        </a:spcBef>
                        <a:spcAft>
                          <a:spcPts val="100"/>
                        </a:spcAft>
                      </a:pPr>
                      <a:r>
                        <a:rPr sz="1000" b="1" i="0">
                          <a:solidFill>
                            <a:srgbClr val="FFFFFF"/>
                          </a:solidFill>
                          <a:latin typeface="Calibri"/>
                        </a:rPr>
                        <a:t>Primary KPI</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FFFFFF"/>
                          </a:solidFill>
                          <a:latin typeface="Calibri"/>
                        </a:rPr>
                        <a:t>What it measures</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493776">
                <a:tc>
                  <a:txBody>
                    <a:bodyPr wrap="square"/>
                    <a:lstStyle/>
                    <a:p>
                      <a:pPr algn="l">
                        <a:spcBef>
                          <a:spcPts val="0"/>
                        </a:spcBef>
                        <a:spcAft>
                          <a:spcPts val="100"/>
                        </a:spcAft>
                      </a:pPr>
                      <a:r>
                        <a:rPr sz="950" b="1" i="0">
                          <a:solidFill>
                            <a:srgbClr val="004C8F"/>
                          </a:solidFill>
                          <a:latin typeface="Calibri"/>
                        </a:rPr>
                        <a:t>Schedule Attainment (with SF)</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Plan delivered, adjusted by Schedule Shift Factor.</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493776">
                <a:tc>
                  <a:txBody>
                    <a:bodyPr wrap="square"/>
                    <a:lstStyle/>
                    <a:p>
                      <a:pPr algn="l">
                        <a:spcBef>
                          <a:spcPts val="0"/>
                        </a:spcBef>
                        <a:spcAft>
                          <a:spcPts val="100"/>
                        </a:spcAft>
                      </a:pPr>
                      <a:r>
                        <a:rPr sz="950" b="1" i="0">
                          <a:solidFill>
                            <a:srgbClr val="004C8F"/>
                          </a:solidFill>
                          <a:latin typeface="Calibri"/>
                        </a:rPr>
                        <a:t>SPI</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Schedule Performance Indicator vs baseline.</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493776">
                <a:tc>
                  <a:txBody>
                    <a:bodyPr wrap="square"/>
                    <a:lstStyle/>
                    <a:p>
                      <a:pPr algn="l">
                        <a:spcBef>
                          <a:spcPts val="0"/>
                        </a:spcBef>
                        <a:spcAft>
                          <a:spcPts val="100"/>
                        </a:spcAft>
                      </a:pPr>
                      <a:r>
                        <a:rPr sz="950" b="1" i="0">
                          <a:solidFill>
                            <a:srgbClr val="004C8F"/>
                          </a:solidFill>
                          <a:latin typeface="Calibri"/>
                        </a:rPr>
                        <a:t>Plan Break-in</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Unplanned work forced into the frozen plan.</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493776">
                <a:tc>
                  <a:txBody>
                    <a:bodyPr wrap="square"/>
                    <a:lstStyle/>
                    <a:p>
                      <a:pPr algn="l">
                        <a:spcBef>
                          <a:spcPts val="0"/>
                        </a:spcBef>
                        <a:spcAft>
                          <a:spcPts val="100"/>
                        </a:spcAft>
                      </a:pPr>
                      <a:r>
                        <a:rPr sz="950" b="1" i="0">
                          <a:solidFill>
                            <a:srgbClr val="004C8F"/>
                          </a:solidFill>
                          <a:latin typeface="Calibri"/>
                        </a:rPr>
                        <a:t>Plan Deletion</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Committed scope removed before execution.</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bl>
          </a:graphicData>
        </a:graphic>
      </p:graphicFrame>
      <p:sp>
        <p:nvSpPr>
          <p:cNvPr id="6" name="TextBox 5"/>
          <p:cNvSpPr txBox="1"/>
          <p:nvPr/>
        </p:nvSpPr>
        <p:spPr>
          <a:xfrm>
            <a:off x="274320" y="4315968"/>
            <a:ext cx="5760720" cy="822960"/>
          </a:xfrm>
          <a:prstGeom prst="rect">
            <a:avLst/>
          </a:prstGeom>
          <a:noFill/>
        </p:spPr>
        <p:txBody>
          <a:bodyPr wrap="square" anchor="t" lIns="25400" rIns="25400" tIns="12700" bIns="12700">
            <a:spAutoFit/>
          </a:bodyPr>
          <a:lstStyle/>
          <a:p>
            <a:pPr algn="l">
              <a:lnSpc>
                <a:spcPct val="100000"/>
              </a:lnSpc>
              <a:spcBef>
                <a:spcPts val="0"/>
              </a:spcBef>
              <a:spcAft>
                <a:spcPts val="0"/>
              </a:spcAft>
            </a:pPr>
            <a:r>
              <a:rPr sz="1000" b="1" i="0">
                <a:solidFill>
                  <a:srgbClr val="004C8F"/>
                </a:solidFill>
                <a:latin typeface="Calibri"/>
              </a:rPr>
              <a:t>Secondary metrics:  </a:t>
            </a:r>
            <a:r>
              <a:rPr sz="1000" b="0" i="0">
                <a:solidFill>
                  <a:srgbClr val="262626"/>
                </a:solidFill>
                <a:latin typeface="Calibri"/>
              </a:rPr>
              <a:t>plan utilization, plan stability, work efficiency, disturbance / delay.</a:t>
            </a:r>
          </a:p>
        </p:txBody>
      </p:sp>
      <p:sp>
        <p:nvSpPr>
          <p:cNvPr id="7" name="Rounded Rectangle 6"/>
          <p:cNvSpPr/>
          <p:nvPr/>
        </p:nvSpPr>
        <p:spPr>
          <a:xfrm>
            <a:off x="6309360" y="1792224"/>
            <a:ext cx="5577840" cy="288036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65376"/>
            <a:ext cx="5212080" cy="292608"/>
          </a:xfrm>
          <a:prstGeom prst="rect">
            <a:avLst/>
          </a:prstGeom>
          <a:noFill/>
        </p:spPr>
        <p:txBody>
          <a:bodyPr wrap="square" anchor="t" lIns="25400" rIns="25400" tIns="12700" bIns="12700">
            <a:spAutoFit/>
          </a:bodyPr>
          <a:lstStyle/>
          <a:p>
            <a:pPr algn="l">
              <a:spcBef>
                <a:spcPts val="0"/>
              </a:spcBef>
              <a:spcAft>
                <a:spcPts val="200"/>
              </a:spcAft>
            </a:pPr>
            <a:r>
              <a:rPr sz="1200" b="1" i="0">
                <a:solidFill>
                  <a:srgbClr val="004C8F"/>
                </a:solidFill>
                <a:latin typeface="Calibri"/>
              </a:rPr>
              <a:t>Continuous Improvement</a:t>
            </a:r>
          </a:p>
        </p:txBody>
      </p:sp>
      <p:sp>
        <p:nvSpPr>
          <p:cNvPr id="9" name="TextBox 8"/>
          <p:cNvSpPr txBox="1"/>
          <p:nvPr/>
        </p:nvSpPr>
        <p:spPr>
          <a:xfrm>
            <a:off x="6492240" y="2212848"/>
            <a:ext cx="5212080" cy="2377440"/>
          </a:xfrm>
          <a:prstGeom prst="rect">
            <a:avLst/>
          </a:prstGeom>
          <a:noFill/>
        </p:spPr>
        <p:txBody>
          <a:bodyPr wrap="square" anchor="t" lIns="25400" rIns="25400" tIns="12700" bIns="12700">
            <a:spAutoFit/>
          </a:bodyPr>
          <a:lstStyle/>
          <a:p>
            <a:pPr algn="l">
              <a:lnSpc>
                <a:spcPct val="100000"/>
              </a:lnSpc>
              <a:spcBef>
                <a:spcPts val="0"/>
              </a:spcBef>
              <a:spcAft>
                <a:spcPts val="700"/>
              </a:spcAft>
            </a:pPr>
            <a:r>
              <a:rPr sz="1050" b="0" i="0">
                <a:solidFill>
                  <a:srgbClr val="262626"/>
                </a:solidFill>
                <a:latin typeface="Calibri"/>
              </a:rPr>
              <a:t>After-Action Reviews (AAR) capture execution learning.</a:t>
            </a:r>
          </a:p>
          <a:p>
            <a:pPr algn="l">
              <a:lnSpc>
                <a:spcPct val="100000"/>
              </a:lnSpc>
              <a:spcBef>
                <a:spcPts val="0"/>
              </a:spcBef>
              <a:spcAft>
                <a:spcPts val="700"/>
              </a:spcAft>
            </a:pPr>
            <a:r>
              <a:rPr sz="1050" b="0" i="0">
                <a:solidFill>
                  <a:srgbClr val="262626"/>
                </a:solidFill>
                <a:latin typeface="Calibri"/>
              </a:rPr>
              <a:t>Planning Compliance &amp; Peer Review across horizons.</a:t>
            </a:r>
          </a:p>
          <a:p>
            <a:pPr algn="l">
              <a:lnSpc>
                <a:spcPct val="100000"/>
              </a:lnSpc>
              <a:spcBef>
                <a:spcPts val="0"/>
              </a:spcBef>
              <a:spcAft>
                <a:spcPts val="700"/>
              </a:spcAft>
            </a:pPr>
            <a:r>
              <a:rPr sz="1050" b="0" i="0">
                <a:solidFill>
                  <a:srgbClr val="262626"/>
                </a:solidFill>
                <a:latin typeface="Calibri"/>
              </a:rPr>
              <a:t>Business Performance Review &amp; Benchmarking.</a:t>
            </a:r>
          </a:p>
          <a:p>
            <a:pPr algn="l">
              <a:lnSpc>
                <a:spcPct val="100000"/>
              </a:lnSpc>
              <a:spcBef>
                <a:spcPts val="0"/>
              </a:spcBef>
              <a:spcAft>
                <a:spcPts val="700"/>
              </a:spcAft>
            </a:pPr>
            <a:r>
              <a:rPr sz="1050" b="0" i="0">
                <a:solidFill>
                  <a:srgbClr val="262626"/>
                </a:solidFill>
                <a:latin typeface="Calibri"/>
              </a:rPr>
              <a:t>Feedback loops return results into the relevant planning cycle (MCRS).</a:t>
            </a:r>
          </a:p>
        </p:txBody>
      </p:sp>
      <p:sp>
        <p:nvSpPr>
          <p:cNvPr id="10" name="Rounded Rectangle 9"/>
          <p:cNvSpPr/>
          <p:nvPr/>
        </p:nvSpPr>
        <p:spPr>
          <a:xfrm>
            <a:off x="274320" y="5212080"/>
            <a:ext cx="11612880" cy="960120"/>
          </a:xfrm>
          <a:prstGeom prst="roundRect">
            <a:avLst/>
          </a:prstGeom>
          <a:solidFill>
            <a:srgbClr val="004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303520"/>
            <a:ext cx="11155680" cy="274320"/>
          </a:xfrm>
          <a:prstGeom prst="rect">
            <a:avLst/>
          </a:prstGeom>
          <a:noFill/>
        </p:spPr>
        <p:txBody>
          <a:bodyPr wrap="square" anchor="t" lIns="25400" rIns="25400" tIns="12700" bIns="12700">
            <a:spAutoFit/>
          </a:bodyPr>
          <a:lstStyle/>
          <a:p>
            <a:pPr algn="l">
              <a:spcBef>
                <a:spcPts val="0"/>
              </a:spcBef>
              <a:spcAft>
                <a:spcPts val="0"/>
              </a:spcAft>
            </a:pPr>
            <a:r>
              <a:rPr sz="1100" b="1" i="0">
                <a:solidFill>
                  <a:srgbClr val="FFC000"/>
                </a:solidFill>
                <a:latin typeface="Calibri"/>
              </a:rPr>
              <a:t>EXPECTED IMPACT</a:t>
            </a:r>
          </a:p>
        </p:txBody>
      </p:sp>
      <p:sp>
        <p:nvSpPr>
          <p:cNvPr id="12" name="TextBox 11"/>
          <p:cNvSpPr txBox="1"/>
          <p:nvPr/>
        </p:nvSpPr>
        <p:spPr>
          <a:xfrm>
            <a:off x="502920" y="5596128"/>
            <a:ext cx="11155680" cy="548640"/>
          </a:xfrm>
          <a:prstGeom prst="rect">
            <a:avLst/>
          </a:prstGeom>
          <a:noFill/>
        </p:spPr>
        <p:txBody>
          <a:bodyPr wrap="square" anchor="t" lIns="25400" rIns="25400" tIns="12700" bIns="12700">
            <a:spAutoFit/>
          </a:bodyPr>
          <a:lstStyle/>
          <a:p>
            <a:pPr algn="l">
              <a:lnSpc>
                <a:spcPct val="100000"/>
              </a:lnSpc>
              <a:spcBef>
                <a:spcPts val="0"/>
              </a:spcBef>
              <a:spcAft>
                <a:spcPts val="0"/>
              </a:spcAft>
            </a:pPr>
            <a:r>
              <a:rPr sz="1150" b="0" i="0">
                <a:solidFill>
                  <a:srgbClr val="FFFFFF"/>
                </a:solidFill>
                <a:latin typeface="Calibri"/>
              </a:rPr>
              <a:t>Objective, comparable visibility of planning performance; institutional learning that compounds over cycles and reduces non-productive time (NPT).</a:t>
            </a:r>
          </a:p>
        </p:txBody>
      </p:sp>
    </p:spTree>
    <p:extLst>
      <p:ext uri="{BB962C8B-B14F-4D97-AF65-F5344CB8AC3E}">
        <p14:creationId xmlns:p14="http://schemas.microsoft.com/office/powerpoint/2010/main" val="188051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BC16F-44A3-2D75-193F-3C5A24E47454}"/>
            </a:ext>
          </a:extLst>
        </p:cNvPr>
        <p:cNvGrpSpPr/>
        <p:nvPr/>
      </p:nvGrpSpPr>
      <p:grpSpPr>
        <a:xfrm>
          <a:off x="0" y="0"/>
          <a:ext cx="0" cy="0"/>
          <a:chOff x="0" y="0"/>
          <a:chExt cx="0" cy="0"/>
        </a:xfrm>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Summary &amp; Recommendation</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Endorse the Rev 4 direction and authorize resolution of the remaining open items to issue.</a:t>
            </a:r>
          </a:p>
        </p:txBody>
      </p:sp>
      <p:sp>
        <p:nvSpPr>
          <p:cNvPr id="4" name="TextBox 3"/>
          <p:cNvSpPr txBox="1"/>
          <p:nvPr/>
        </p:nvSpPr>
        <p:spPr>
          <a:xfrm>
            <a:off x="274320" y="1463040"/>
            <a:ext cx="5760720" cy="274320"/>
          </a:xfrm>
          <a:prstGeom prst="rect">
            <a:avLst/>
          </a:prstGeom>
          <a:noFill/>
        </p:spPr>
        <p:txBody>
          <a:bodyPr wrap="square" anchor="t" lIns="25400" rIns="25400" tIns="12700" bIns="12700">
            <a:spAutoFit/>
          </a:bodyPr>
          <a:lstStyle/>
          <a:p>
            <a:pPr algn="l">
              <a:spcBef>
                <a:spcPts val="0"/>
              </a:spcBef>
              <a:spcAft>
                <a:spcPts val="200"/>
              </a:spcAft>
            </a:pPr>
            <a:r>
              <a:rPr sz="1200" b="1" i="0">
                <a:solidFill>
                  <a:srgbClr val="004C8F"/>
                </a:solidFill>
                <a:latin typeface="Calibri"/>
              </a:rPr>
              <a:t>What Rev 4 delivers</a:t>
            </a:r>
          </a:p>
        </p:txBody>
      </p:sp>
      <p:sp>
        <p:nvSpPr>
          <p:cNvPr id="5" name="TextBox 4"/>
          <p:cNvSpPr txBox="1"/>
          <p:nvPr/>
        </p:nvSpPr>
        <p:spPr>
          <a:xfrm>
            <a:off x="310896" y="1792224"/>
            <a:ext cx="5760720" cy="2194560"/>
          </a:xfrm>
          <a:prstGeom prst="rect">
            <a:avLst/>
          </a:prstGeom>
          <a:noFill/>
        </p:spPr>
        <p:txBody>
          <a:bodyPr wrap="square" anchor="t" lIns="25400" rIns="25400" tIns="12700" bIns="12700">
            <a:spAutoFit/>
          </a:bodyPr>
          <a:lstStyle/>
          <a:p>
            <a:pPr algn="l">
              <a:lnSpc>
                <a:spcPct val="100000"/>
              </a:lnSpc>
              <a:spcBef>
                <a:spcPts val="0"/>
              </a:spcBef>
              <a:spcAft>
                <a:spcPts val="700"/>
              </a:spcAft>
            </a:pPr>
            <a:r>
              <a:rPr sz="1100" b="0" i="0">
                <a:solidFill>
                  <a:srgbClr val="262626"/>
                </a:solidFill>
                <a:latin typeface="Calibri"/>
              </a:rPr>
              <a:t>Aligned to corporate IBP (GN-3005) &amp; operational framework (GN-3007).</a:t>
            </a:r>
          </a:p>
          <a:p>
            <a:pPr algn="l">
              <a:lnSpc>
                <a:spcPct val="100000"/>
              </a:lnSpc>
              <a:spcBef>
                <a:spcPts val="0"/>
              </a:spcBef>
              <a:spcAft>
                <a:spcPts val="700"/>
              </a:spcAft>
            </a:pPr>
            <a:r>
              <a:rPr sz="1100" b="0" i="0">
                <a:solidFill>
                  <a:srgbClr val="262626"/>
                </a:solidFill>
                <a:latin typeface="Calibri"/>
              </a:rPr>
              <a:t>Complete horizon set FDP→7D with the new 12M and 7D horizons.</a:t>
            </a:r>
          </a:p>
          <a:p>
            <a:pPr algn="l">
              <a:lnSpc>
                <a:spcPct val="100000"/>
              </a:lnSpc>
              <a:spcBef>
                <a:spcPts val="0"/>
              </a:spcBef>
              <a:spcAft>
                <a:spcPts val="700"/>
              </a:spcAft>
            </a:pPr>
            <a:r>
              <a:rPr sz="1100" b="0" i="0">
                <a:solidFill>
                  <a:srgbClr val="262626"/>
                </a:solidFill>
                <a:latin typeface="Calibri"/>
              </a:rPr>
              <a:t>Three execution stage-gates (G1/G2/G3) and a Frozen 30D plan.</a:t>
            </a:r>
          </a:p>
          <a:p>
            <a:pPr algn="l">
              <a:lnSpc>
                <a:spcPct val="100000"/>
              </a:lnSpc>
              <a:spcBef>
                <a:spcPts val="0"/>
              </a:spcBef>
              <a:spcAft>
                <a:spcPts val="700"/>
              </a:spcAft>
            </a:pPr>
            <a:r>
              <a:rPr sz="1100" b="0" i="0">
                <a:solidFill>
                  <a:srgbClr val="262626"/>
                </a:solidFill>
                <a:latin typeface="Calibri"/>
              </a:rPr>
              <a:t>‘Managing the Plans’ spine: constraints, risk, conflict, change, opportunity.</a:t>
            </a:r>
          </a:p>
          <a:p>
            <a:pPr algn="l">
              <a:lnSpc>
                <a:spcPct val="100000"/>
              </a:lnSpc>
              <a:spcBef>
                <a:spcPts val="0"/>
              </a:spcBef>
              <a:spcAft>
                <a:spcPts val="700"/>
              </a:spcAft>
            </a:pPr>
            <a:r>
              <a:rPr sz="1100" b="0" i="0">
                <a:solidFill>
                  <a:srgbClr val="262626"/>
                </a:solidFill>
                <a:latin typeface="Calibri"/>
              </a:rPr>
              <a:t>Redefined KPIs and continuous-improvement loops.</a:t>
            </a:r>
          </a:p>
        </p:txBody>
      </p:sp>
      <p:sp>
        <p:nvSpPr>
          <p:cNvPr id="6" name="Rounded Rectangle 5"/>
          <p:cNvSpPr/>
          <p:nvPr/>
        </p:nvSpPr>
        <p:spPr>
          <a:xfrm>
            <a:off x="6126480" y="1463040"/>
            <a:ext cx="5760720" cy="2971800"/>
          </a:xfrm>
          <a:prstGeom prst="roundRect">
            <a:avLst/>
          </a:prstGeom>
          <a:solidFill>
            <a:srgbClr val="FCE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36192"/>
            <a:ext cx="5394960" cy="274320"/>
          </a:xfrm>
          <a:prstGeom prst="rect">
            <a:avLst/>
          </a:prstGeom>
          <a:noFill/>
        </p:spPr>
        <p:txBody>
          <a:bodyPr wrap="square" anchor="t" lIns="25400" rIns="25400" tIns="12700" bIns="12700">
            <a:spAutoFit/>
          </a:bodyPr>
          <a:lstStyle/>
          <a:p>
            <a:pPr algn="l">
              <a:spcBef>
                <a:spcPts val="0"/>
              </a:spcBef>
              <a:spcAft>
                <a:spcPts val="200"/>
              </a:spcAft>
            </a:pPr>
            <a:r>
              <a:rPr sz="1150" b="1" i="0">
                <a:solidFill>
                  <a:srgbClr val="9C6500"/>
                </a:solidFill>
                <a:latin typeface="Calibri"/>
              </a:rPr>
              <a:t>Open items requiring confirmation (not resolved here)</a:t>
            </a:r>
          </a:p>
        </p:txBody>
      </p:sp>
      <p:sp>
        <p:nvSpPr>
          <p:cNvPr id="8" name="TextBox 7"/>
          <p:cNvSpPr txBox="1"/>
          <p:nvPr/>
        </p:nvSpPr>
        <p:spPr>
          <a:xfrm>
            <a:off x="6309360" y="1883664"/>
            <a:ext cx="5394960" cy="2468880"/>
          </a:xfrm>
          <a:prstGeom prst="rect">
            <a:avLst/>
          </a:prstGeom>
          <a:noFill/>
        </p:spPr>
        <p:txBody>
          <a:bodyPr wrap="square" anchor="t" lIns="25400" rIns="25400" tIns="12700" bIns="12700">
            <a:spAutoFit/>
          </a:bodyPr>
          <a:lstStyle/>
          <a:p>
            <a:pPr algn="l">
              <a:lnSpc>
                <a:spcPct val="98000"/>
              </a:lnSpc>
              <a:spcBef>
                <a:spcPts val="0"/>
              </a:spcBef>
              <a:spcAft>
                <a:spcPts val="600"/>
              </a:spcAft>
            </a:pPr>
            <a:r>
              <a:rPr sz="1000" b="0" i="0">
                <a:solidFill>
                  <a:srgbClr val="262626"/>
                </a:solidFill>
                <a:latin typeface="Calibri"/>
              </a:rPr>
              <a:t>ADP approval authority — GL-002 scope text (President Director) vs summary table (CEO); Rev 4 uses CEO/COO.  → Mas Fikri / Mas Robert</a:t>
            </a:r>
          </a:p>
          <a:p>
            <a:pPr algn="l">
              <a:lnSpc>
                <a:spcPct val="98000"/>
              </a:lnSpc>
              <a:spcBef>
                <a:spcPts val="0"/>
              </a:spcBef>
              <a:spcAft>
                <a:spcPts val="600"/>
              </a:spcAft>
            </a:pPr>
            <a:r>
              <a:rPr sz="1000" b="0" i="0">
                <a:solidFill>
                  <a:srgbClr val="262626"/>
                </a:solidFill>
                <a:latin typeface="Calibri"/>
              </a:rPr>
              <a:t>FDP approval authority — GL-001 scope text (Sr Manager Subsurface) vs table (Sr VP Asset); Rev 4 uses Sr. VP Asset.  → Mas Fikri / Mas Robert</a:t>
            </a:r>
          </a:p>
          <a:p>
            <a:pPr algn="l">
              <a:lnSpc>
                <a:spcPct val="98000"/>
              </a:lnSpc>
              <a:spcBef>
                <a:spcPts val="0"/>
              </a:spcBef>
              <a:spcAft>
                <a:spcPts val="600"/>
              </a:spcAft>
            </a:pPr>
            <a:r>
              <a:rPr sz="1000" b="0" i="0">
                <a:solidFill>
                  <a:srgbClr val="262626"/>
                </a:solidFill>
                <a:latin typeface="Calibri"/>
              </a:rPr>
              <a:t>Legacy “Field Manager” language remains in change-control text — conflicts with GN-3007 OIM/OM authority.  → Kang Oi / Mas Fikri</a:t>
            </a:r>
          </a:p>
          <a:p>
            <a:pPr algn="l">
              <a:lnSpc>
                <a:spcPct val="98000"/>
              </a:lnSpc>
              <a:spcBef>
                <a:spcPts val="0"/>
              </a:spcBef>
              <a:spcAft>
                <a:spcPts val="600"/>
              </a:spcAft>
            </a:pPr>
            <a:r>
              <a:rPr sz="1000" b="0" i="0">
                <a:solidFill>
                  <a:srgbClr val="262626"/>
                </a:solidFill>
                <a:latin typeface="Calibri"/>
              </a:rPr>
              <a:t>GN-3007 vs GN-3008 source defect — cover (4-horizon, incl. 12M) vs header (3-horizon). Source defect, not ours.  → Kang Oi</a:t>
            </a:r>
          </a:p>
        </p:txBody>
      </p:sp>
      <p:sp>
        <p:nvSpPr>
          <p:cNvPr id="9" name="Rounded Rectangle 8"/>
          <p:cNvSpPr/>
          <p:nvPr/>
        </p:nvSpPr>
        <p:spPr>
          <a:xfrm>
            <a:off x="274320" y="4617720"/>
            <a:ext cx="11612880" cy="1600200"/>
          </a:xfrm>
          <a:prstGeom prst="roundRect">
            <a:avLst/>
          </a:prstGeom>
          <a:solidFill>
            <a:srgbClr val="004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700016"/>
            <a:ext cx="11155680" cy="292608"/>
          </a:xfrm>
          <a:prstGeom prst="rect">
            <a:avLst/>
          </a:prstGeom>
          <a:noFill/>
        </p:spPr>
        <p:txBody>
          <a:bodyPr wrap="square" anchor="t" lIns="25400" rIns="25400" tIns="12700" bIns="12700">
            <a:spAutoFit/>
          </a:bodyPr>
          <a:lstStyle/>
          <a:p>
            <a:pPr algn="l">
              <a:spcBef>
                <a:spcPts val="0"/>
              </a:spcBef>
              <a:spcAft>
                <a:spcPts val="0"/>
              </a:spcAft>
            </a:pPr>
            <a:r>
              <a:rPr sz="1300" b="1" i="0">
                <a:solidFill>
                  <a:srgbClr val="FFC000"/>
                </a:solidFill>
                <a:latin typeface="Calibri"/>
              </a:rPr>
              <a:t>THE ASK</a:t>
            </a:r>
          </a:p>
        </p:txBody>
      </p:sp>
      <p:sp>
        <p:nvSpPr>
          <p:cNvPr id="11" name="TextBox 10"/>
          <p:cNvSpPr txBox="1"/>
          <p:nvPr/>
        </p:nvSpPr>
        <p:spPr>
          <a:xfrm>
            <a:off x="502920" y="5047488"/>
            <a:ext cx="11155680" cy="10972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FFFFFF"/>
                </a:solidFill>
                <a:latin typeface="Calibri"/>
              </a:rPr>
              <a:t>1.  Endorse the Rev 4 direction and its alignment to GN-3005 / GN-3007.</a:t>
            </a:r>
          </a:p>
          <a:p>
            <a:pPr algn="l">
              <a:lnSpc>
                <a:spcPct val="100000"/>
              </a:lnSpc>
              <a:spcBef>
                <a:spcPts val="0"/>
              </a:spcBef>
              <a:spcAft>
                <a:spcPts val="400"/>
              </a:spcAft>
            </a:pPr>
            <a:r>
              <a:rPr sz="1200" b="1" i="0">
                <a:solidFill>
                  <a:srgbClr val="FFFFFF"/>
                </a:solidFill>
                <a:latin typeface="Calibri"/>
              </a:rPr>
              <a:t>2.  Authorize resolution of the four open items with the named owners above.</a:t>
            </a:r>
          </a:p>
          <a:p>
            <a:pPr algn="l">
              <a:lnSpc>
                <a:spcPct val="100000"/>
              </a:lnSpc>
              <a:spcBef>
                <a:spcPts val="0"/>
              </a:spcBef>
              <a:spcAft>
                <a:spcPts val="400"/>
              </a:spcAft>
            </a:pPr>
            <a:r>
              <a:rPr sz="1200" b="1" i="0">
                <a:solidFill>
                  <a:srgbClr val="FFFFFF"/>
                </a:solidFill>
                <a:latin typeface="Calibri"/>
              </a:rPr>
              <a:t>3.  Approve the path to issue Rev 4 once those confirmations are closed.</a:t>
            </a:r>
          </a:p>
        </p:txBody>
      </p:sp>
    </p:spTree>
    <p:extLst>
      <p:ext uri="{BB962C8B-B14F-4D97-AF65-F5344CB8AC3E}">
        <p14:creationId xmlns:p14="http://schemas.microsoft.com/office/powerpoint/2010/main" val="3004647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33458-305A-BF4D-5A88-DD161796CB00}"/>
            </a:ext>
          </a:extLst>
        </p:cNvPr>
        <p:cNvGrpSpPr/>
        <p:nvPr/>
      </p:nvGrpSpPr>
      <p:grpSpPr>
        <a:xfrm>
          <a:off x="0" y="0"/>
          <a:ext cx="0" cy="0"/>
          <a:chOff x="0" y="0"/>
          <a:chExt cx="0" cy="0"/>
        </a:xfrm>
      </p:grpSpPr>
      <p:sp>
        <p:nvSpPr>
          <p:cNvPr id="2" name="Rectangle 1"/>
          <p:cNvSpPr/>
          <p:nvPr/>
        </p:nvSpPr>
        <p:spPr>
          <a:xfrm>
            <a:off x="0" y="2468880"/>
            <a:ext cx="12191695" cy="1920240"/>
          </a:xfrm>
          <a:prstGeom prst="rect">
            <a:avLst/>
          </a:prstGeom>
          <a:solidFill>
            <a:srgbClr val="004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822960"/>
          </a:xfrm>
          <a:prstGeom prst="rect">
            <a:avLst/>
          </a:prstGeom>
          <a:noFill/>
        </p:spPr>
        <p:txBody>
          <a:bodyPr wrap="square" anchor="t" lIns="25400" rIns="25400" tIns="12700" bIns="12700">
            <a:spAutoFit/>
          </a:bodyPr>
          <a:lstStyle/>
          <a:p>
            <a:pPr algn="l">
              <a:spcBef>
                <a:spcPts val="0"/>
              </a:spcBef>
              <a:spcAft>
                <a:spcPts val="200"/>
              </a:spcAft>
            </a:pPr>
            <a:r>
              <a:rPr sz="4400" b="1" i="0">
                <a:solidFill>
                  <a:srgbClr val="FFFFFF"/>
                </a:solidFill>
                <a:latin typeface="Calibri"/>
              </a:rPr>
              <a:t>Appendix</a:t>
            </a:r>
          </a:p>
        </p:txBody>
      </p:sp>
      <p:sp>
        <p:nvSpPr>
          <p:cNvPr id="4" name="TextBox 3"/>
          <p:cNvSpPr txBox="1"/>
          <p:nvPr/>
        </p:nvSpPr>
        <p:spPr>
          <a:xfrm>
            <a:off x="758952" y="3703320"/>
            <a:ext cx="10698480" cy="457200"/>
          </a:xfrm>
          <a:prstGeom prst="rect">
            <a:avLst/>
          </a:prstGeom>
          <a:noFill/>
        </p:spPr>
        <p:txBody>
          <a:bodyPr wrap="square" anchor="t" lIns="25400" rIns="25400" tIns="12700" bIns="12700">
            <a:spAutoFit/>
          </a:bodyPr>
          <a:lstStyle/>
          <a:p>
            <a:pPr algn="l">
              <a:spcBef>
                <a:spcPts val="0"/>
              </a:spcBef>
              <a:spcAft>
                <a:spcPts val="200"/>
              </a:spcAft>
            </a:pPr>
            <a:r>
              <a:rPr sz="1500" b="0" i="0">
                <a:solidFill>
                  <a:srgbClr val="CADCFC"/>
                </a:solidFill>
                <a:latin typeface="Calibri"/>
              </a:rPr>
              <a:t>Supporting detail — framework figure, matrices, gate criteria, open items, source register</a:t>
            </a:r>
          </a:p>
        </p:txBody>
      </p:sp>
    </p:spTree>
    <p:extLst>
      <p:ext uri="{BB962C8B-B14F-4D97-AF65-F5344CB8AC3E}">
        <p14:creationId xmlns:p14="http://schemas.microsoft.com/office/powerpoint/2010/main" val="1698833115"/>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Appendix A – Multi-Horizon Planning Framework (Figure 2)</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The complete Rev 4 framework: planning focus, review forum, ownership, approval authority and cadence by horizon.</a:t>
            </a:r>
          </a:p>
        </p:txBody>
      </p:sp>
      <p:pic>
        <p:nvPicPr>
          <p:cNvPr id="4" name="Picture 3" descr="Fig2_Horizon_Overview.png"/>
          <p:cNvPicPr>
            <a:picLocks noChangeAspect="1"/>
          </p:cNvPicPr>
          <p:nvPr/>
        </p:nvPicPr>
        <p:blipFill>
          <a:blip r:embed="rId2"/>
          <a:stretch>
            <a:fillRect/>
          </a:stretch>
        </p:blipFill>
        <p:spPr>
          <a:xfrm>
            <a:off x="1815562" y="1481328"/>
            <a:ext cx="8560570" cy="4800600"/>
          </a:xfrm>
          <a:prstGeom prst="rect">
            <a:avLst/>
          </a:prstGeom>
        </p:spPr>
      </p:pic>
      <p:sp>
        <p:nvSpPr>
          <p:cNvPr id="5" name="TextBox 4"/>
          <p:cNvSpPr txBox="1"/>
          <p:nvPr/>
        </p:nvSpPr>
        <p:spPr>
          <a:xfrm>
            <a:off x="274320" y="6336792"/>
            <a:ext cx="11612880" cy="274320"/>
          </a:xfrm>
          <a:prstGeom prst="rect">
            <a:avLst/>
          </a:prstGeom>
          <a:noFill/>
        </p:spPr>
        <p:txBody>
          <a:bodyPr wrap="square" anchor="t" lIns="25400" rIns="25400" tIns="12700" bIns="12700">
            <a:spAutoFit/>
          </a:bodyPr>
          <a:lstStyle/>
          <a:p>
            <a:pPr algn="l">
              <a:spcBef>
                <a:spcPts val="0"/>
              </a:spcBef>
              <a:spcAft>
                <a:spcPts val="200"/>
              </a:spcAft>
            </a:pPr>
            <a:r>
              <a:rPr sz="900" b="0" i="1">
                <a:solidFill>
                  <a:srgbClr val="595959"/>
                </a:solidFill>
                <a:latin typeface="Calibri"/>
              </a:rPr>
              <a:t>Source: MEPG Integrated Planning &amp; Scheduling Guideline Rev 4, Figure 2 – Multi-Horizon Planning Work Process.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Appendix B – Why Now: Chronology</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Rev 3 was issued before the corporate documents it must now align to existed — Rev 4 closes a structural gap, not neglect.</a:t>
            </a:r>
          </a:p>
        </p:txBody>
      </p:sp>
      <p:graphicFrame>
        <p:nvGraphicFramePr>
          <p:cNvPr id="4" name="Table 3"/>
          <p:cNvGraphicFramePr>
            <a:graphicFrameLocks noGrp="1"/>
          </p:cNvGraphicFramePr>
          <p:nvPr/>
        </p:nvGraphicFramePr>
        <p:xfrm>
          <a:off x="274320" y="1600200"/>
          <a:ext cx="11521440" cy="2468876"/>
        </p:xfrm>
        <a:graphic>
          <a:graphicData uri="http://schemas.openxmlformats.org/drawingml/2006/table">
            <a:tbl>
              <a:tblPr/>
              <a:tblGrid>
                <a:gridCol w="1554480"/>
                <a:gridCol w="3108960"/>
                <a:gridCol w="6858000"/>
              </a:tblGrid>
              <a:tr h="384048">
                <a:tc>
                  <a:txBody>
                    <a:bodyPr wrap="square"/>
                    <a:lstStyle/>
                    <a:p>
                      <a:pPr algn="l">
                        <a:spcBef>
                          <a:spcPts val="0"/>
                        </a:spcBef>
                        <a:spcAft>
                          <a:spcPts val="100"/>
                        </a:spcAft>
                      </a:pPr>
                      <a:r>
                        <a:rPr sz="1100" b="1" i="0">
                          <a:solidFill>
                            <a:srgbClr val="FFFFFF"/>
                          </a:solidFill>
                          <a:latin typeface="Calibri"/>
                        </a:rPr>
                        <a:t>Date</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100" b="1" i="0">
                          <a:solidFill>
                            <a:srgbClr val="FFFFFF"/>
                          </a:solidFill>
                          <a:latin typeface="Calibri"/>
                        </a:rPr>
                        <a:t>Document</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100" b="1" i="0">
                          <a:solidFill>
                            <a:srgbClr val="FFFFFF"/>
                          </a:solidFill>
                          <a:latin typeface="Calibri"/>
                        </a:rPr>
                        <a:t>Significance</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21207">
                <a:tc>
                  <a:txBody>
                    <a:bodyPr wrap="square"/>
                    <a:lstStyle/>
                    <a:p>
                      <a:pPr algn="ctr">
                        <a:spcBef>
                          <a:spcPts val="0"/>
                        </a:spcBef>
                        <a:spcAft>
                          <a:spcPts val="100"/>
                        </a:spcAft>
                      </a:pPr>
                      <a:r>
                        <a:rPr sz="1000" b="1" i="0">
                          <a:solidFill>
                            <a:srgbClr val="004C8F"/>
                          </a:solidFill>
                          <a:latin typeface="Calibri"/>
                        </a:rPr>
                        <a:t>22 Nov 2024</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262626"/>
                          </a:solidFill>
                          <a:latin typeface="Calibri"/>
                        </a:rPr>
                        <a:t>Corridor P&amp;S Guideline Rev 3 (v12)</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0" i="0">
                          <a:solidFill>
                            <a:srgbClr val="262626"/>
                          </a:solidFill>
                          <a:latin typeface="Calibri"/>
                        </a:rPr>
                        <a:t>Current issued baseline. Does not reference GN-3005 or GN-3007 — they did not yet exist.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21207">
                <a:tc>
                  <a:txBody>
                    <a:bodyPr wrap="square"/>
                    <a:lstStyle/>
                    <a:p>
                      <a:pPr algn="ctr">
                        <a:spcBef>
                          <a:spcPts val="0"/>
                        </a:spcBef>
                        <a:spcAft>
                          <a:spcPts val="100"/>
                        </a:spcAft>
                      </a:pPr>
                      <a:r>
                        <a:rPr sz="1000" b="1" i="0">
                          <a:solidFill>
                            <a:srgbClr val="004C8F"/>
                          </a:solidFill>
                          <a:latin typeface="Calibri"/>
                        </a:rPr>
                        <a:t>14 Jan 2025</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262626"/>
                          </a:solidFill>
                          <a:latin typeface="Calibri"/>
                        </a:rPr>
                        <a:t>Corporate IBP Guideline GN-3005 Rev 1</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0" i="0">
                          <a:solidFill>
                            <a:srgbClr val="262626"/>
                          </a:solidFill>
                          <a:latin typeface="Calibri"/>
                        </a:rPr>
                        <a:t>Signed incl. SVP Corridor Asset. Rev 3 predates it by ~2 months.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21207">
                <a:tc>
                  <a:txBody>
                    <a:bodyPr wrap="square"/>
                    <a:lstStyle/>
                    <a:p>
                      <a:pPr algn="ctr">
                        <a:spcBef>
                          <a:spcPts val="0"/>
                        </a:spcBef>
                        <a:spcAft>
                          <a:spcPts val="100"/>
                        </a:spcAft>
                      </a:pPr>
                      <a:r>
                        <a:rPr sz="1000" b="1" i="0">
                          <a:solidFill>
                            <a:srgbClr val="004C8F"/>
                          </a:solidFill>
                          <a:latin typeface="Calibri"/>
                        </a:rPr>
                        <a:t>Jan 2026</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262626"/>
                          </a:solidFill>
                          <a:latin typeface="Calibri"/>
                        </a:rPr>
                        <a:t>Corridor Ops Procedure GN-3007 Rev 0 (IFU)</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0" i="0">
                          <a:solidFill>
                            <a:srgbClr val="262626"/>
                          </a:solidFill>
                          <a:latin typeface="Calibri"/>
                        </a:rPr>
                        <a:t>12M / 90D / 30D / 7D operational framework. ~14 months after Rev 3.</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21207">
                <a:tc>
                  <a:txBody>
                    <a:bodyPr wrap="square"/>
                    <a:lstStyle/>
                    <a:p>
                      <a:pPr algn="ctr">
                        <a:spcBef>
                          <a:spcPts val="0"/>
                        </a:spcBef>
                        <a:spcAft>
                          <a:spcPts val="100"/>
                        </a:spcAft>
                      </a:pPr>
                      <a:r>
                        <a:rPr sz="1000" b="1" i="0">
                          <a:solidFill>
                            <a:srgbClr val="004C8F"/>
                          </a:solidFill>
                          <a:latin typeface="Calibri"/>
                        </a:rPr>
                        <a:t>Jul 2026</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262626"/>
                          </a:solidFill>
                          <a:latin typeface="Calibri"/>
                        </a:rPr>
                        <a:t>Rev 4 rebuild in progress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0" i="0">
                          <a:solidFill>
                            <a:srgbClr val="262626"/>
                          </a:solidFill>
                          <a:latin typeface="Calibri"/>
                        </a:rPr>
                        <a:t>Realigns Corridor planning to both corporate documents.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Appendix C – Table 1: Plan Approval &amp; Administration</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Approval authority, ownership, focal point and planning administration across all eight horizon rows.</a:t>
            </a:r>
          </a:p>
        </p:txBody>
      </p:sp>
      <p:graphicFrame>
        <p:nvGraphicFramePr>
          <p:cNvPr id="4" name="Table 3"/>
          <p:cNvGraphicFramePr>
            <a:graphicFrameLocks noGrp="1"/>
          </p:cNvGraphicFramePr>
          <p:nvPr/>
        </p:nvGraphicFramePr>
        <p:xfrm>
          <a:off x="274320" y="1554480"/>
          <a:ext cx="10744198" cy="4480560"/>
        </p:xfrm>
        <a:graphic>
          <a:graphicData uri="http://schemas.openxmlformats.org/drawingml/2006/table">
            <a:tbl>
              <a:tblPr/>
              <a:tblGrid>
                <a:gridCol w="1234440"/>
                <a:gridCol w="2331720"/>
                <a:gridCol w="1828800"/>
                <a:gridCol w="1874519"/>
                <a:gridCol w="1600200"/>
                <a:gridCol w="1874519"/>
              </a:tblGrid>
              <a:tr h="457200">
                <a:tc>
                  <a:txBody>
                    <a:bodyPr wrap="square"/>
                    <a:lstStyle/>
                    <a:p>
                      <a:pPr algn="l">
                        <a:spcBef>
                          <a:spcPts val="0"/>
                        </a:spcBef>
                        <a:spcAft>
                          <a:spcPts val="100"/>
                        </a:spcAft>
                      </a:pPr>
                      <a:r>
                        <a:rPr sz="950" b="1" i="0">
                          <a:solidFill>
                            <a:srgbClr val="FFFFFF"/>
                          </a:solidFill>
                          <a:latin typeface="Calibri"/>
                        </a:rPr>
                        <a:t>Horizon</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FFFFFF"/>
                          </a:solidFill>
                          <a:latin typeface="Calibri"/>
                        </a:rPr>
                        <a:t>Coverage</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FFFFFF"/>
                          </a:solidFill>
                          <a:latin typeface="Calibri"/>
                        </a:rPr>
                        <a:t>Plan Ownership</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FFFFFF"/>
                          </a:solidFill>
                          <a:latin typeface="Calibri"/>
                        </a:rPr>
                        <a:t>Approval Authority</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FFFFFF"/>
                          </a:solidFill>
                          <a:latin typeface="Calibri"/>
                        </a:rPr>
                        <a:t>Focal Point</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FFFFFF"/>
                          </a:solidFill>
                          <a:latin typeface="Calibri"/>
                        </a:rPr>
                        <a:t>Planning Admin</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l">
                        <a:spcBef>
                          <a:spcPts val="0"/>
                        </a:spcBef>
                        <a:spcAft>
                          <a:spcPts val="100"/>
                        </a:spcAft>
                      </a:pPr>
                      <a:r>
                        <a:rPr sz="850" b="1" i="0">
                          <a:solidFill>
                            <a:srgbClr val="004C8F"/>
                          </a:solidFill>
                          <a:latin typeface="Calibri"/>
                        </a:rPr>
                        <a:t>FDP</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Field technical planning</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SM Subsurface</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1" i="0">
                          <a:solidFill>
                            <a:srgbClr val="262626"/>
                          </a:solidFill>
                          <a:latin typeface="Calibri"/>
                        </a:rPr>
                        <a:t>Sr. VP Asset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per FDP guideline</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per FDP guideline</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l">
                        <a:spcBef>
                          <a:spcPts val="0"/>
                        </a:spcBef>
                        <a:spcAft>
                          <a:spcPts val="100"/>
                        </a:spcAft>
                      </a:pPr>
                      <a:r>
                        <a:rPr sz="850" b="1" i="0">
                          <a:solidFill>
                            <a:srgbClr val="004C8F"/>
                          </a:solidFill>
                          <a:latin typeface="Calibri"/>
                        </a:rPr>
                        <a:t>ADP</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Block/Asset development</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Sr. VP Asset</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1" i="0">
                          <a:solidFill>
                            <a:srgbClr val="262626"/>
                          </a:solidFill>
                          <a:latin typeface="Calibri"/>
                        </a:rPr>
                        <a:t>CEO / COO</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per ADP guideline</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per ADP guideline</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l">
                        <a:spcBef>
                          <a:spcPts val="0"/>
                        </a:spcBef>
                        <a:spcAft>
                          <a:spcPts val="100"/>
                        </a:spcAft>
                      </a:pPr>
                      <a:r>
                        <a:rPr sz="850" b="1" i="0">
                          <a:solidFill>
                            <a:srgbClr val="004C8F"/>
                          </a:solidFill>
                          <a:latin typeface="Calibri"/>
                        </a:rPr>
                        <a:t>LTP (Outer Yrs)</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10-yr+ outlook</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Asset Management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1" i="0">
                          <a:solidFill>
                            <a:srgbClr val="262626"/>
                          </a:solidFill>
                          <a:latin typeface="Calibri"/>
                        </a:rPr>
                        <a:t>CEO/COO + Sr. VP Asset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Asset Management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E&amp;P Planning</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l">
                        <a:spcBef>
                          <a:spcPts val="0"/>
                        </a:spcBef>
                        <a:spcAft>
                          <a:spcPts val="100"/>
                        </a:spcAft>
                      </a:pPr>
                      <a:r>
                        <a:rPr sz="850" b="1" i="0">
                          <a:solidFill>
                            <a:srgbClr val="004C8F"/>
                          </a:solidFill>
                          <a:latin typeface="Calibri"/>
                        </a:rPr>
                        <a:t>LTP (24-Month)</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Major asset activities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Asset Management</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1" i="0">
                          <a:solidFill>
                            <a:srgbClr val="262626"/>
                          </a:solidFill>
                          <a:latin typeface="Calibri"/>
                        </a:rPr>
                        <a:t>CEO/COO + Sr. VP Asset</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Asset Management</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E&amp;P Planning</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l">
                        <a:spcBef>
                          <a:spcPts val="0"/>
                        </a:spcBef>
                        <a:spcAft>
                          <a:spcPts val="100"/>
                        </a:spcAft>
                      </a:pPr>
                      <a:r>
                        <a:rPr sz="850" b="1" i="0">
                          <a:solidFill>
                            <a:srgbClr val="004C8F"/>
                          </a:solidFill>
                          <a:latin typeface="Calibri"/>
                        </a:rPr>
                        <a:t>12M</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Operationally impacting</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OIM/OM + owners</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1" i="0">
                          <a:solidFill>
                            <a:srgbClr val="262626"/>
                          </a:solidFill>
                          <a:latin typeface="Calibri"/>
                        </a:rPr>
                        <a:t>VP Operations</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P&amp;S Team (OPAA)</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Integrated Planner</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l">
                        <a:spcBef>
                          <a:spcPts val="0"/>
                        </a:spcBef>
                        <a:spcAft>
                          <a:spcPts val="100"/>
                        </a:spcAft>
                      </a:pPr>
                      <a:r>
                        <a:rPr sz="850" b="1" i="0">
                          <a:solidFill>
                            <a:srgbClr val="004C8F"/>
                          </a:solidFill>
                          <a:latin typeface="Calibri"/>
                        </a:rPr>
                        <a:t>90D</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Prioritized candidates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OIM/OM + Superintendent</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1" i="0">
                          <a:solidFill>
                            <a:srgbClr val="262626"/>
                          </a:solidFill>
                          <a:latin typeface="Calibri"/>
                        </a:rPr>
                        <a:t>VP Operations (Gate 1)</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P&amp;S Team (OPAA)</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Functional/Asset Planner</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l">
                        <a:spcBef>
                          <a:spcPts val="0"/>
                        </a:spcBef>
                        <a:spcAft>
                          <a:spcPts val="100"/>
                        </a:spcAft>
                      </a:pPr>
                      <a:r>
                        <a:rPr sz="850" b="1" i="0">
                          <a:solidFill>
                            <a:srgbClr val="004C8F"/>
                          </a:solidFill>
                          <a:latin typeface="Calibri"/>
                        </a:rPr>
                        <a:t>30D</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Execution commitment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OIM/OM + Superintendent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1" i="0">
                          <a:solidFill>
                            <a:srgbClr val="262626"/>
                          </a:solidFill>
                          <a:latin typeface="Calibri"/>
                        </a:rPr>
                        <a:t>OIM/OM (Gate 2)</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P&amp;S Team (OPAA)</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Functional/Asset Planner</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l">
                        <a:spcBef>
                          <a:spcPts val="0"/>
                        </a:spcBef>
                        <a:spcAft>
                          <a:spcPts val="100"/>
                        </a:spcAft>
                      </a:pPr>
                      <a:r>
                        <a:rPr sz="850" b="1" i="0">
                          <a:solidFill>
                            <a:srgbClr val="004C8F"/>
                          </a:solidFill>
                          <a:latin typeface="Calibri"/>
                        </a:rPr>
                        <a:t>7D / Plan Control</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Weekly field execution</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Superintendent/SPV</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1" i="0">
                          <a:solidFill>
                            <a:srgbClr val="262626"/>
                          </a:solidFill>
                          <a:latin typeface="Calibri"/>
                        </a:rPr>
                        <a:t>Superintendent (Gate 3)</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Functional Planner</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830" b="0" i="0">
                          <a:solidFill>
                            <a:srgbClr val="262626"/>
                          </a:solidFill>
                          <a:latin typeface="Calibri"/>
                        </a:rPr>
                        <a:t>Activity/Functional Planner</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bl>
          </a:graphicData>
        </a:graphic>
      </p:graphicFrame>
      <p:sp>
        <p:nvSpPr>
          <p:cNvPr id="5" name="TextBox 4"/>
          <p:cNvSpPr txBox="1"/>
          <p:nvPr/>
        </p:nvSpPr>
        <p:spPr>
          <a:xfrm>
            <a:off x="274320" y="6263640"/>
            <a:ext cx="11612880" cy="228600"/>
          </a:xfrm>
          <a:prstGeom prst="rect">
            <a:avLst/>
          </a:prstGeom>
          <a:noFill/>
        </p:spPr>
        <p:txBody>
          <a:bodyPr wrap="square" anchor="t" lIns="25400" rIns="25400" tIns="12700" bIns="12700">
            <a:spAutoFit/>
          </a:bodyPr>
          <a:lstStyle/>
          <a:p>
            <a:pPr algn="l">
              <a:spcBef>
                <a:spcPts val="0"/>
              </a:spcBef>
              <a:spcAft>
                <a:spcPts val="200"/>
              </a:spcAft>
            </a:pPr>
            <a:r>
              <a:rPr sz="850" b="0" i="1">
                <a:solidFill>
                  <a:srgbClr val="595959"/>
                </a:solidFill>
                <a:latin typeface="Calibri"/>
              </a:rPr>
              <a:t>Note: FDP/ADP approval authorities and legacy “Field Manager” references carry open items — see Appendix 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Appendix D – Governance Forums &amp; Cadence (Table 2)</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Fixed review cadence and gate designation by horizon — the operating rhythm of the planning system.</a:t>
            </a:r>
          </a:p>
        </p:txBody>
      </p:sp>
      <p:graphicFrame>
        <p:nvGraphicFramePr>
          <p:cNvPr id="4" name="Table 3"/>
          <p:cNvGraphicFramePr>
            <a:graphicFrameLocks noGrp="1"/>
          </p:cNvGraphicFramePr>
          <p:nvPr/>
        </p:nvGraphicFramePr>
        <p:xfrm>
          <a:off x="274320" y="1645920"/>
          <a:ext cx="11247120" cy="3931920"/>
        </p:xfrm>
        <a:graphic>
          <a:graphicData uri="http://schemas.openxmlformats.org/drawingml/2006/table">
            <a:tbl>
              <a:tblPr/>
              <a:tblGrid>
                <a:gridCol w="1463040"/>
                <a:gridCol w="1828800"/>
                <a:gridCol w="3657600"/>
                <a:gridCol w="4297680"/>
              </a:tblGrid>
              <a:tr h="411480">
                <a:tc>
                  <a:txBody>
                    <a:bodyPr wrap="square"/>
                    <a:lstStyle/>
                    <a:p>
                      <a:pPr algn="l">
                        <a:spcBef>
                          <a:spcPts val="0"/>
                        </a:spcBef>
                        <a:spcAft>
                          <a:spcPts val="100"/>
                        </a:spcAft>
                      </a:pPr>
                      <a:r>
                        <a:rPr sz="1050" b="1" i="0">
                          <a:solidFill>
                            <a:srgbClr val="FFFFFF"/>
                          </a:solidFill>
                          <a:latin typeface="Calibri"/>
                        </a:rPr>
                        <a:t>Horizon</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50" b="1" i="0">
                          <a:solidFill>
                            <a:srgbClr val="FFFFFF"/>
                          </a:solidFill>
                          <a:latin typeface="Calibri"/>
                        </a:rPr>
                        <a:t>Cadence</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50" b="1" i="0">
                          <a:solidFill>
                            <a:srgbClr val="FFFFFF"/>
                          </a:solidFill>
                          <a:latin typeface="Calibri"/>
                        </a:rPr>
                        <a:t>Review Forum</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50" b="1" i="0">
                          <a:solidFill>
                            <a:srgbClr val="FFFFFF"/>
                          </a:solidFill>
                          <a:latin typeface="Calibri"/>
                        </a:rPr>
                        <a:t>Gate / Purpose</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ctr">
                        <a:spcBef>
                          <a:spcPts val="0"/>
                        </a:spcBef>
                        <a:spcAft>
                          <a:spcPts val="100"/>
                        </a:spcAft>
                      </a:pPr>
                      <a:r>
                        <a:rPr sz="950" b="1" i="0">
                          <a:solidFill>
                            <a:srgbClr val="004C8F"/>
                          </a:solidFill>
                          <a:latin typeface="Calibri"/>
                        </a:rPr>
                        <a:t>FDP / ADP</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Annual</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FDP/ADP kick-off &amp; review</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Strategic technical &amp; development plans</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ctr">
                        <a:spcBef>
                          <a:spcPts val="0"/>
                        </a:spcBef>
                        <a:spcAft>
                          <a:spcPts val="100"/>
                        </a:spcAft>
                      </a:pPr>
                      <a:r>
                        <a:rPr sz="950" b="1" i="0">
                          <a:solidFill>
                            <a:srgbClr val="004C8F"/>
                          </a:solidFill>
                          <a:latin typeface="Calibri"/>
                        </a:rPr>
                        <a:t>LTP</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Bi-annual</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LTP / UPD LTP kick-off &amp; review</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Outer-years + 24-month outlook (3 scenarios)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ctr">
                        <a:spcBef>
                          <a:spcPts val="0"/>
                        </a:spcBef>
                        <a:spcAft>
                          <a:spcPts val="100"/>
                        </a:spcAft>
                      </a:pPr>
                      <a:r>
                        <a:rPr sz="950" b="1" i="0">
                          <a:solidFill>
                            <a:srgbClr val="004C8F"/>
                          </a:solidFill>
                          <a:latin typeface="Calibri"/>
                        </a:rPr>
                        <a:t>12M</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Quarterly</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12M Forum</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Rolling early screening; not committed</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ctr">
                        <a:spcBef>
                          <a:spcPts val="0"/>
                        </a:spcBef>
                        <a:spcAft>
                          <a:spcPts val="100"/>
                        </a:spcAft>
                      </a:pPr>
                      <a:r>
                        <a:rPr sz="950" b="1" i="0">
                          <a:solidFill>
                            <a:srgbClr val="004C8F"/>
                          </a:solidFill>
                          <a:latin typeface="Calibri"/>
                        </a:rPr>
                        <a:t>90D</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Monthly</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90D Forum</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Gate 1 – prioritized planning candidates</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ctr">
                        <a:spcBef>
                          <a:spcPts val="0"/>
                        </a:spcBef>
                        <a:spcAft>
                          <a:spcPts val="100"/>
                        </a:spcAft>
                      </a:pPr>
                      <a:r>
                        <a:rPr sz="950" b="1" i="0">
                          <a:solidFill>
                            <a:srgbClr val="004C8F"/>
                          </a:solidFill>
                          <a:latin typeface="Calibri"/>
                        </a:rPr>
                        <a:t>30D</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Monthly</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30D Forum</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Gate 2 – execution commitment; plan Frozen</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ctr">
                        <a:spcBef>
                          <a:spcPts val="0"/>
                        </a:spcBef>
                        <a:spcAft>
                          <a:spcPts val="100"/>
                        </a:spcAft>
                      </a:pPr>
                      <a:r>
                        <a:rPr sz="950" b="1" i="0">
                          <a:solidFill>
                            <a:srgbClr val="004C8F"/>
                          </a:solidFill>
                          <a:latin typeface="Calibri"/>
                        </a:rPr>
                        <a:t>7D</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Weekly</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7D Forum</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Gate 3 – authorizes weekly field execution</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02920">
                <a:tc>
                  <a:txBody>
                    <a:bodyPr wrap="square"/>
                    <a:lstStyle/>
                    <a:p>
                      <a:pPr algn="ctr">
                        <a:spcBef>
                          <a:spcPts val="0"/>
                        </a:spcBef>
                        <a:spcAft>
                          <a:spcPts val="100"/>
                        </a:spcAft>
                      </a:pPr>
                      <a:r>
                        <a:rPr sz="950" b="1" i="0">
                          <a:solidFill>
                            <a:srgbClr val="004C8F"/>
                          </a:solidFill>
                          <a:latin typeface="Calibri"/>
                        </a:rPr>
                        <a:t>—</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Continuous</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MCRS / feedback loops</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Results returned to relevant planning cycle</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Appendix E – Stage-Gate Review Criteria</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Three gates convert a screened outlook into an authorized, frozen and executed weekly plan.</a:t>
            </a:r>
          </a:p>
        </p:txBody>
      </p:sp>
      <p:sp>
        <p:nvSpPr>
          <p:cNvPr id="4" name="Rounded Rectangle 3"/>
          <p:cNvSpPr/>
          <p:nvPr/>
        </p:nvSpPr>
        <p:spPr>
          <a:xfrm>
            <a:off x="274320" y="1600200"/>
            <a:ext cx="3794760" cy="77724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91640"/>
            <a:ext cx="3794760" cy="365760"/>
          </a:xfrm>
          <a:prstGeom prst="rect">
            <a:avLst/>
          </a:prstGeom>
          <a:noFill/>
        </p:spPr>
        <p:txBody>
          <a:bodyPr wrap="square" anchor="t" lIns="25400" rIns="25400" tIns="12700" bIns="12700">
            <a:spAutoFit/>
          </a:bodyPr>
          <a:lstStyle/>
          <a:p>
            <a:pPr algn="ctr">
              <a:spcBef>
                <a:spcPts val="0"/>
              </a:spcBef>
              <a:spcAft>
                <a:spcPts val="0"/>
              </a:spcAft>
            </a:pPr>
            <a:r>
              <a:rPr sz="1800" b="1" i="0">
                <a:solidFill>
                  <a:srgbClr val="FFFFFF"/>
                </a:solidFill>
                <a:latin typeface="Calibri"/>
              </a:rPr>
              <a:t>Gate 1</a:t>
            </a:r>
          </a:p>
        </p:txBody>
      </p:sp>
      <p:sp>
        <p:nvSpPr>
          <p:cNvPr id="6" name="TextBox 5"/>
          <p:cNvSpPr txBox="1"/>
          <p:nvPr/>
        </p:nvSpPr>
        <p:spPr>
          <a:xfrm>
            <a:off x="274320" y="2057400"/>
            <a:ext cx="3794760" cy="274320"/>
          </a:xfrm>
          <a:prstGeom prst="rect">
            <a:avLst/>
          </a:prstGeom>
          <a:noFill/>
        </p:spPr>
        <p:txBody>
          <a:bodyPr wrap="square" anchor="t" lIns="25400" rIns="25400" tIns="12700" bIns="12700">
            <a:spAutoFit/>
          </a:bodyPr>
          <a:lstStyle/>
          <a:p>
            <a:pPr algn="ctr">
              <a:spcBef>
                <a:spcPts val="0"/>
              </a:spcBef>
              <a:spcAft>
                <a:spcPts val="0"/>
              </a:spcAft>
            </a:pPr>
            <a:r>
              <a:rPr sz="1100" b="1" i="0">
                <a:solidFill>
                  <a:srgbClr val="FFFFFF"/>
                </a:solidFill>
                <a:latin typeface="Calibri"/>
              </a:rPr>
              <a:t>90-Day Forum</a:t>
            </a:r>
          </a:p>
        </p:txBody>
      </p:sp>
      <p:sp>
        <p:nvSpPr>
          <p:cNvPr id="7" name="Rounded Rectangle 6"/>
          <p:cNvSpPr/>
          <p:nvPr/>
        </p:nvSpPr>
        <p:spPr>
          <a:xfrm>
            <a:off x="274320" y="2468880"/>
            <a:ext cx="3794760" cy="34290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606040"/>
            <a:ext cx="3429000" cy="3291840"/>
          </a:xfrm>
          <a:prstGeom prst="rect">
            <a:avLst/>
          </a:prstGeom>
          <a:noFill/>
        </p:spPr>
        <p:txBody>
          <a:bodyPr wrap="square" anchor="t" lIns="25400" rIns="25400" tIns="12700" bIns="12700">
            <a:spAutoFit/>
          </a:bodyPr>
          <a:lstStyle/>
          <a:p>
            <a:pPr algn="l">
              <a:lnSpc>
                <a:spcPct val="102000"/>
              </a:lnSpc>
              <a:spcBef>
                <a:spcPts val="0"/>
              </a:spcBef>
              <a:spcAft>
                <a:spcPts val="900"/>
              </a:spcAft>
            </a:pPr>
            <a:r>
              <a:rPr sz="1100" b="0" i="0">
                <a:solidFill>
                  <a:srgbClr val="262626"/>
                </a:solidFill>
                <a:latin typeface="Calibri"/>
              </a:rPr>
              <a:t>Purpose: select and prioritize planning candidates.</a:t>
            </a:r>
          </a:p>
          <a:p>
            <a:pPr algn="l">
              <a:lnSpc>
                <a:spcPct val="102000"/>
              </a:lnSpc>
              <a:spcBef>
                <a:spcPts val="0"/>
              </a:spcBef>
              <a:spcAft>
                <a:spcPts val="900"/>
              </a:spcAft>
            </a:pPr>
            <a:r>
              <a:rPr sz="1100" b="0" i="0">
                <a:solidFill>
                  <a:srgbClr val="262626"/>
                </a:solidFill>
                <a:latin typeface="Calibri"/>
              </a:rPr>
              <a:t>Not an execution commitment.</a:t>
            </a:r>
          </a:p>
          <a:p>
            <a:pPr algn="l">
              <a:lnSpc>
                <a:spcPct val="102000"/>
              </a:lnSpc>
              <a:spcBef>
                <a:spcPts val="0"/>
              </a:spcBef>
              <a:spcAft>
                <a:spcPts val="900"/>
              </a:spcAft>
            </a:pPr>
            <a:r>
              <a:rPr sz="1100" b="0" i="0">
                <a:solidFill>
                  <a:srgbClr val="262626"/>
                </a:solidFill>
                <a:latin typeface="Calibri"/>
              </a:rPr>
              <a:t>Tests: priority, risk &amp; mitigation, constraints, stakeholders &amp; resources.</a:t>
            </a:r>
          </a:p>
          <a:p>
            <a:pPr algn="l">
              <a:lnSpc>
                <a:spcPct val="102000"/>
              </a:lnSpc>
              <a:spcBef>
                <a:spcPts val="0"/>
              </a:spcBef>
              <a:spcAft>
                <a:spcPts val="900"/>
              </a:spcAft>
            </a:pPr>
            <a:r>
              <a:rPr sz="1100" b="0" i="0">
                <a:solidFill>
                  <a:srgbClr val="262626"/>
                </a:solidFill>
                <a:latin typeface="Calibri"/>
              </a:rPr>
              <a:t>Approval: VP Operations.</a:t>
            </a:r>
          </a:p>
        </p:txBody>
      </p:sp>
      <p:sp>
        <p:nvSpPr>
          <p:cNvPr id="9" name="Rounded Rectangle 8"/>
          <p:cNvSpPr/>
          <p:nvPr/>
        </p:nvSpPr>
        <p:spPr>
          <a:xfrm>
            <a:off x="4197096" y="1600200"/>
            <a:ext cx="3794760" cy="777240"/>
          </a:xfrm>
          <a:prstGeom prst="round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97096" y="1691640"/>
            <a:ext cx="3794760" cy="365760"/>
          </a:xfrm>
          <a:prstGeom prst="rect">
            <a:avLst/>
          </a:prstGeom>
          <a:noFill/>
        </p:spPr>
        <p:txBody>
          <a:bodyPr wrap="square" anchor="t" lIns="25400" rIns="25400" tIns="12700" bIns="12700">
            <a:spAutoFit/>
          </a:bodyPr>
          <a:lstStyle/>
          <a:p>
            <a:pPr algn="ctr">
              <a:spcBef>
                <a:spcPts val="0"/>
              </a:spcBef>
              <a:spcAft>
                <a:spcPts val="0"/>
              </a:spcAft>
            </a:pPr>
            <a:r>
              <a:rPr sz="1800" b="1" i="0">
                <a:solidFill>
                  <a:srgbClr val="FFFFFF"/>
                </a:solidFill>
                <a:latin typeface="Calibri"/>
              </a:rPr>
              <a:t>Gate 2</a:t>
            </a:r>
          </a:p>
        </p:txBody>
      </p:sp>
      <p:sp>
        <p:nvSpPr>
          <p:cNvPr id="11" name="TextBox 10"/>
          <p:cNvSpPr txBox="1"/>
          <p:nvPr/>
        </p:nvSpPr>
        <p:spPr>
          <a:xfrm>
            <a:off x="4197096" y="2057400"/>
            <a:ext cx="3794760" cy="274320"/>
          </a:xfrm>
          <a:prstGeom prst="rect">
            <a:avLst/>
          </a:prstGeom>
          <a:noFill/>
        </p:spPr>
        <p:txBody>
          <a:bodyPr wrap="square" anchor="t" lIns="25400" rIns="25400" tIns="12700" bIns="12700">
            <a:spAutoFit/>
          </a:bodyPr>
          <a:lstStyle/>
          <a:p>
            <a:pPr algn="ctr">
              <a:spcBef>
                <a:spcPts val="0"/>
              </a:spcBef>
              <a:spcAft>
                <a:spcPts val="0"/>
              </a:spcAft>
            </a:pPr>
            <a:r>
              <a:rPr sz="1100" b="1" i="0">
                <a:solidFill>
                  <a:srgbClr val="FFFFFF"/>
                </a:solidFill>
                <a:latin typeface="Calibri"/>
              </a:rPr>
              <a:t>30-Day Forum</a:t>
            </a:r>
          </a:p>
        </p:txBody>
      </p:sp>
      <p:sp>
        <p:nvSpPr>
          <p:cNvPr id="12" name="Rounded Rectangle 11"/>
          <p:cNvSpPr/>
          <p:nvPr/>
        </p:nvSpPr>
        <p:spPr>
          <a:xfrm>
            <a:off x="4197096" y="2468880"/>
            <a:ext cx="3794760" cy="34290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9976" y="2606040"/>
            <a:ext cx="3429000" cy="3291840"/>
          </a:xfrm>
          <a:prstGeom prst="rect">
            <a:avLst/>
          </a:prstGeom>
          <a:noFill/>
        </p:spPr>
        <p:txBody>
          <a:bodyPr wrap="square" anchor="t" lIns="25400" rIns="25400" tIns="12700" bIns="12700">
            <a:spAutoFit/>
          </a:bodyPr>
          <a:lstStyle/>
          <a:p>
            <a:pPr algn="l">
              <a:lnSpc>
                <a:spcPct val="102000"/>
              </a:lnSpc>
              <a:spcBef>
                <a:spcPts val="0"/>
              </a:spcBef>
              <a:spcAft>
                <a:spcPts val="900"/>
              </a:spcAft>
            </a:pPr>
            <a:r>
              <a:rPr sz="1100" b="0" i="0">
                <a:solidFill>
                  <a:srgbClr val="262626"/>
                </a:solidFill>
                <a:latin typeface="Calibri"/>
              </a:rPr>
              <a:t>Purpose: commit to execution — plan declared FROZEN.</a:t>
            </a:r>
          </a:p>
          <a:p>
            <a:pPr algn="l">
              <a:lnSpc>
                <a:spcPct val="102000"/>
              </a:lnSpc>
              <a:spcBef>
                <a:spcPts val="0"/>
              </a:spcBef>
              <a:spcAft>
                <a:spcPts val="900"/>
              </a:spcAft>
            </a:pPr>
            <a:r>
              <a:rPr sz="1100" b="0" i="0">
                <a:solidFill>
                  <a:srgbClr val="262626"/>
                </a:solidFill>
                <a:latin typeface="Calibri"/>
              </a:rPr>
              <a:t>Tests: readiness, risk &amp; SIMOPS, HSE &amp; MOC, materials on/near site.</a:t>
            </a:r>
          </a:p>
          <a:p>
            <a:pPr algn="l">
              <a:lnSpc>
                <a:spcPct val="102000"/>
              </a:lnSpc>
              <a:spcBef>
                <a:spcPts val="0"/>
              </a:spcBef>
              <a:spcAft>
                <a:spcPts val="900"/>
              </a:spcAft>
            </a:pPr>
            <a:r>
              <a:rPr sz="1100" b="0" i="0">
                <a:solidFill>
                  <a:srgbClr val="262626"/>
                </a:solidFill>
                <a:latin typeface="Calibri"/>
              </a:rPr>
              <a:t>Change only via controlled Break-in thereafter.</a:t>
            </a:r>
          </a:p>
          <a:p>
            <a:pPr algn="l">
              <a:lnSpc>
                <a:spcPct val="102000"/>
              </a:lnSpc>
              <a:spcBef>
                <a:spcPts val="0"/>
              </a:spcBef>
              <a:spcAft>
                <a:spcPts val="900"/>
              </a:spcAft>
            </a:pPr>
            <a:r>
              <a:rPr sz="1100" b="0" i="0">
                <a:solidFill>
                  <a:srgbClr val="262626"/>
                </a:solidFill>
                <a:latin typeface="Calibri"/>
              </a:rPr>
              <a:t>Approval: OIM / OM.</a:t>
            </a:r>
          </a:p>
        </p:txBody>
      </p:sp>
      <p:sp>
        <p:nvSpPr>
          <p:cNvPr id="14" name="Rounded Rectangle 13"/>
          <p:cNvSpPr/>
          <p:nvPr/>
        </p:nvSpPr>
        <p:spPr>
          <a:xfrm>
            <a:off x="8119872" y="1600200"/>
            <a:ext cx="3794760" cy="777240"/>
          </a:xfrm>
          <a:prstGeom prst="roundRect">
            <a:avLst/>
          </a:prstGeom>
          <a:solidFill>
            <a:srgbClr val="26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2" y="1691640"/>
            <a:ext cx="3794760" cy="365760"/>
          </a:xfrm>
          <a:prstGeom prst="rect">
            <a:avLst/>
          </a:prstGeom>
          <a:noFill/>
        </p:spPr>
        <p:txBody>
          <a:bodyPr wrap="square" anchor="t" lIns="25400" rIns="25400" tIns="12700" bIns="12700">
            <a:spAutoFit/>
          </a:bodyPr>
          <a:lstStyle/>
          <a:p>
            <a:pPr algn="ctr">
              <a:spcBef>
                <a:spcPts val="0"/>
              </a:spcBef>
              <a:spcAft>
                <a:spcPts val="0"/>
              </a:spcAft>
            </a:pPr>
            <a:r>
              <a:rPr sz="1800" b="1" i="0">
                <a:solidFill>
                  <a:srgbClr val="FFFFFF"/>
                </a:solidFill>
                <a:latin typeface="Calibri"/>
              </a:rPr>
              <a:t>Gate 3</a:t>
            </a:r>
          </a:p>
        </p:txBody>
      </p:sp>
      <p:sp>
        <p:nvSpPr>
          <p:cNvPr id="16" name="TextBox 15"/>
          <p:cNvSpPr txBox="1"/>
          <p:nvPr/>
        </p:nvSpPr>
        <p:spPr>
          <a:xfrm>
            <a:off x="8119872" y="2057400"/>
            <a:ext cx="3794760" cy="274320"/>
          </a:xfrm>
          <a:prstGeom prst="rect">
            <a:avLst/>
          </a:prstGeom>
          <a:noFill/>
        </p:spPr>
        <p:txBody>
          <a:bodyPr wrap="square" anchor="t" lIns="25400" rIns="25400" tIns="12700" bIns="12700">
            <a:spAutoFit/>
          </a:bodyPr>
          <a:lstStyle/>
          <a:p>
            <a:pPr algn="ctr">
              <a:spcBef>
                <a:spcPts val="0"/>
              </a:spcBef>
              <a:spcAft>
                <a:spcPts val="0"/>
              </a:spcAft>
            </a:pPr>
            <a:r>
              <a:rPr sz="1100" b="1" i="0">
                <a:solidFill>
                  <a:srgbClr val="FFFFFF"/>
                </a:solidFill>
                <a:latin typeface="Calibri"/>
              </a:rPr>
              <a:t>7-Day Forum</a:t>
            </a:r>
          </a:p>
        </p:txBody>
      </p:sp>
      <p:sp>
        <p:nvSpPr>
          <p:cNvPr id="17" name="Rounded Rectangle 16"/>
          <p:cNvSpPr/>
          <p:nvPr/>
        </p:nvSpPr>
        <p:spPr>
          <a:xfrm>
            <a:off x="8119872" y="2468880"/>
            <a:ext cx="3794760" cy="3429000"/>
          </a:xfrm>
          <a:prstGeom prst="roundRect">
            <a:avLst/>
          </a:prstGeom>
          <a:solidFill>
            <a:srgbClr val="E7E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606040"/>
            <a:ext cx="3429000" cy="3291840"/>
          </a:xfrm>
          <a:prstGeom prst="rect">
            <a:avLst/>
          </a:prstGeom>
          <a:noFill/>
        </p:spPr>
        <p:txBody>
          <a:bodyPr wrap="square" anchor="t" lIns="25400" rIns="25400" tIns="12700" bIns="12700">
            <a:spAutoFit/>
          </a:bodyPr>
          <a:lstStyle/>
          <a:p>
            <a:pPr algn="l">
              <a:lnSpc>
                <a:spcPct val="102000"/>
              </a:lnSpc>
              <a:spcBef>
                <a:spcPts val="0"/>
              </a:spcBef>
              <a:spcAft>
                <a:spcPts val="900"/>
              </a:spcAft>
            </a:pPr>
            <a:r>
              <a:rPr sz="1100" b="0" i="0">
                <a:solidFill>
                  <a:srgbClr val="262626"/>
                </a:solidFill>
                <a:latin typeface="Calibri"/>
              </a:rPr>
              <a:t>Purpose: authorize weekly field execution within the frozen window.</a:t>
            </a:r>
          </a:p>
          <a:p>
            <a:pPr algn="l">
              <a:lnSpc>
                <a:spcPct val="102000"/>
              </a:lnSpc>
              <a:spcBef>
                <a:spcPts val="0"/>
              </a:spcBef>
              <a:spcAft>
                <a:spcPts val="900"/>
              </a:spcAft>
            </a:pPr>
            <a:r>
              <a:rPr sz="1100" b="0" i="0">
                <a:solidFill>
                  <a:srgbClr val="262626"/>
                </a:solidFill>
                <a:latin typeface="Calibri"/>
              </a:rPr>
              <a:t>Tests: final readiness, site coordination, SIMOPS &amp; execution sequencing.</a:t>
            </a:r>
          </a:p>
          <a:p>
            <a:pPr algn="l">
              <a:lnSpc>
                <a:spcPct val="102000"/>
              </a:lnSpc>
              <a:spcBef>
                <a:spcPts val="0"/>
              </a:spcBef>
              <a:spcAft>
                <a:spcPts val="900"/>
              </a:spcAft>
            </a:pPr>
            <a:r>
              <a:rPr sz="1100" b="0" i="0">
                <a:solidFill>
                  <a:srgbClr val="262626"/>
                </a:solidFill>
                <a:latin typeface="Calibri"/>
              </a:rPr>
              <a:t>Approval: Superintendent.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Appendix F – Gates in Practice: Field Evidence</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Rev 4 documents what Corridor already runs — approved Gate 1/2/3 plans and a signed Frozen-30D DoA form are in use today (GGSDR, Suban).</a:t>
            </a:r>
          </a:p>
        </p:txBody>
      </p:sp>
      <p:sp>
        <p:nvSpPr>
          <p:cNvPr id="4" name="Rounded Rectangle 3"/>
          <p:cNvSpPr/>
          <p:nvPr/>
        </p:nvSpPr>
        <p:spPr>
          <a:xfrm>
            <a:off x="274320" y="1572768"/>
            <a:ext cx="3794760" cy="50292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64208"/>
            <a:ext cx="3794760" cy="365760"/>
          </a:xfrm>
          <a:prstGeom prst="rect">
            <a:avLst/>
          </a:prstGeom>
          <a:noFill/>
        </p:spPr>
        <p:txBody>
          <a:bodyPr wrap="square" anchor="t" lIns="25400" rIns="25400" tIns="12700" bIns="12700">
            <a:spAutoFit/>
          </a:bodyPr>
          <a:lstStyle/>
          <a:p>
            <a:pPr algn="ctr">
              <a:spcBef>
                <a:spcPts val="0"/>
              </a:spcBef>
              <a:spcAft>
                <a:spcPts val="0"/>
              </a:spcAft>
            </a:pPr>
            <a:r>
              <a:rPr sz="1500" b="1" i="0">
                <a:solidFill>
                  <a:srgbClr val="FFFFFF"/>
                </a:solidFill>
                <a:latin typeface="Calibri"/>
              </a:rPr>
              <a:t>Gate 1 / 90D</a:t>
            </a:r>
          </a:p>
        </p:txBody>
      </p:sp>
      <p:sp>
        <p:nvSpPr>
          <p:cNvPr id="6" name="Rounded Rectangle 5"/>
          <p:cNvSpPr/>
          <p:nvPr/>
        </p:nvSpPr>
        <p:spPr>
          <a:xfrm>
            <a:off x="274320" y="2139696"/>
            <a:ext cx="3794760" cy="3227832"/>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2249424"/>
            <a:ext cx="3465576" cy="502920"/>
          </a:xfrm>
          <a:prstGeom prst="rect">
            <a:avLst/>
          </a:prstGeom>
          <a:noFill/>
        </p:spPr>
        <p:txBody>
          <a:bodyPr wrap="square" anchor="t" lIns="25400" rIns="25400" tIns="12700" bIns="12700">
            <a:spAutoFit/>
          </a:bodyPr>
          <a:lstStyle/>
          <a:p>
            <a:pPr algn="l">
              <a:lnSpc>
                <a:spcPct val="95000"/>
              </a:lnSpc>
              <a:spcBef>
                <a:spcPts val="0"/>
              </a:spcBef>
              <a:spcAft>
                <a:spcPts val="200"/>
              </a:spcAft>
            </a:pPr>
            <a:r>
              <a:rPr sz="1050" b="1" i="0">
                <a:solidFill>
                  <a:srgbClr val="004C8F"/>
                </a:solidFill>
                <a:latin typeface="Calibri"/>
              </a:rPr>
              <a:t>“90D Gate Approval June 2026” Approved Plan</a:t>
            </a:r>
          </a:p>
        </p:txBody>
      </p:sp>
      <p:sp>
        <p:nvSpPr>
          <p:cNvPr id="8" name="TextBox 7"/>
          <p:cNvSpPr txBox="1"/>
          <p:nvPr/>
        </p:nvSpPr>
        <p:spPr>
          <a:xfrm>
            <a:off x="438912" y="2798064"/>
            <a:ext cx="3465576" cy="2514600"/>
          </a:xfrm>
          <a:prstGeom prst="rect">
            <a:avLst/>
          </a:prstGeom>
          <a:noFill/>
        </p:spPr>
        <p:txBody>
          <a:bodyPr wrap="square" anchor="t" lIns="25400" rIns="25400" tIns="12700" bIns="12700">
            <a:spAutoFit/>
          </a:bodyPr>
          <a:lstStyle/>
          <a:p>
            <a:pPr algn="l">
              <a:lnSpc>
                <a:spcPct val="100000"/>
              </a:lnSpc>
              <a:spcBef>
                <a:spcPts val="0"/>
              </a:spcBef>
              <a:spcAft>
                <a:spcPts val="700"/>
              </a:spcAft>
            </a:pPr>
            <a:r>
              <a:rPr sz="1000" b="0" i="0">
                <a:solidFill>
                  <a:srgbClr val="262626"/>
                </a:solidFill>
                <a:latin typeface="Calibri"/>
              </a:rPr>
              <a:t>Corridor Asset, period Jul–Sep 2026, Rev 0.</a:t>
            </a:r>
          </a:p>
          <a:p>
            <a:pPr algn="l">
              <a:lnSpc>
                <a:spcPct val="100000"/>
              </a:lnSpc>
              <a:spcBef>
                <a:spcPts val="0"/>
              </a:spcBef>
              <a:spcAft>
                <a:spcPts val="700"/>
              </a:spcAft>
            </a:pPr>
            <a:r>
              <a:rPr sz="1000" b="0" i="0">
                <a:solidFill>
                  <a:srgbClr val="262626"/>
                </a:solidFill>
                <a:latin typeface="Calibri"/>
              </a:rPr>
              <a:t>Executive Decision Summary + 90-day objective.</a:t>
            </a:r>
          </a:p>
          <a:p>
            <a:pPr algn="l">
              <a:lnSpc>
                <a:spcPct val="100000"/>
              </a:lnSpc>
              <a:spcBef>
                <a:spcPts val="0"/>
              </a:spcBef>
              <a:spcAft>
                <a:spcPts val="700"/>
              </a:spcAft>
            </a:pPr>
            <a:r>
              <a:rPr sz="1000" b="0" i="0">
                <a:solidFill>
                  <a:srgbClr val="262626"/>
                </a:solidFill>
                <a:latin typeface="Calibri"/>
              </a:rPr>
              <a:t>~100 activities screened, prioritized &amp; readiness/risk-constraint reviewed.</a:t>
            </a:r>
          </a:p>
        </p:txBody>
      </p:sp>
      <p:sp>
        <p:nvSpPr>
          <p:cNvPr id="9" name="Rounded Rectangle 8"/>
          <p:cNvSpPr/>
          <p:nvPr/>
        </p:nvSpPr>
        <p:spPr>
          <a:xfrm>
            <a:off x="4197096" y="1572768"/>
            <a:ext cx="3794760" cy="502920"/>
          </a:xfrm>
          <a:prstGeom prst="round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97096" y="1664208"/>
            <a:ext cx="3794760" cy="365760"/>
          </a:xfrm>
          <a:prstGeom prst="rect">
            <a:avLst/>
          </a:prstGeom>
          <a:noFill/>
        </p:spPr>
        <p:txBody>
          <a:bodyPr wrap="square" anchor="t" lIns="25400" rIns="25400" tIns="12700" bIns="12700">
            <a:spAutoFit/>
          </a:bodyPr>
          <a:lstStyle/>
          <a:p>
            <a:pPr algn="ctr">
              <a:spcBef>
                <a:spcPts val="0"/>
              </a:spcBef>
              <a:spcAft>
                <a:spcPts val="0"/>
              </a:spcAft>
            </a:pPr>
            <a:r>
              <a:rPr sz="1500" b="1" i="0">
                <a:solidFill>
                  <a:srgbClr val="FFFFFF"/>
                </a:solidFill>
                <a:latin typeface="Calibri"/>
              </a:rPr>
              <a:t>Gate 2 / 30D</a:t>
            </a:r>
          </a:p>
        </p:txBody>
      </p:sp>
      <p:sp>
        <p:nvSpPr>
          <p:cNvPr id="11" name="Rounded Rectangle 10"/>
          <p:cNvSpPr/>
          <p:nvPr/>
        </p:nvSpPr>
        <p:spPr>
          <a:xfrm>
            <a:off x="4197096" y="2139696"/>
            <a:ext cx="3794760" cy="3227832"/>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61688" y="2249424"/>
            <a:ext cx="3465576" cy="502920"/>
          </a:xfrm>
          <a:prstGeom prst="rect">
            <a:avLst/>
          </a:prstGeom>
          <a:noFill/>
        </p:spPr>
        <p:txBody>
          <a:bodyPr wrap="square" anchor="t" lIns="25400" rIns="25400" tIns="12700" bIns="12700">
            <a:spAutoFit/>
          </a:bodyPr>
          <a:lstStyle/>
          <a:p>
            <a:pPr algn="l">
              <a:lnSpc>
                <a:spcPct val="95000"/>
              </a:lnSpc>
              <a:spcBef>
                <a:spcPts val="0"/>
              </a:spcBef>
              <a:spcAft>
                <a:spcPts val="200"/>
              </a:spcAft>
            </a:pPr>
            <a:r>
              <a:rPr sz="1050" b="1" i="0">
                <a:solidFill>
                  <a:srgbClr val="004C8F"/>
                </a:solidFill>
                <a:latin typeface="Calibri"/>
              </a:rPr>
              <a:t>“30-Day Operations Plan” — Frozen (Approved)</a:t>
            </a:r>
          </a:p>
        </p:txBody>
      </p:sp>
      <p:sp>
        <p:nvSpPr>
          <p:cNvPr id="13" name="TextBox 12"/>
          <p:cNvSpPr txBox="1"/>
          <p:nvPr/>
        </p:nvSpPr>
        <p:spPr>
          <a:xfrm>
            <a:off x="4361688" y="2798064"/>
            <a:ext cx="3465576" cy="2514600"/>
          </a:xfrm>
          <a:prstGeom prst="rect">
            <a:avLst/>
          </a:prstGeom>
          <a:noFill/>
        </p:spPr>
        <p:txBody>
          <a:bodyPr wrap="square" anchor="t" lIns="25400" rIns="25400" tIns="12700" bIns="12700">
            <a:spAutoFit/>
          </a:bodyPr>
          <a:lstStyle/>
          <a:p>
            <a:pPr algn="l">
              <a:lnSpc>
                <a:spcPct val="100000"/>
              </a:lnSpc>
              <a:spcBef>
                <a:spcPts val="0"/>
              </a:spcBef>
              <a:spcAft>
                <a:spcPts val="700"/>
              </a:spcAft>
            </a:pPr>
            <a:r>
              <a:rPr sz="1000" b="0" i="0">
                <a:solidFill>
                  <a:srgbClr val="262626"/>
                </a:solidFill>
                <a:latin typeface="Calibri"/>
              </a:rPr>
              <a:t>Per facility: Suban 30D, GGSDR 30D Highlight.</a:t>
            </a:r>
          </a:p>
          <a:p>
            <a:pPr algn="l">
              <a:lnSpc>
                <a:spcPct val="100000"/>
              </a:lnSpc>
              <a:spcBef>
                <a:spcPts val="0"/>
              </a:spcBef>
              <a:spcAft>
                <a:spcPts val="700"/>
              </a:spcAft>
            </a:pPr>
            <a:r>
              <a:rPr sz="1000" b="0" i="0">
                <a:solidFill>
                  <a:srgbClr val="262626"/>
                </a:solidFill>
                <a:latin typeface="Calibri"/>
              </a:rPr>
              <a:t>Document status checkbox marked Frozen (Approved).</a:t>
            </a:r>
          </a:p>
          <a:p>
            <a:pPr algn="l">
              <a:lnSpc>
                <a:spcPct val="100000"/>
              </a:lnSpc>
              <a:spcBef>
                <a:spcPts val="0"/>
              </a:spcBef>
              <a:spcAft>
                <a:spcPts val="700"/>
              </a:spcAft>
            </a:pPr>
            <a:r>
              <a:rPr sz="1000" b="0" i="0">
                <a:solidFill>
                  <a:srgbClr val="262626"/>
                </a:solidFill>
                <a:latin typeface="Calibri"/>
              </a:rPr>
              <a:t>Signed DoA approval form (GGSDR June): Activity Planner, Offsite Planner, Superintendent commit to execute.</a:t>
            </a:r>
          </a:p>
        </p:txBody>
      </p:sp>
      <p:sp>
        <p:nvSpPr>
          <p:cNvPr id="14" name="Rounded Rectangle 13"/>
          <p:cNvSpPr/>
          <p:nvPr/>
        </p:nvSpPr>
        <p:spPr>
          <a:xfrm>
            <a:off x="8119872" y="1572768"/>
            <a:ext cx="3794760" cy="502920"/>
          </a:xfrm>
          <a:prstGeom prst="roundRect">
            <a:avLst/>
          </a:prstGeom>
          <a:solidFill>
            <a:srgbClr val="26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2" y="1664208"/>
            <a:ext cx="3794760" cy="365760"/>
          </a:xfrm>
          <a:prstGeom prst="rect">
            <a:avLst/>
          </a:prstGeom>
          <a:noFill/>
        </p:spPr>
        <p:txBody>
          <a:bodyPr wrap="square" anchor="t" lIns="25400" rIns="25400" tIns="12700" bIns="12700">
            <a:spAutoFit/>
          </a:bodyPr>
          <a:lstStyle/>
          <a:p>
            <a:pPr algn="ctr">
              <a:spcBef>
                <a:spcPts val="0"/>
              </a:spcBef>
              <a:spcAft>
                <a:spcPts val="0"/>
              </a:spcAft>
            </a:pPr>
            <a:r>
              <a:rPr sz="1500" b="1" i="0">
                <a:solidFill>
                  <a:srgbClr val="FFFFFF"/>
                </a:solidFill>
                <a:latin typeface="Calibri"/>
              </a:rPr>
              <a:t>Gate 3 / 7D</a:t>
            </a:r>
          </a:p>
        </p:txBody>
      </p:sp>
      <p:sp>
        <p:nvSpPr>
          <p:cNvPr id="16" name="Rounded Rectangle 15"/>
          <p:cNvSpPr/>
          <p:nvPr/>
        </p:nvSpPr>
        <p:spPr>
          <a:xfrm>
            <a:off x="8119872" y="2139696"/>
            <a:ext cx="3794760" cy="3227832"/>
          </a:xfrm>
          <a:prstGeom prst="roundRect">
            <a:avLst/>
          </a:prstGeom>
          <a:solidFill>
            <a:srgbClr val="E7E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4464" y="2249424"/>
            <a:ext cx="3465576" cy="502920"/>
          </a:xfrm>
          <a:prstGeom prst="rect">
            <a:avLst/>
          </a:prstGeom>
          <a:noFill/>
        </p:spPr>
        <p:txBody>
          <a:bodyPr wrap="square" anchor="t" lIns="25400" rIns="25400" tIns="12700" bIns="12700">
            <a:spAutoFit/>
          </a:bodyPr>
          <a:lstStyle/>
          <a:p>
            <a:pPr algn="l">
              <a:lnSpc>
                <a:spcPct val="95000"/>
              </a:lnSpc>
              <a:spcBef>
                <a:spcPts val="0"/>
              </a:spcBef>
              <a:spcAft>
                <a:spcPts val="200"/>
              </a:spcAft>
            </a:pPr>
            <a:r>
              <a:rPr sz="1050" b="1" i="0">
                <a:solidFill>
                  <a:srgbClr val="004C8F"/>
                </a:solidFill>
                <a:latin typeface="Calibri"/>
              </a:rPr>
              <a:t>“7-Day Operations Plan” + weekly forum deck</a:t>
            </a:r>
          </a:p>
        </p:txBody>
      </p:sp>
      <p:sp>
        <p:nvSpPr>
          <p:cNvPr id="18" name="TextBox 17"/>
          <p:cNvSpPr txBox="1"/>
          <p:nvPr/>
        </p:nvSpPr>
        <p:spPr>
          <a:xfrm>
            <a:off x="8284464" y="2798064"/>
            <a:ext cx="3465576" cy="2514600"/>
          </a:xfrm>
          <a:prstGeom prst="rect">
            <a:avLst/>
          </a:prstGeom>
          <a:noFill/>
        </p:spPr>
        <p:txBody>
          <a:bodyPr wrap="square" anchor="t" lIns="25400" rIns="25400" tIns="12700" bIns="12700">
            <a:spAutoFit/>
          </a:bodyPr>
          <a:lstStyle/>
          <a:p>
            <a:pPr algn="l">
              <a:lnSpc>
                <a:spcPct val="100000"/>
              </a:lnSpc>
              <a:spcBef>
                <a:spcPts val="0"/>
              </a:spcBef>
              <a:spcAft>
                <a:spcPts val="700"/>
              </a:spcAft>
            </a:pPr>
            <a:r>
              <a:rPr sz="1000" b="0" i="0">
                <a:solidFill>
                  <a:srgbClr val="262626"/>
                </a:solidFill>
                <a:latin typeface="Calibri"/>
              </a:rPr>
              <a:t>Per facility: Suban W1-W2, Integrated 7D W2-W3 (Signed), D1–D7.</a:t>
            </a:r>
          </a:p>
          <a:p>
            <a:pPr algn="l">
              <a:lnSpc>
                <a:spcPct val="100000"/>
              </a:lnSpc>
              <a:spcBef>
                <a:spcPts val="0"/>
              </a:spcBef>
              <a:spcAft>
                <a:spcPts val="700"/>
              </a:spcAft>
            </a:pPr>
            <a:r>
              <a:rPr sz="1000" b="0" i="0">
                <a:solidFill>
                  <a:srgbClr val="262626"/>
                </a:solidFill>
                <a:latin typeface="Calibri"/>
              </a:rPr>
              <a:t>Weekly forum deck (GGSD, 28 Jun 2026): break-in requests, PPM compliance, craft-utilization KPI, deferrals.</a:t>
            </a:r>
          </a:p>
          <a:p>
            <a:pPr algn="l">
              <a:lnSpc>
                <a:spcPct val="100000"/>
              </a:lnSpc>
              <a:spcBef>
                <a:spcPts val="0"/>
              </a:spcBef>
              <a:spcAft>
                <a:spcPts val="700"/>
              </a:spcAft>
            </a:pPr>
            <a:r>
              <a:rPr sz="1000" b="0" i="0">
                <a:solidFill>
                  <a:srgbClr val="262626"/>
                </a:solidFill>
                <a:latin typeface="Calibri"/>
              </a:rPr>
              <a:t>Performance executive summary &amp; cumulative progress.</a:t>
            </a:r>
          </a:p>
        </p:txBody>
      </p:sp>
      <p:sp>
        <p:nvSpPr>
          <p:cNvPr id="19" name="TextBox 18"/>
          <p:cNvSpPr txBox="1"/>
          <p:nvPr/>
        </p:nvSpPr>
        <p:spPr>
          <a:xfrm>
            <a:off x="274320" y="5532120"/>
            <a:ext cx="11612880" cy="640080"/>
          </a:xfrm>
          <a:prstGeom prst="rect">
            <a:avLst/>
          </a:prstGeom>
          <a:noFill/>
        </p:spPr>
        <p:txBody>
          <a:bodyPr wrap="square" anchor="t" lIns="25400" rIns="25400" tIns="12700" bIns="12700">
            <a:spAutoFit/>
          </a:bodyPr>
          <a:lstStyle/>
          <a:p>
            <a:pPr algn="l">
              <a:lnSpc>
                <a:spcPct val="100000"/>
              </a:lnSpc>
              <a:spcBef>
                <a:spcPts val="0"/>
              </a:spcBef>
              <a:spcAft>
                <a:spcPts val="0"/>
              </a:spcAft>
            </a:pPr>
            <a:r>
              <a:rPr sz="1000" b="1" i="0">
                <a:solidFill>
                  <a:srgbClr val="548235"/>
                </a:solidFill>
                <a:latin typeface="Calibri"/>
              </a:rPr>
              <a:t>Meeting evidence (email thread 15–21 Jul 2026, planners ⇄ E&amp;P Planning, cc OPAA): </a:t>
            </a:r>
            <a:r>
              <a:rPr sz="1000" b="0" i="0">
                <a:solidFill>
                  <a:srgbClr val="262626"/>
                </a:solidFill>
                <a:latin typeface="Calibri"/>
              </a:rPr>
              <a:t>planners confirmed the LTP→12M→90D→30D→7D flow and that routine &amp; non-routine activities follow it. Rev 4 codifies established practice rather than introducing new process.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Appendix G – Open Items for Stakeholder Confirmation</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Presented as conflicts with both readings — to be confirmed by owners, not resolved in this deck.</a:t>
            </a:r>
          </a:p>
        </p:txBody>
      </p:sp>
      <p:graphicFrame>
        <p:nvGraphicFramePr>
          <p:cNvPr id="4" name="Table 3"/>
          <p:cNvGraphicFramePr>
            <a:graphicFrameLocks noGrp="1"/>
          </p:cNvGraphicFramePr>
          <p:nvPr/>
        </p:nvGraphicFramePr>
        <p:xfrm>
          <a:off x="274320" y="1572768"/>
          <a:ext cx="11247120" cy="4224528"/>
        </p:xfrm>
        <a:graphic>
          <a:graphicData uri="http://schemas.openxmlformats.org/drawingml/2006/table">
            <a:tbl>
              <a:tblPr/>
              <a:tblGrid>
                <a:gridCol w="502920"/>
                <a:gridCol w="2286000"/>
                <a:gridCol w="5852160"/>
                <a:gridCol w="2606040"/>
              </a:tblGrid>
              <a:tr h="384048">
                <a:tc>
                  <a:txBody>
                    <a:bodyPr wrap="square"/>
                    <a:lstStyle/>
                    <a:p>
                      <a:pPr algn="l">
                        <a:spcBef>
                          <a:spcPts val="0"/>
                        </a:spcBef>
                        <a:spcAft>
                          <a:spcPts val="100"/>
                        </a:spcAft>
                      </a:pPr>
                      <a:r>
                        <a:rPr sz="1000" b="1" i="0">
                          <a:solidFill>
                            <a:srgbClr val="FFFFFF"/>
                          </a:solidFill>
                          <a:latin typeface="Calibri"/>
                        </a:rPr>
                        <a:t>#</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FFFFFF"/>
                          </a:solidFill>
                          <a:latin typeface="Calibri"/>
                        </a:rPr>
                        <a:t>Item</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FFFFFF"/>
                          </a:solidFill>
                          <a:latin typeface="Calibri"/>
                        </a:rPr>
                        <a:t>Conflict (both readings)</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000" b="1" i="0">
                          <a:solidFill>
                            <a:srgbClr val="FFFFFF"/>
                          </a:solidFill>
                          <a:latin typeface="Calibri"/>
                        </a:rPr>
                        <a:t>Confirm with</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822960">
                <a:tc>
                  <a:txBody>
                    <a:bodyPr wrap="square"/>
                    <a:lstStyle/>
                    <a:p>
                      <a:pPr algn="ctr">
                        <a:spcBef>
                          <a:spcPts val="0"/>
                        </a:spcBef>
                        <a:spcAft>
                          <a:spcPts val="100"/>
                        </a:spcAft>
                      </a:pPr>
                      <a:r>
                        <a:rPr sz="1000" b="1" i="0">
                          <a:solidFill>
                            <a:srgbClr val="262626"/>
                          </a:solidFill>
                          <a:latin typeface="Calibri"/>
                        </a:rPr>
                        <a:t>1</a:t>
                      </a:r>
                    </a:p>
                  </a:txBody>
                  <a:tcPr anchor="ctr" marL="63500" marR="63500" marT="25400" marB="25400">
                    <a:solidFill>
                      <a:srgbClr val="FFC00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004C8F"/>
                          </a:solidFill>
                          <a:latin typeface="Calibri"/>
                        </a:rPr>
                        <a:t>ADP approval authority</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GL-002 scope text: “must be approved by Medco EP President Director” vs summary table: “CEO”. Rev 4 Table 1 uses CEO/COO.</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262626"/>
                          </a:solidFill>
                          <a:latin typeface="Calibri"/>
                        </a:rPr>
                        <a:t>Mas Fikri / Mas Robert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822960">
                <a:tc>
                  <a:txBody>
                    <a:bodyPr wrap="square"/>
                    <a:lstStyle/>
                    <a:p>
                      <a:pPr algn="ctr">
                        <a:spcBef>
                          <a:spcPts val="0"/>
                        </a:spcBef>
                        <a:spcAft>
                          <a:spcPts val="100"/>
                        </a:spcAft>
                      </a:pPr>
                      <a:r>
                        <a:rPr sz="1000" b="1" i="0">
                          <a:solidFill>
                            <a:srgbClr val="262626"/>
                          </a:solidFill>
                          <a:latin typeface="Calibri"/>
                        </a:rPr>
                        <a:t>2</a:t>
                      </a:r>
                    </a:p>
                  </a:txBody>
                  <a:tcPr anchor="ctr" marL="63500" marR="63500" marT="25400" marB="25400">
                    <a:solidFill>
                      <a:srgbClr val="FFC00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004C8F"/>
                          </a:solidFill>
                          <a:latin typeface="Calibri"/>
                        </a:rPr>
                        <a:t>FDP approval authority</a:t>
                      </a:r>
                    </a:p>
                  </a:txBody>
                  <a:tcPr anchor="ctr" marL="63500" marR="63500" marT="25400" marB="25400">
                    <a:solidFill>
                      <a:srgbClr val="FCF3E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GL-001 scope text: “approved by Senior Manager Subsurface” vs summary table: “Sr VP Asset”. Rev 4 uses Sr. VP Asset.</a:t>
                      </a:r>
                    </a:p>
                  </a:txBody>
                  <a:tcPr anchor="ctr" marL="63500" marR="63500" marT="25400" marB="25400">
                    <a:solidFill>
                      <a:srgbClr val="FCF3E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262626"/>
                          </a:solidFill>
                          <a:latin typeface="Calibri"/>
                        </a:rPr>
                        <a:t>Mas Fikri / Mas Robert</a:t>
                      </a:r>
                    </a:p>
                  </a:txBody>
                  <a:tcPr anchor="ctr" marL="63500" marR="63500" marT="25400" marB="25400">
                    <a:solidFill>
                      <a:srgbClr val="FCF3E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731520">
                <a:tc>
                  <a:txBody>
                    <a:bodyPr wrap="square"/>
                    <a:lstStyle/>
                    <a:p>
                      <a:pPr algn="ctr">
                        <a:spcBef>
                          <a:spcPts val="0"/>
                        </a:spcBef>
                        <a:spcAft>
                          <a:spcPts val="100"/>
                        </a:spcAft>
                      </a:pPr>
                      <a:r>
                        <a:rPr sz="1000" b="1" i="0">
                          <a:solidFill>
                            <a:srgbClr val="262626"/>
                          </a:solidFill>
                          <a:latin typeface="Calibri"/>
                        </a:rPr>
                        <a:t>3</a:t>
                      </a:r>
                    </a:p>
                  </a:txBody>
                  <a:tcPr anchor="ctr" marL="63500" marR="63500" marT="25400" marB="25400">
                    <a:solidFill>
                      <a:srgbClr val="FFC00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004C8F"/>
                          </a:solidFill>
                          <a:latin typeface="Calibri"/>
                        </a:rPr>
                        <a:t>Legacy “Field Manager” language</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Change-control body text still references “Field Manager (FM)” — conflicts with GN-3007 OIM/OM authority adopted in Rev 4.</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262626"/>
                          </a:solidFill>
                          <a:latin typeface="Calibri"/>
                        </a:rPr>
                        <a:t>Kang Oi / Mas Fikri</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731520">
                <a:tc>
                  <a:txBody>
                    <a:bodyPr wrap="square"/>
                    <a:lstStyle/>
                    <a:p>
                      <a:pPr algn="ctr">
                        <a:spcBef>
                          <a:spcPts val="0"/>
                        </a:spcBef>
                        <a:spcAft>
                          <a:spcPts val="100"/>
                        </a:spcAft>
                      </a:pPr>
                      <a:r>
                        <a:rPr sz="1000" b="1" i="0">
                          <a:solidFill>
                            <a:srgbClr val="262626"/>
                          </a:solidFill>
                          <a:latin typeface="Calibri"/>
                        </a:rPr>
                        <a:t>4</a:t>
                      </a:r>
                    </a:p>
                  </a:txBody>
                  <a:tcPr anchor="ctr" marL="63500" marR="63500" marT="25400" marB="25400">
                    <a:solidFill>
                      <a:srgbClr val="FFC00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004C8F"/>
                          </a:solidFill>
                          <a:latin typeface="Calibri"/>
                        </a:rPr>
                        <a:t>GN-3007 vs GN-3008 defect</a:t>
                      </a:r>
                    </a:p>
                  </a:txBody>
                  <a:tcPr anchor="ctr" marL="63500" marR="63500" marT="25400" marB="25400">
                    <a:solidFill>
                      <a:srgbClr val="FCF3E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Source cover reads GN-00-3007 (4-horizon, incl. 12M); running header reads GN-00-3008 (3-horizon, drops 12M). Defect in the source.</a:t>
                      </a:r>
                    </a:p>
                  </a:txBody>
                  <a:tcPr anchor="ctr" marL="63500" marR="63500" marT="25400" marB="25400">
                    <a:solidFill>
                      <a:srgbClr val="FCF3E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262626"/>
                          </a:solidFill>
                          <a:latin typeface="Calibri"/>
                        </a:rPr>
                        <a:t>Kang Oi</a:t>
                      </a:r>
                    </a:p>
                  </a:txBody>
                  <a:tcPr anchor="ctr" marL="63500" marR="63500" marT="25400" marB="25400">
                    <a:solidFill>
                      <a:srgbClr val="FCF3E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731520">
                <a:tc>
                  <a:txBody>
                    <a:bodyPr wrap="square"/>
                    <a:lstStyle/>
                    <a:p>
                      <a:pPr algn="ctr">
                        <a:spcBef>
                          <a:spcPts val="0"/>
                        </a:spcBef>
                        <a:spcAft>
                          <a:spcPts val="100"/>
                        </a:spcAft>
                      </a:pPr>
                      <a:r>
                        <a:rPr sz="1000" b="1" i="0">
                          <a:solidFill>
                            <a:srgbClr val="262626"/>
                          </a:solidFill>
                          <a:latin typeface="Calibri"/>
                        </a:rPr>
                        <a:t>5</a:t>
                      </a:r>
                    </a:p>
                  </a:txBody>
                  <a:tcPr anchor="ctr" marL="63500" marR="63500" marT="25400" marB="25400">
                    <a:solidFill>
                      <a:srgbClr val="FFC000"/>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004C8F"/>
                          </a:solidFill>
                          <a:latin typeface="Calibri"/>
                        </a:rPr>
                        <a:t>Appendix C activity inclusion</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00" b="0" i="0">
                          <a:solidFill>
                            <a:srgbClr val="262626"/>
                          </a:solidFill>
                          <a:latin typeface="Calibri"/>
                        </a:rPr>
                        <a:t>May lack a 12M column although 12M is a formal Rev 4 horizon.</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1" i="0">
                          <a:solidFill>
                            <a:srgbClr val="262626"/>
                          </a:solidFill>
                          <a:latin typeface="Calibri"/>
                        </a:rPr>
                        <a:t>Mas Fikri</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172" y="182880"/>
            <a:ext cx="11521440" cy="566928"/>
          </a:xfrm>
          <a:prstGeom prst="rect">
            <a:avLst/>
          </a:prstGeom>
          <a:noFill/>
        </p:spPr>
        <p:txBody>
          <a:bodyPr wrap="square" lIns="0" tIns="0" bIns="0">
            <a:spAutoFit/>
          </a:bodyPr>
          <a:lstStyle/>
          <a:p>
            <a:r>
              <a:rPr sz="2600" b="1">
                <a:solidFill>
                  <a:srgbClr val="004C8F"/>
                </a:solidFill>
                <a:latin typeface="Univers 67 Condensed"/>
              </a:rPr>
              <a:t>Appendix H – Source Register</a:t>
            </a:r>
          </a:p>
        </p:txBody>
      </p:sp>
      <p:sp>
        <p:nvSpPr>
          <p:cNvPr id="3" name="Rectangle 2"/>
          <p:cNvSpPr/>
          <p:nvPr/>
        </p:nvSpPr>
        <p:spPr>
          <a:xfrm>
            <a:off x="0" y="868680"/>
            <a:ext cx="12191695"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2700" bIns="12700"/>
          <a:lstStyle/>
          <a:p>
            <a:pPr algn="l"/>
            <a:r>
              <a:rPr sz="1300" b="1">
                <a:solidFill>
                  <a:srgbClr val="FFFFFF"/>
                </a:solidFill>
                <a:latin typeface="Univers 57 Condensed"/>
              </a:rPr>
              <a:t>Every change in this deck is traceable to the documents below.</a:t>
            </a:r>
          </a:p>
        </p:txBody>
      </p:sp>
      <p:graphicFrame>
        <p:nvGraphicFramePr>
          <p:cNvPr id="4" name="Table 3"/>
          <p:cNvGraphicFramePr>
            <a:graphicFrameLocks noGrp="1"/>
          </p:cNvGraphicFramePr>
          <p:nvPr/>
        </p:nvGraphicFramePr>
        <p:xfrm>
          <a:off x="274320" y="1600200"/>
          <a:ext cx="11612880" cy="4480560"/>
        </p:xfrm>
        <a:graphic>
          <a:graphicData uri="http://schemas.openxmlformats.org/drawingml/2006/table">
            <a:tbl>
              <a:tblPr/>
              <a:tblGrid>
                <a:gridCol w="3383280"/>
                <a:gridCol w="8229600"/>
              </a:tblGrid>
              <a:tr h="384048">
                <a:tc>
                  <a:txBody>
                    <a:bodyPr wrap="square"/>
                    <a:lstStyle/>
                    <a:p>
                      <a:pPr algn="l">
                        <a:spcBef>
                          <a:spcPts val="0"/>
                        </a:spcBef>
                        <a:spcAft>
                          <a:spcPts val="100"/>
                        </a:spcAft>
                      </a:pPr>
                      <a:r>
                        <a:rPr sz="1100" b="1" i="0">
                          <a:solidFill>
                            <a:srgbClr val="FFFFFF"/>
                          </a:solidFill>
                          <a:latin typeface="Calibri"/>
                        </a:rPr>
                        <a:t>Reference</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1100" b="1" i="0">
                          <a:solidFill>
                            <a:srgbClr val="FFFFFF"/>
                          </a:solidFill>
                          <a:latin typeface="Calibri"/>
                        </a:rPr>
                        <a:t>Role in Rev 4</a:t>
                      </a:r>
                    </a:p>
                  </a:txBody>
                  <a:tcPr anchor="ctr" marL="63500" marR="63500" marT="25400" marB="25400">
                    <a:solidFill>
                      <a:srgbClr val="004C8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12064">
                <a:tc>
                  <a:txBody>
                    <a:bodyPr wrap="square"/>
                    <a:lstStyle/>
                    <a:p>
                      <a:pPr algn="l">
                        <a:spcBef>
                          <a:spcPts val="0"/>
                        </a:spcBef>
                        <a:spcAft>
                          <a:spcPts val="100"/>
                        </a:spcAft>
                      </a:pPr>
                      <a:r>
                        <a:rPr sz="950" b="1" i="0">
                          <a:solidFill>
                            <a:srgbClr val="004C8F"/>
                          </a:solidFill>
                          <a:latin typeface="Calibri"/>
                        </a:rPr>
                        <a:t>P&amp;S Guideline Rev 3 (v12), 22 Nov 2024</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Current issued baseline being revised (ID-G-BU-GG0-PRO-GN-00-0053).</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12064">
                <a:tc>
                  <a:txBody>
                    <a:bodyPr wrap="square"/>
                    <a:lstStyle/>
                    <a:p>
                      <a:pPr algn="l">
                        <a:spcBef>
                          <a:spcPts val="0"/>
                        </a:spcBef>
                        <a:spcAft>
                          <a:spcPts val="100"/>
                        </a:spcAft>
                      </a:pPr>
                      <a:r>
                        <a:rPr sz="950" b="1" i="0">
                          <a:solidFill>
                            <a:srgbClr val="004C8F"/>
                          </a:solidFill>
                          <a:latin typeface="Calibri"/>
                        </a:rPr>
                        <a:t>P&amp;S Guideline Rev 4 draft (v14, accepted)</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The revision presented here — tracked changes accepted.</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12064">
                <a:tc>
                  <a:txBody>
                    <a:bodyPr wrap="square"/>
                    <a:lstStyle/>
                    <a:p>
                      <a:pPr algn="l">
                        <a:spcBef>
                          <a:spcPts val="0"/>
                        </a:spcBef>
                        <a:spcAft>
                          <a:spcPts val="100"/>
                        </a:spcAft>
                      </a:pPr>
                      <a:r>
                        <a:rPr sz="950" b="1" i="0">
                          <a:solidFill>
                            <a:srgbClr val="004C8F"/>
                          </a:solidFill>
                          <a:latin typeface="Calibri"/>
                        </a:rPr>
                        <a:t>IBP Guideline GN-3005 Rev 1 (Jan 2025)</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Corporate Integrated Business Planning – LTP / IBP alignment.</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12064">
                <a:tc>
                  <a:txBody>
                    <a:bodyPr wrap="square"/>
                    <a:lstStyle/>
                    <a:p>
                      <a:pPr algn="l">
                        <a:spcBef>
                          <a:spcPts val="0"/>
                        </a:spcBef>
                        <a:spcAft>
                          <a:spcPts val="100"/>
                        </a:spcAft>
                      </a:pPr>
                      <a:r>
                        <a:rPr sz="950" b="1" i="0">
                          <a:solidFill>
                            <a:srgbClr val="004C8F"/>
                          </a:solidFill>
                          <a:latin typeface="Calibri"/>
                        </a:rPr>
                        <a:t>Corridor Ops Procedure GN-3007 Rev 0 (Jan 2026)</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12M / 90D / 30D / 7D operational planning framework.</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12064">
                <a:tc>
                  <a:txBody>
                    <a:bodyPr wrap="square"/>
                    <a:lstStyle/>
                    <a:p>
                      <a:pPr algn="l">
                        <a:spcBef>
                          <a:spcPts val="0"/>
                        </a:spcBef>
                        <a:spcAft>
                          <a:spcPts val="100"/>
                        </a:spcAft>
                      </a:pPr>
                      <a:r>
                        <a:rPr sz="950" b="1" i="0">
                          <a:solidFill>
                            <a:srgbClr val="004C8F"/>
                          </a:solidFill>
                          <a:latin typeface="Calibri"/>
                        </a:rPr>
                        <a:t>FDP Guideline GL-001</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Field Depletion Plan — ownership &amp; approval reference.</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12064">
                <a:tc>
                  <a:txBody>
                    <a:bodyPr wrap="square"/>
                    <a:lstStyle/>
                    <a:p>
                      <a:pPr algn="l">
                        <a:spcBef>
                          <a:spcPts val="0"/>
                        </a:spcBef>
                        <a:spcAft>
                          <a:spcPts val="100"/>
                        </a:spcAft>
                      </a:pPr>
                      <a:r>
                        <a:rPr sz="950" b="1" i="0">
                          <a:solidFill>
                            <a:srgbClr val="004C8F"/>
                          </a:solidFill>
                          <a:latin typeface="Calibri"/>
                        </a:rPr>
                        <a:t>ADP Guideline GL-002</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Asset Development Plan — ownership &amp; approval reference.</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12064">
                <a:tc>
                  <a:txBody>
                    <a:bodyPr wrap="square"/>
                    <a:lstStyle/>
                    <a:p>
                      <a:pPr algn="l">
                        <a:spcBef>
                          <a:spcPts val="0"/>
                        </a:spcBef>
                        <a:spcAft>
                          <a:spcPts val="100"/>
                        </a:spcAft>
                      </a:pPr>
                      <a:r>
                        <a:rPr sz="950" b="1" i="0">
                          <a:solidFill>
                            <a:srgbClr val="004C8F"/>
                          </a:solidFill>
                          <a:latin typeface="Calibri"/>
                        </a:rPr>
                        <a:t>AACE RP 37R-06 / PMI PMBOK</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Schedule levels (L1–L5); six project constraints.</a:t>
                      </a:r>
                    </a:p>
                  </a:txBody>
                  <a:tcPr anchor="ctr" marL="63500" marR="63500" marT="25400" marB="25400">
                    <a:solidFill>
                      <a:srgbClr val="FFFFFF"/>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r h="512064">
                <a:tc>
                  <a:txBody>
                    <a:bodyPr wrap="square"/>
                    <a:lstStyle/>
                    <a:p>
                      <a:pPr algn="l">
                        <a:spcBef>
                          <a:spcPts val="0"/>
                        </a:spcBef>
                        <a:spcAft>
                          <a:spcPts val="100"/>
                        </a:spcAft>
                      </a:pPr>
                      <a:r>
                        <a:rPr sz="950" b="1" i="0">
                          <a:solidFill>
                            <a:srgbClr val="004C8F"/>
                          </a:solidFill>
                          <a:latin typeface="Calibri"/>
                        </a:rPr>
                        <a:t>Field gate artifacts + planner email thread (Jul 2026)</a:t>
                      </a:r>
                    </a:p>
                  </a:txBody>
                  <a:tcPr anchor="ctr" marL="63500" marR="63500" marT="25400" marB="25400">
                    <a:solidFill>
                      <a:srgbClr val="DDEBF7"/>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c>
                  <a:txBody>
                    <a:bodyPr wrap="square"/>
                    <a:lstStyle/>
                    <a:p>
                      <a:pPr algn="l">
                        <a:spcBef>
                          <a:spcPts val="0"/>
                        </a:spcBef>
                        <a:spcAft>
                          <a:spcPts val="100"/>
                        </a:spcAft>
                      </a:pPr>
                      <a:r>
                        <a:rPr sz="950" b="0" i="0">
                          <a:solidFill>
                            <a:srgbClr val="262626"/>
                          </a:solidFill>
                          <a:latin typeface="Calibri"/>
                        </a:rPr>
                        <a:t>Approved 90D/30D/7D plans, signed Frozen-30D DoA form, weekly forum deck — evidence of current practice (Appendix F).</a:t>
                      </a:r>
                    </a:p>
                  </a:txBody>
                  <a:tcPr anchor="ctr" marL="63500" marR="63500" marT="25400" marB="25400">
                    <a:solidFill>
                      <a:srgbClr val="EAF2FB"/>
                    </a:solidFill>
                    <a:lnL w="12700" cap="flat">
                      <a:solidFill>
                        <a:srgbClr val="FFFFFF"/>
                      </a:solidFill>
                    </a:lnL>
                    <a:lnR w="12700" cap="flat">
                      <a:solidFill>
                        <a:srgbClr val="FFFFFF"/>
                      </a:solidFill>
                    </a:lnR>
                    <a:lnT w="12700" cap="flat">
                      <a:solidFill>
                        <a:srgbClr val="FFFFFF"/>
                      </a:solidFill>
                    </a:lnT>
                    <a:lnB w="12700" cap="flat">
                      <a:solidFill>
                        <a:srgbClr val="FFFFFF"/>
                      </a:solidFill>
                    </a:lnB>
                  </a:tcPr>
                </a:tc>
              </a:tr>
            </a:tbl>
          </a:graphicData>
        </a:graphic>
      </p:graphicFrame>
      <p:sp>
        <p:nvSpPr>
          <p:cNvPr id="5" name="TextBox 4"/>
          <p:cNvSpPr txBox="1"/>
          <p:nvPr/>
        </p:nvSpPr>
        <p:spPr>
          <a:xfrm>
            <a:off x="274320" y="5806440"/>
            <a:ext cx="11612880" cy="365760"/>
          </a:xfrm>
          <a:prstGeom prst="rect">
            <a:avLst/>
          </a:prstGeom>
          <a:noFill/>
        </p:spPr>
        <p:txBody>
          <a:bodyPr wrap="square" anchor="t" lIns="25400" rIns="25400" tIns="12700" bIns="12700">
            <a:spAutoFit/>
          </a:bodyPr>
          <a:lstStyle/>
          <a:p>
            <a:pPr algn="l">
              <a:spcBef>
                <a:spcPts val="0"/>
              </a:spcBef>
              <a:spcAft>
                <a:spcPts val="200"/>
              </a:spcAft>
            </a:pPr>
            <a:r>
              <a:rPr sz="850" b="0" i="1">
                <a:solidFill>
                  <a:srgbClr val="595959"/>
                </a:solidFill>
                <a:latin typeface="Calibri"/>
              </a:rPr>
              <a:t>Brand note: colours use the deck's existing blues (004C8F / 0070C0); exact MedcoEnergi brand hex codes are unconfirmed and should be swapped in before external use.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THINKCELLUNDODONOTDELETE" val="0"/>
  <p:tag name="THINKCELLPRESENTATIONDONOTDELETE" val="&lt;?xml version=&quot;1.0&quot; encoding=&quot;UTF-16&quot; standalone=&quot;yes&quot;?&gt;&lt;root reqver=&quot;28224&quot;&gt;&lt;version val=&quot;3570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4&quot;&gt;&lt;elem m_fUsage=&quot;1.07919463995351017083E+00&quot;&gt;&lt;m_msothmcolidx val=&quot;0&quot;/&gt;&lt;m_rgb r=&quot;FD&quot; g=&quot;B7&quot; b=&quot;64&quot;/&gt;&lt;/elem&gt;&lt;elem m_fUsage=&quot;1.00000000000000000000E+00&quot;&gt;&lt;m_msothmcolidx val=&quot;0&quot;/&gt;&lt;m_rgb r=&quot;C0&quot; g=&quot;00&quot; b=&quot;00&quot;/&gt;&lt;/elem&gt;&lt;elem m_fUsage=&quot;9.00000000000000022204E-01&quot;&gt;&lt;m_msothmcolidx val=&quot;0&quot;/&gt;&lt;m_rgb r=&quot;94&quot; g=&quot;AF&quot; b=&quot;DC&quot;/&gt;&lt;/elem&gt;&lt;elem m_fUsage=&quot;8.10000000000000053291E-01&quot;&gt;&lt;m_msothmcolidx val=&quot;0&quot;/&gt;&lt;m_rgb r=&quot;BF&quot; g=&quot;90&quot; b=&quot;01&quot;/&gt;&lt;/elem&gt;&lt;elem m_fUsage=&quot;7.39871591079833468285E-01&quot;&gt;&lt;m_msothmcolidx val=&quot;0&quot;/&gt;&lt;m_rgb r=&quot;D8&quot; g=&quot;9D&quot; b=&quot;57&quot;/&gt;&lt;/elem&gt;&lt;elem m_fUsage=&quot;7.29000000000000092371E-01&quot;&gt;&lt;m_msothmcolidx val=&quot;0&quot;/&gt;&lt;m_rgb r=&quot;D3&quot; g=&quot;9F&quot; b=&quot;01&quot;/&gt;&lt;/elem&gt;&lt;elem m_fUsage=&quot;6.69681584108301364289E-01&quot;&gt;&lt;m_msothmcolidx val=&quot;0&quot;/&gt;&lt;m_rgb r=&quot;D2&quot; g=&quot;32&quot; b=&quot;00&quot;/&gt;&lt;/elem&gt;&lt;elem m_fUsage=&quot;5.90490000000000181402E-01&quot;&gt;&lt;m_msothmcolidx val=&quot;0&quot;/&gt;&lt;m_rgb r=&quot;00&quot; g=&quot;98&quot; b=&quot;CF&quot;/&gt;&lt;/elem&gt;&lt;elem m_fUsage=&quot;5.31441000000000163261E-01&quot;&gt;&lt;m_msothmcolidx val=&quot;0&quot;/&gt;&lt;m_rgb r=&quot;06&quot; g=&quot;4A&quot; b=&quot;45&quot;/&gt;&lt;/elem&gt;&lt;elem m_fUsage=&quot;4.78296900000000135833E-01&quot;&gt;&lt;m_msothmcolidx val=&quot;0&quot;/&gt;&lt;m_rgb r=&quot;90&quot; g=&quot;BA&quot; b=&quot;BF&quot;/&gt;&lt;/elem&gt;&lt;elem m_fUsage=&quot;4.30467210000000155556E-01&quot;&gt;&lt;m_msothmcolidx val=&quot;0&quot;/&gt;&lt;m_rgb r=&quot;1B&quot; g=&quot;B9&quot; b=&quot;19&quot;/&gt;&lt;/elem&gt;&lt;elem m_fUsage=&quot;3.87420489000000145552E-01&quot;&gt;&lt;m_msothmcolidx val=&quot;0&quot;/&gt;&lt;m_rgb r=&quot;46&quot; g=&quot;33&quot; b=&quot;7E&quot;/&gt;&lt;/elem&gt;&lt;elem m_fUsage=&quot;3.53756199617388744638E-01&quot;&gt;&lt;m_msothmcolidx val=&quot;0&quot;/&gt;&lt;m_rgb r=&quot;7F&quot; g=&quot;7F&quot; b=&quot;7F&quot;/&gt;&lt;/elem&gt;&lt;elem m_fUsage=&quot;3.38662713260944048255E-01&quot;&gt;&lt;m_msothmcolidx val=&quot;0&quot;/&gt;&lt;m_rgb r=&quot;D9&quot; g=&quot;D9&quot; b=&quot;D9&quot;/&gt;&lt;/elem&gt;&lt;elem m_fUsage=&quot;3.16866452293664890849E-01&quot;&gt;&lt;m_msothmcolidx val=&quot;0&quot;/&gt;&lt;m_rgb r=&quot;00&quot; g=&quot;8B&quot; b=&quot;BF&quot;/&gt;&lt;/elem&gt;&lt;elem m_fUsage=&quot;1.70034834017914138204E-01&quot;&gt;&lt;m_msothmcolidx val=&quot;0&quot;/&gt;&lt;m_rgb r=&quot;5C&quot; g=&quot;D3&quot; b=&quot;25&quot;/&gt;&lt;/elem&gt;&lt;elem m_fUsage=&quot;1.24823643953355892244E-01&quot;&gt;&lt;m_msothmcolidx val=&quot;0&quot;/&gt;&lt;m_rgb r=&quot;00&quot; g=&quot;70&quot; b=&quot;C0&quot;/&gt;&lt;/elem&gt;&lt;elem m_fUsage=&quot;8.94924452476786869148E-02&quot;&gt;&lt;m_msothmcolidx val=&quot;0&quot;/&gt;&lt;m_rgb r=&quot;79&quot; g=&quot;AE&quot; b=&quot;A4&quot;/&gt;&lt;/elem&gt;&lt;elem m_fUsage=&quot;3.09031543826326429714E-02&quot;&gt;&lt;m_msothmcolidx val=&quot;0&quot;/&gt;&lt;m_rgb r=&quot;C1&quot; g=&quot;C1&quot; b=&quot;C1&quot;/&gt;&lt;/elem&gt;&lt;elem m_fUsage=&quot;2.78128389443693807559E-02&quot;&gt;&lt;m_msothmcolidx val=&quot;0&quot;/&gt;&lt;m_rgb r=&quot;E0&quot; g=&quot;E0&quot; b=&quot;E0&quot;/&gt;&lt;/elem&gt;&lt;elem m_fUsage=&quot;2.67234953347629672349E-02&quot;&gt;&lt;m_msothmcolidx val=&quot;0&quot;/&gt;&lt;m_rgb r=&quot;FF&quot; g=&quot;58&quot; b=&quot;58&quot;/&gt;&lt;/elem&gt;&lt;elem m_fUsage=&quot;2.50315550499324440681E-02&quot;&gt;&lt;m_msothmcolidx val=&quot;0&quot;/&gt;&lt;m_rgb r=&quot;91&quot; g=&quot;BB&quot; b=&quot;EA&quot;/&gt;&lt;/elem&gt;&lt;elem m_fUsage=&quot;2.25283995449391989674E-02&quot;&gt;&lt;m_msothmcolidx val=&quot;0&quot;/&gt;&lt;m_rgb r=&quot;86&quot; g=&quot;F7&quot; b=&quot;58&quot;/&gt;&lt;/elem&gt;&lt;elem m_fUsage=&quot;2.02755595904452780298E-02&quot;&gt;&lt;m_msothmcolidx val=&quot;0&quot;/&gt;&lt;m_rgb r=&quot;FF&quot; g=&quot;91&quot; b=&quot;8F&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u2DJDofHRdy5NFx4QVl4f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34CBF16-BD8C-4245-A57A-0DE7B6B37F38}">
  <we:reference id="wa200010001" version="1.0.0.1" store="en-US" storeType="OMEX"/>
  <we:alternateReferences>
    <we:reference id="WA200010001" version="1.0.0.1" store="" storeType="OMEX"/>
  </we:alternateReferences>
  <we:properties>
    <we:property name="claude.fileId" value="&quot;1f4f8098-2f75-435c-b67a-9b36bdc99071&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B5F8E1C31625C43A3D392D1D1226E7A" ma:contentTypeVersion="1" ma:contentTypeDescription="Create a new document." ma:contentTypeScope="" ma:versionID="633555392896866d1004c24ccd6a5406">
  <xsd:schema xmlns:xsd="http://www.w3.org/2001/XMLSchema" xmlns:xs="http://www.w3.org/2001/XMLSchema" xmlns:p="http://schemas.microsoft.com/office/2006/metadata/properties" xmlns:ns2="cb10a935-3301-4b2a-99cc-0b1a7fa55bf5" targetNamespace="http://schemas.microsoft.com/office/2006/metadata/properties" ma:root="true" ma:fieldsID="f3c12ab9c490247c7650d588b4639935" ns2:_="">
    <xsd:import namespace="cb10a935-3301-4b2a-99cc-0b1a7fa55bf5"/>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10a935-3301-4b2a-99cc-0b1a7fa55bf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_dlc_DocId xmlns="cb10a935-3301-4b2a-99cc-0b1a7fa55bf5">U3DCDA66VTYV-1495932550-1375</_dlc_DocId>
    <_dlc_DocIdUrl xmlns="cb10a935-3301-4b2a-99cc-0b1a7fa55bf5">
      <Url>https://intranet.medcoenergi.com/Sites/Relation/_layouts/15/DocIdRedir.aspx?ID=U3DCDA66VTYV-1495932550-1375</Url>
      <Description>U3DCDA66VTYV-1495932550-1375</Description>
    </_dlc_DocIdUrl>
  </documentManagement>
</p:properties>
</file>

<file path=customXml/itemProps1.xml><?xml version="1.0" encoding="utf-8"?>
<ds:datastoreItem xmlns:ds="http://schemas.openxmlformats.org/officeDocument/2006/customXml" ds:itemID="{057FCD94-C7E4-4224-9D86-FB858C50C451}">
  <ds:schemaRefs>
    <ds:schemaRef ds:uri="http://schemas.microsoft.com/sharepoint/v3/contenttype/forms"/>
  </ds:schemaRefs>
</ds:datastoreItem>
</file>

<file path=customXml/itemProps2.xml><?xml version="1.0" encoding="utf-8"?>
<ds:datastoreItem xmlns:ds="http://schemas.openxmlformats.org/officeDocument/2006/customXml" ds:itemID="{902EF1F4-B6F5-4F33-9F44-0FE8155BD257}">
  <ds:schemaRefs>
    <ds:schemaRef ds:uri="cb10a935-3301-4b2a-99cc-0b1a7fa55b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44E5F9-1333-48E2-A8C1-E080A65F64DE}">
  <ds:schemaRefs>
    <ds:schemaRef ds:uri="http://schemas.microsoft.com/sharepoint/events"/>
  </ds:schemaRefs>
</ds:datastoreItem>
</file>

<file path=customXml/itemProps4.xml><?xml version="1.0" encoding="utf-8"?>
<ds:datastoreItem xmlns:ds="http://schemas.openxmlformats.org/officeDocument/2006/customXml" ds:itemID="{35C4753E-20BE-4CD8-82BE-DC6F7DB204DD}">
  <ds:schemaRefs>
    <ds:schemaRef ds:uri="http://purl.org/dc/terms/"/>
    <ds:schemaRef ds:uri="http://purl.org/dc/dcmityp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cb10a935-3301-4b2a-99cc-0b1a7fa55bf5"/>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2fb5f0b8-f795-441b-bd2b-c27248706cb4}" enabled="0" method="" siteId="{2fb5f0b8-f795-441b-bd2b-c27248706cb4}" removed="1"/>
</clbl:labelList>
</file>

<file path=docProps/app.xml><?xml version="1.0" encoding="utf-8"?>
<Properties xmlns="http://schemas.openxmlformats.org/officeDocument/2006/extended-properties" xmlns:vt="http://schemas.openxmlformats.org/officeDocument/2006/docPropsVTypes">
  <TotalTime>16625</TotalTime>
  <Words>435</Words>
  <Application>Microsoft Office PowerPoint</Application>
  <PresentationFormat>Widescreen</PresentationFormat>
  <Paragraphs>75</Paragraphs>
  <Slides>9</Slides>
  <Notes>9</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1</vt:i4>
      </vt:variant>
      <vt:variant>
        <vt:lpstr>Slide Titles</vt:lpstr>
      </vt:variant>
      <vt:variant>
        <vt:i4>9</vt:i4>
      </vt:variant>
    </vt:vector>
  </HeadingPairs>
  <TitlesOfParts>
    <vt:vector size="21" baseType="lpstr">
      <vt:lpstr>Arial</vt:lpstr>
      <vt:lpstr>Calibri</vt:lpstr>
      <vt:lpstr>Univers 57 Condensed</vt:lpstr>
      <vt:lpstr>Univers 67 Condensed</vt:lpstr>
      <vt:lpstr>Univers LT Std 47 Cn Lt</vt:lpstr>
      <vt:lpstr>Univers LT Std 57 Cn</vt:lpstr>
      <vt:lpstr>7_Office Theme</vt:lpstr>
      <vt:lpstr>5_Office Theme</vt:lpstr>
      <vt:lpstr>11_Office Theme</vt:lpstr>
      <vt:lpstr>15_Office Theme</vt:lpstr>
      <vt:lpstr>16_Office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Muhamad Ridho Zul Khoiri</cp:lastModifiedBy>
  <cp:revision>27</cp:revision>
  <cp:lastPrinted>2025-03-19T12:59:11Z</cp:lastPrinted>
  <dcterms:created xsi:type="dcterms:W3CDTF">2021-01-05T03:52:21Z</dcterms:created>
  <dcterms:modified xsi:type="dcterms:W3CDTF">2026-07-23T01:54:35Z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0x010100CB5F8E1C31625C43A3D392D1D1226E7A</vt:lpwstr>
  </property>
  <property fmtid="{D5CDD505-2E9C-101B-9397-08002B2CF9AE}" pid="3" name="_dlc_DocIdItemGuid">
    <vt:lpwstr>3d8d1efe-810e-486d-941f-cd400851ab55</vt:lpwstr>
  </property>
  <property fmtid="{D5CDD505-2E9C-101B-9397-08002B2CF9AE}" pid="4" name="MediaServiceImageTags">
    <vt:lpwstr/>
  </property>
</Properties>
</file>